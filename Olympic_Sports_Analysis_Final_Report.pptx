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7926fbd-e0d3-8082-3576-5bfd336bf3d3}">
          <p14:sldIdLst>
            <p14:sldId id="256"/>
            <p14:sldId id="257"/>
            <p14:sldId id="258"/>
          </p14:sldIdLst>
        </p14:section>
        <p14:section name="MECE Framework" id="{f4968fa8-2310-b26d-b735-a68746d69a86}">
          <p14:sldIdLst>
            <p14:sldId id="259"/>
            <p14:sldId id="260"/>
            <p14:sldId id="261"/>
            <p14:sldId id="262"/>
            <p14:sldId id="263"/>
          </p14:sldIdLst>
        </p14:section>
        <p14:section name="SQL EDA" id="{be3e6457-3a7c-62f2-2e2e-4798dbdfaf42}">
          <p14:sldIdLst>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 name="Power BI Analysis" id="{1bc7b1df-5f5a-24f1-6653-e1768f16d36b}">
          <p14:sldIdLst>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Lst>
        </p14:section>
        <p14:section name="Dashboard" id="{749782a1-3a4f-2ca5-77ab-7ecaddcfe3fe}">
          <p14:sldIdLst>
            <p14:sldId id="302"/>
            <p14:sldId id="303"/>
            <p14:sldId id="304"/>
            <p14:sldId id="305"/>
            <p14:sldId id="306"/>
            <p14:sldId id="307"/>
          </p14:sldIdLst>
        </p14:section>
        <p14:section name="Insights" id="{c9d7a269-32cc-9969-405a-4a5e1a14a7e5}">
          <p14:sldIdLst>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F"/>
                </a:solidFill>
                <a:latin typeface="Arial"/>
              </a:defRPr>
            </a:pPr>
            <a:r>
              <a:rPr sz="1600" b="0" i="0" u="none" strike="noStrike">
                <a:solidFill>
                  <a:srgbClr val="0A1B3F"/>
                </a:solidFill>
                <a:latin typeface="Arial"/>
              </a:rPr>
              <a:t>Top host cities (games hosted)</a:t>
            </a:r>
          </a:p>
        </c:rich>
      </c:tx>
      <c:layout/>
      <c:overlay val="0"/>
    </c:title>
    <c:autoTitleDeleted val="0"/>
    <c:plotArea>
      <c:layout/>
      <c:barChart>
        <c:barDir val="bar"/>
        <c:grouping val="clustered"/>
        <c:varyColors val="0"/>
        <c:ser>
          <c:idx val="0"/>
          <c:order val="0"/>
          <c:tx>
            <c:strRef>
              <c:f>Sheet1!$B$1</c:f>
              <c:strCache>
                <c:ptCount val="1"/>
                <c:pt idx="0">
                  <c:v>Games hosted</c:v>
                </c:pt>
              </c:strCache>
            </c:strRef>
          </c:tx>
          <c:spPr>
            <a:solidFill>
              <a:srgbClr val="118DFF"/>
            </a:solidFill>
            <a:effectLst/>
          </c:spPr>
          <c:invertIfNegative val="0"/>
          <c:dLbls>
            <c:numFmt formatCode="#,##0" sourceLinked="0"/>
            <c:txPr>
              <a:bodyPr/>
              <a:lstStyle/>
              <a:p>
                <a:pPr>
                  <a:defRPr b="0" i="0" strike="noStrike" sz="1200" u="none">
                    <a:solidFill>
                      <a:srgbClr val="0A1B3F"/>
                    </a:solidFill>
                    <a:latin typeface="+mn-lt"/>
                  </a:defRPr>
                </a:pPr>
              </a:p>
            </c:txPr>
            <c:showLegendKey val="0"/>
            <c:showVal val="1"/>
            <c:showCatName val="0"/>
            <c:showSerName val="0"/>
            <c:showPercent val="0"/>
            <c:showBubbleSize val="0"/>
            <c:showLeaderLines val="0"/>
          </c:dLbls>
          <c:cat>
            <c:multiLvlStrRef>
              <c:f>Sheet1!$A$2:$A$9</c:f>
              <c:multiLvlStrCache>
                <c:ptCount val="8"/>
                <c:lvl>
                  <c:pt idx="0">
                    <c:v>Athina</c:v>
                  </c:pt>
                  <c:pt idx="1">
                    <c:v>London</c:v>
                  </c:pt>
                  <c:pt idx="2">
                    <c:v>Innsbruck</c:v>
                  </c:pt>
                  <c:pt idx="3">
                    <c:v>Lake Placid</c:v>
                  </c:pt>
                  <c:pt idx="4">
                    <c:v>Los Angeles</c:v>
                  </c:pt>
                  <c:pt idx="5">
                    <c:v>Paris</c:v>
                  </c:pt>
                  <c:pt idx="6">
                    <c:v>Sankt Moritz</c:v>
                  </c:pt>
                  <c:pt idx="7">
                    <c:v>Stockholm</c:v>
                  </c:pt>
                </c:lvl>
              </c:multiLvlStrCache>
            </c:multiLvlStrRef>
          </c:cat>
          <c:val>
            <c:numRef>
              <c:f>Sheet1!$B$2:$B$9</c:f>
              <c:numCache>
                <c:formatCode>General</c:formatCode>
                <c:ptCount val="8"/>
                <c:pt idx="0">
                  <c:v>3</c:v>
                </c:pt>
                <c:pt idx="1">
                  <c:v>3</c:v>
                </c:pt>
                <c:pt idx="2">
                  <c:v>2</c:v>
                </c:pt>
                <c:pt idx="3">
                  <c:v>2</c:v>
                </c:pt>
                <c:pt idx="4">
                  <c:v>2</c:v>
                </c:pt>
                <c:pt idx="5">
                  <c:v>2</c:v>
                </c:pt>
                <c:pt idx="6">
                  <c:v>2</c:v>
                </c:pt>
                <c:pt idx="7">
                  <c:v>2</c:v>
                </c:pt>
              </c:numCache>
            </c:numRef>
          </c:val>
        </c:ser>
        <c:dLbls>
          <c:numFmt formatCode="#,##0" sourceLinked="0"/>
          <c:txPr>
            <a:bodyPr/>
            <a:lstStyle/>
            <a:p>
              <a:pPr>
                <a:defRPr b="0" i="0" strike="noStrike" sz="1200" u="none">
                  <a:solidFill>
                    <a:srgbClr val="0A1B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8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F"/>
                </a:solidFill>
                <a:latin typeface="Arial"/>
              </a:defRPr>
            </a:pPr>
            <a:r>
              <a:rPr sz="1600" b="0" i="0" u="none" strike="noStrike">
                <a:solidFill>
                  <a:srgbClr val="0A1B3F"/>
                </a:solidFill>
                <a:latin typeface="Arial"/>
              </a:rPr>
              <a:t>Top 5 sports by events (of 757)</a:t>
            </a:r>
          </a:p>
        </c:rich>
      </c:tx>
      <c:layout/>
      <c:overlay val="0"/>
    </c:title>
    <c:autoTitleDeleted val="0"/>
    <c:plotArea>
      <c:layout/>
      <c:barChart>
        <c:barDir val="col"/>
        <c:grouping val="clustered"/>
        <c:varyColors val="0"/>
        <c:ser>
          <c:idx val="0"/>
          <c:order val="0"/>
          <c:tx>
            <c:strRef>
              <c:f>Sheet1!$B$1</c:f>
              <c:strCache>
                <c:ptCount val="1"/>
                <c:pt idx="0">
                  <c:v>Events</c:v>
                </c:pt>
              </c:strCache>
            </c:strRef>
          </c:tx>
          <c:spPr>
            <a:solidFill>
              <a:srgbClr val="118DFF"/>
            </a:solidFill>
            <a:effectLst/>
          </c:spPr>
          <c:invertIfNegative val="0"/>
          <c:dLbls>
            <c:numFmt formatCode="#,##0" sourceLinked="0"/>
            <c:txPr>
              <a:bodyPr/>
              <a:lstStyle/>
              <a:p>
                <a:pPr>
                  <a:defRPr b="0" i="0" strike="noStrike" sz="1200" u="none">
                    <a:solidFill>
                      <a:srgbClr val="0A1B3F"/>
                    </a:solidFill>
                    <a:latin typeface="+mn-lt"/>
                  </a:defRPr>
                </a:pPr>
              </a:p>
            </c:txPr>
            <c:showLegendKey val="0"/>
            <c:showVal val="1"/>
            <c:showCatName val="0"/>
            <c:showSerName val="0"/>
            <c:showPercent val="0"/>
            <c:showBubbleSize val="0"/>
            <c:showLeaderLines val="0"/>
          </c:dLbls>
          <c:cat>
            <c:multiLvlStrRef>
              <c:f>Sheet1!$A$2:$A$6</c:f>
              <c:multiLvlStrCache>
                <c:ptCount val="5"/>
                <c:lvl>
                  <c:pt idx="0">
                    <c:v>Athletics</c:v>
                  </c:pt>
                  <c:pt idx="1">
                    <c:v>Shooting</c:v>
                  </c:pt>
                  <c:pt idx="2">
                    <c:v>Swimming</c:v>
                  </c:pt>
                  <c:pt idx="3">
                    <c:v>Cycling</c:v>
                  </c:pt>
                  <c:pt idx="4">
                    <c:v>Sailing</c:v>
                  </c:pt>
                </c:lvl>
              </c:multiLvlStrCache>
            </c:multiLvlStrRef>
          </c:cat>
          <c:val>
            <c:numRef>
              <c:f>Sheet1!$B$2:$B$6</c:f>
              <c:numCache>
                <c:formatCode>General</c:formatCode>
                <c:ptCount val="5"/>
                <c:pt idx="0">
                  <c:v>83</c:v>
                </c:pt>
                <c:pt idx="1">
                  <c:v>83</c:v>
                </c:pt>
                <c:pt idx="2">
                  <c:v>54</c:v>
                </c:pt>
                <c:pt idx="3">
                  <c:v>44</c:v>
                </c:pt>
                <c:pt idx="4">
                  <c:v>37</c:v>
                </c:pt>
              </c:numCache>
            </c:numRef>
          </c:val>
        </c:ser>
        <c:dLbls>
          <c:numFmt formatCode="#,##0" sourceLinked="0"/>
          <c:txPr>
            <a:bodyPr/>
            <a:lstStyle/>
            <a:p>
              <a:pPr>
                <a:defRPr b="0" i="0" strike="noStrike" sz="1200" u="none">
                  <a:solidFill>
                    <a:srgbClr val="0A1B3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8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F"/>
                </a:solidFill>
                <a:latin typeface="Arial"/>
              </a:defRPr>
            </a:pPr>
            <a:r>
              <a:rPr sz="1600" b="0" i="0" u="none" strike="noStrike">
                <a:solidFill>
                  <a:srgbClr val="0A1B3F"/>
                </a:solidFill>
                <a:latin typeface="Arial"/>
              </a:rPr>
              <a:t>Events by gender category</a:t>
            </a:r>
          </a:p>
        </c:rich>
      </c:tx>
      <c:layout/>
      <c:overlay val="0"/>
    </c:title>
    <c:autoTitleDeleted val="0"/>
    <c:plotArea>
      <c:layout/>
      <c:doughnutChart>
        <c:varyColors val="1"/>
        <c:ser>
          <c:idx val="0"/>
          <c:order val="0"/>
          <c:tx>
            <c:strRef>
              <c:f>Sheet1!$B$1</c:f>
              <c:strCache>
                <c:ptCount val="1"/>
                <c:pt idx="0">
                  <c:v>Events</c:v>
                </c:pt>
              </c:strCache>
            </c:strRef>
          </c:tx>
          <c:spPr>
            <a:solidFill>
              <a:schemeClr val="accent1"/>
            </a:solidFill>
            <a:ln w="9525" cap="flat">
              <a:solidFill>
                <a:srgbClr val="F9F9F9"/>
              </a:solidFill>
              <a:prstDash val="solid"/>
              <a:round/>
            </a:ln>
            <a:effectLst/>
          </c:spPr>
          <c:dPt>
            <c:idx val="0"/>
            <c:bubble3D val="0"/>
            <c:spPr>
              <a:solidFill>
                <a:srgbClr val="118DFF"/>
              </a:solidFill>
              <a:effectLst/>
            </c:spPr>
          </c:dPt>
          <c:dPt>
            <c:idx val="1"/>
            <c:bubble3D val="0"/>
            <c:spPr>
              <a:solidFill>
                <a:srgbClr val="12239B"/>
              </a:solidFill>
              <a:effectLst/>
            </c:spPr>
          </c:dPt>
          <c:dPt>
            <c:idx val="2"/>
            <c:bubble3D val="0"/>
            <c:spPr>
              <a:solidFill>
                <a:srgbClr val="E36C37"/>
              </a:solidFill>
              <a:effectLst/>
            </c:spPr>
          </c:dPt>
          <c:dLbls>
            <c:dLbl>
              <c:idx val="0"/>
              <c:numFmt formatCode="0%" sourceLinked="0"/>
              <c:spPr/>
              <c:txPr>
                <a:bodyPr/>
                <a:lstStyle/>
                <a:p>
                  <a:pPr>
                    <a:defRPr sz="13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3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Men</c:v>
                </c:pt>
                <c:pt idx="1">
                  <c:v>Women</c:v>
                </c:pt>
                <c:pt idx="2">
                  <c:v>Mixed</c:v>
                </c:pt>
              </c:strCache>
            </c:strRef>
          </c:cat>
          <c:val>
            <c:numRef>
              <c:f>Sheet1!$B$2:$B$4</c:f>
              <c:numCache>
                <c:ptCount val="3"/>
                <c:pt idx="0">
                  <c:v>458</c:v>
                </c:pt>
                <c:pt idx="1">
                  <c:v>211</c:v>
                </c:pt>
                <c:pt idx="2">
                  <c:v>88</c:v>
                </c:pt>
              </c:numCache>
            </c:numRef>
          </c:val>
        </c:ser>
        <c:firstSliceAng val="0"/>
        <c:holeSize val="55"/>
      </c:doughnutChart>
      <c:spPr>
        <a:noFill/>
        <a:ln>
          <a:noFill/>
        </a:ln>
        <a:effectLst/>
      </c:spPr>
    </c:plotArea>
    <c:legend>
      <c:legendPos val="b"/>
      <c:overlay val="0"/>
      <c:txPr>
        <a:bodyPr/>
        <a:lstStyle/>
        <a:p>
          <a:pPr>
            <a:defRPr sz="1300">
              <a:solidFill>
                <a:srgbClr val="0A1B3F"/>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1B3F"/>
                </a:solidFill>
                <a:latin typeface="Arial"/>
              </a:defRPr>
            </a:pPr>
            <a:r>
              <a:rPr sz="1600" b="0" i="0" u="none" strike="noStrike">
                <a:solidFill>
                  <a:srgbClr val="0A1B3F"/>
                </a:solidFill>
                <a:latin typeface="Arial"/>
              </a:rPr>
              <a:t>Participations by gender (129K)</a:t>
            </a:r>
          </a:p>
        </c:rich>
      </c:tx>
      <c:layout/>
      <c:overlay val="0"/>
    </c:title>
    <c:autoTitleDeleted val="0"/>
    <c:plotArea>
      <c:layout/>
      <c:doughnutChart>
        <c:varyColors val="1"/>
        <c:ser>
          <c:idx val="0"/>
          <c:order val="0"/>
          <c:tx>
            <c:strRef>
              <c:f>Sheet1!$B$1</c:f>
              <c:strCache>
                <c:ptCount val="1"/>
                <c:pt idx="0">
                  <c:v>Participations</c:v>
                </c:pt>
              </c:strCache>
            </c:strRef>
          </c:tx>
          <c:spPr>
            <a:solidFill>
              <a:schemeClr val="accent1"/>
            </a:solidFill>
            <a:ln w="9525" cap="flat">
              <a:solidFill>
                <a:srgbClr val="F9F9F9"/>
              </a:solidFill>
              <a:prstDash val="solid"/>
              <a:round/>
            </a:ln>
            <a:effectLst/>
          </c:spPr>
          <c:dPt>
            <c:idx val="0"/>
            <c:bubble3D val="0"/>
            <c:spPr>
              <a:solidFill>
                <a:srgbClr val="118DFF"/>
              </a:solidFill>
              <a:effectLst/>
            </c:spPr>
          </c:dPt>
          <c:dPt>
            <c:idx val="1"/>
            <c:bubble3D val="0"/>
            <c:spPr>
              <a:solidFill>
                <a:srgbClr val="12239B"/>
              </a:solidFill>
              <a:effectLst/>
            </c:spPr>
          </c:dPt>
          <c:dLbls>
            <c:dLbl>
              <c:idx val="0"/>
              <c:numFmt formatCode="0%" sourceLinked="0"/>
              <c:spPr/>
              <c:txPr>
                <a:bodyPr/>
                <a:lstStyle/>
                <a:p>
                  <a:pPr>
                    <a:defRPr sz="13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3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Male (95K)</c:v>
                </c:pt>
                <c:pt idx="1">
                  <c:v>Female (34K)</c:v>
                </c:pt>
              </c:strCache>
            </c:strRef>
          </c:cat>
          <c:val>
            <c:numRef>
              <c:f>Sheet1!$B$2:$B$3</c:f>
              <c:numCache>
                <c:ptCount val="2"/>
                <c:pt idx="0">
                  <c:v>73.9</c:v>
                </c:pt>
                <c:pt idx="1">
                  <c:v>26.1</c:v>
                </c:pt>
              </c:numCache>
            </c:numRef>
          </c:val>
        </c:ser>
        <c:firstSliceAng val="0"/>
        <c:holeSize val="55"/>
      </c:doughnutChart>
      <c:spPr>
        <a:noFill/>
        <a:ln>
          <a:noFill/>
        </a:ln>
        <a:effectLst/>
      </c:spPr>
    </c:plotArea>
    <c:legend>
      <c:legendPos val="b"/>
      <c:overlay val="0"/>
      <c:txPr>
        <a:bodyPr/>
        <a:lstStyle/>
        <a:p>
          <a:pPr>
            <a:defRPr sz="1300">
              <a:solidFill>
                <a:srgbClr val="0A1B3F"/>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Olympic Sports Data Analysis  |  Final Project Report</a:t>
            </a:r>
            <a:endParaRPr lang="en-US" sz="1000" dirty="0"/>
          </a:p>
        </p:txBody>
      </p:sp>
      <p:sp>
        <p:nvSpPr>
          <p:cNvPr id="3" name="Text 1"/>
          <p:cNvSpPr/>
          <p:nvPr>
            <p:ph idx="101" type="title" hasCustomPrompt="1"/>
          </p:nvPr>
        </p:nvSpPr>
        <p:spPr>
          <a:xfrm>
            <a:off x="548640" y="320040"/>
            <a:ext cx="11064240" cy="73152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A1B3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137160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ph idx="100" type="title" hasCustomPrompt="1"/>
          </p:nvPr>
        </p:nvSpPr>
        <p:spPr>
          <a:xfrm>
            <a:off x="731520" y="2011680"/>
            <a:ext cx="10515600" cy="1371600"/>
          </a:xfrm>
          <a:prstGeom prst="rect">
            <a:avLst/>
          </a:prstGeom>
          <a:noFill/>
          <a:ln/>
        </p:spPr>
        <p:txBody>
          <a:bodyPr wrap="square" lIns="0" tIns="0" rIns="0" bIns="0" rtlCol="0" anchor="ctr"/>
          <a:lstStyle/>
          <a:p>
            <a:pPr indent="0" marL="0">
              <a:buNone/>
            </a:pPr>
            <a:r>
              <a:rPr lang="en-US" sz="4400" b="1" dirty="0">
                <a:solidFill>
                  <a:schemeClr val="bg1"/>
                </a:solidFill>
              </a:rPr>
              <a:t>Olympic Sports Data Analysis</a:t>
            </a:r>
            <a:endParaRPr lang="en-US" sz="4400" dirty="0"/>
          </a:p>
        </p:txBody>
      </p:sp>
      <p:sp>
        <p:nvSpPr>
          <p:cNvPr id="3" name="Text 1"/>
          <p:cNvSpPr txBox="1"/>
          <p:nvPr/>
        </p:nvSpPr>
        <p:spPr>
          <a:xfrm>
            <a:off x="731520" y="3474720"/>
            <a:ext cx="10515600" cy="457200"/>
          </a:xfrm>
          <a:prstGeom prst="rect">
            <a:avLst/>
          </a:prstGeom>
          <a:noFill/>
          <a:ln/>
        </p:spPr>
        <p:txBody>
          <a:bodyPr wrap="square" lIns="0" tIns="0" rIns="0" bIns="0" rtlCol="0" anchor="t"/>
          <a:lstStyle/>
          <a:p>
            <a:pPr indent="0" marL="0">
              <a:buNone/>
            </a:pPr>
            <a:r>
              <a:rPr lang="en-US" sz="2000" dirty="0">
                <a:solidFill>
                  <a:srgbClr val="CADCFC"/>
                </a:solidFill>
              </a:rPr>
              <a:t>Final Project Report  |  SQL EDA, Excel, Power BI and MECE Framework</a:t>
            </a:r>
            <a:endParaRPr lang="en-US" sz="2000" dirty="0"/>
          </a:p>
        </p:txBody>
      </p:sp>
      <p:sp>
        <p:nvSpPr>
          <p:cNvPr id="4" name="ring 1"/>
          <p:cNvSpPr/>
          <p:nvPr/>
        </p:nvSpPr>
        <p:spPr>
          <a:xfrm>
            <a:off x="731520" y="1097280"/>
            <a:ext cx="731520" cy="731520"/>
          </a:xfrm>
          <a:prstGeom prst="ellipse">
            <a:avLst/>
          </a:prstGeom>
          <a:solidFill>
            <a:srgbClr val="0A1B3F"/>
          </a:solidFill>
          <a:ln w="50800">
            <a:solidFill>
              <a:srgbClr val="118DFF"/>
            </a:solidFill>
            <a:prstDash val="solid"/>
          </a:ln>
        </p:spPr>
      </p:sp>
      <p:sp>
        <p:nvSpPr>
          <p:cNvPr id="5" name="ring 2"/>
          <p:cNvSpPr/>
          <p:nvPr/>
        </p:nvSpPr>
        <p:spPr>
          <a:xfrm>
            <a:off x="1234440" y="1097280"/>
            <a:ext cx="731520" cy="731520"/>
          </a:xfrm>
          <a:prstGeom prst="ellipse">
            <a:avLst/>
          </a:prstGeom>
          <a:solidFill>
            <a:srgbClr val="0A1B3F"/>
          </a:solidFill>
          <a:ln w="50800">
            <a:solidFill>
              <a:srgbClr val="F5B700"/>
            </a:solidFill>
            <a:prstDash val="solid"/>
          </a:ln>
        </p:spPr>
      </p:sp>
      <p:sp>
        <p:nvSpPr>
          <p:cNvPr id="6" name="ring 3"/>
          <p:cNvSpPr/>
          <p:nvPr/>
        </p:nvSpPr>
        <p:spPr>
          <a:xfrm>
            <a:off x="1737360" y="1097280"/>
            <a:ext cx="731520" cy="731520"/>
          </a:xfrm>
          <a:prstGeom prst="ellipse">
            <a:avLst/>
          </a:prstGeom>
          <a:solidFill>
            <a:srgbClr val="0A1B3F"/>
          </a:solidFill>
          <a:ln w="50800">
            <a:solidFill>
              <a:srgbClr val="33415C"/>
            </a:solidFill>
            <a:prstDash val="solid"/>
          </a:ln>
        </p:spPr>
      </p:sp>
      <p:sp>
        <p:nvSpPr>
          <p:cNvPr id="7" name="ring 4"/>
          <p:cNvSpPr/>
          <p:nvPr/>
        </p:nvSpPr>
        <p:spPr>
          <a:xfrm>
            <a:off x="2240280" y="1097280"/>
            <a:ext cx="731520" cy="731520"/>
          </a:xfrm>
          <a:prstGeom prst="ellipse">
            <a:avLst/>
          </a:prstGeom>
          <a:solidFill>
            <a:srgbClr val="0A1B3F"/>
          </a:solidFill>
          <a:ln w="50800">
            <a:solidFill>
              <a:srgbClr val="1FA67A"/>
            </a:solidFill>
            <a:prstDash val="solid"/>
          </a:ln>
        </p:spPr>
      </p:sp>
      <p:sp>
        <p:nvSpPr>
          <p:cNvPr id="8" name="ring 5"/>
          <p:cNvSpPr/>
          <p:nvPr/>
        </p:nvSpPr>
        <p:spPr>
          <a:xfrm>
            <a:off x="2743200" y="1097280"/>
            <a:ext cx="731520" cy="731520"/>
          </a:xfrm>
          <a:prstGeom prst="ellipse">
            <a:avLst/>
          </a:prstGeom>
          <a:solidFill>
            <a:srgbClr val="0A1B3F"/>
          </a:solidFill>
          <a:ln w="50800">
            <a:solidFill>
              <a:srgbClr val="E36C37"/>
            </a:solidFill>
            <a:prstDash val="solid"/>
          </a:ln>
        </p:spPr>
      </p:sp>
      <p:sp>
        <p:nvSpPr>
          <p:cNvPr id="9" name="Text 7"/>
          <p:cNvSpPr txBox="1"/>
          <p:nvPr/>
        </p:nvSpPr>
        <p:spPr>
          <a:xfrm>
            <a:off x="731520" y="5120640"/>
            <a:ext cx="10515600" cy="365760"/>
          </a:xfrm>
          <a:prstGeom prst="rect">
            <a:avLst/>
          </a:prstGeom>
          <a:noFill/>
          <a:ln/>
        </p:spPr>
        <p:txBody>
          <a:bodyPr wrap="square" lIns="0" tIns="0" rIns="0" bIns="0" rtlCol="0" anchor="t"/>
          <a:lstStyle/>
          <a:p>
            <a:pPr indent="0" marL="0">
              <a:buNone/>
            </a:pPr>
            <a:r>
              <a:rPr lang="en-US" sz="1600" dirty="0">
                <a:solidFill>
                  <a:srgbClr val="CADCFC"/>
                </a:solidFill>
              </a:rPr>
              <a:t>51 Games  |  66 Sports  |  757 Events  |  129K Participations  |  228 NOCs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Project overview and scope</a:t>
            </a:r>
            <a:endParaRPr lang="en-US" sz="3000" dirty="0"/>
          </a:p>
        </p:txBody>
      </p:sp>
      <p:sp>
        <p:nvSpPr>
          <p:cNvPr id="3" name="Text 1"/>
          <p:cNvSpPr txBox="1"/>
          <p:nvPr/>
        </p:nvSpPr>
        <p:spPr>
          <a:xfrm>
            <a:off x="548640" y="1280160"/>
            <a:ext cx="11064240" cy="914400"/>
          </a:xfrm>
          <a:prstGeom prst="rect">
            <a:avLst/>
          </a:prstGeom>
          <a:noFill/>
          <a:ln/>
        </p:spPr>
        <p:txBody>
          <a:bodyPr wrap="square" lIns="0" tIns="0" rIns="0" bIns="0" rtlCol="0" anchor="t"/>
          <a:lstStyle/>
          <a:p>
            <a:pPr indent="0" marL="0">
              <a:buNone/>
            </a:pPr>
            <a:r>
              <a:rPr lang="en-US" sz="1800" dirty="0">
                <a:solidFill>
                  <a:schemeClr val="tx1"/>
                </a:solidFill>
              </a:rPr>
              <a:t>This project analyses the full history of the modern Olympic Games, from Athens 1896 to 2016. It turns 18 SQL EDA questions and 18 Power BI measures into one five-page dashboard, then organises every finding into a MECE structure.</a:t>
            </a:r>
            <a:endParaRPr lang="en-US" sz="1800" dirty="0"/>
          </a:p>
        </p:txBody>
      </p:sp>
      <p:sp>
        <p:nvSpPr>
          <p:cNvPr id="4" name="card"/>
          <p:cNvSpPr/>
          <p:nvPr/>
        </p:nvSpPr>
        <p:spPr>
          <a:xfrm>
            <a:off x="548640" y="2651760"/>
            <a:ext cx="1691640" cy="1920240"/>
          </a:xfrm>
          <a:prstGeom prst="roundRect">
            <a:avLst>
              <a:gd name="adj" fmla="val 6486"/>
            </a:avLst>
          </a:prstGeom>
          <a:solidFill>
            <a:schemeClr val="bg2"/>
          </a:solidFill>
          <a:ln w="12700">
            <a:solidFill>
              <a:schemeClr val="bg2"/>
            </a:solidFill>
            <a:prstDash val="solid"/>
          </a:ln>
        </p:spPr>
      </p:sp>
      <p:sp>
        <p:nvSpPr>
          <p:cNvPr id="5" name="Text 3"/>
          <p:cNvSpPr txBox="1"/>
          <p:nvPr/>
        </p:nvSpPr>
        <p:spPr>
          <a:xfrm>
            <a:off x="731520" y="2926080"/>
            <a:ext cx="13716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51</a:t>
            </a:r>
            <a:endParaRPr lang="en-US" sz="4000" dirty="0"/>
          </a:p>
        </p:txBody>
      </p:sp>
      <p:sp>
        <p:nvSpPr>
          <p:cNvPr id="6" name="Text 4"/>
          <p:cNvSpPr txBox="1"/>
          <p:nvPr/>
        </p:nvSpPr>
        <p:spPr>
          <a:xfrm>
            <a:off x="73152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Olympic Games</a:t>
            </a:r>
            <a:endParaRPr lang="en-US" sz="1400" dirty="0"/>
          </a:p>
        </p:txBody>
      </p:sp>
      <p:sp>
        <p:nvSpPr>
          <p:cNvPr id="7" name="card"/>
          <p:cNvSpPr/>
          <p:nvPr/>
        </p:nvSpPr>
        <p:spPr>
          <a:xfrm>
            <a:off x="2423160" y="2651760"/>
            <a:ext cx="1691640" cy="1920240"/>
          </a:xfrm>
          <a:prstGeom prst="roundRect">
            <a:avLst>
              <a:gd name="adj" fmla="val 6486"/>
            </a:avLst>
          </a:prstGeom>
          <a:solidFill>
            <a:schemeClr val="bg2"/>
          </a:solidFill>
          <a:ln w="12700">
            <a:solidFill>
              <a:schemeClr val="bg2"/>
            </a:solidFill>
            <a:prstDash val="solid"/>
          </a:ln>
        </p:spPr>
      </p:sp>
      <p:sp>
        <p:nvSpPr>
          <p:cNvPr id="8" name="Text 6"/>
          <p:cNvSpPr txBox="1"/>
          <p:nvPr/>
        </p:nvSpPr>
        <p:spPr>
          <a:xfrm>
            <a:off x="2606040" y="2926080"/>
            <a:ext cx="137160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66</a:t>
            </a:r>
            <a:endParaRPr lang="en-US" sz="4000" dirty="0"/>
          </a:p>
        </p:txBody>
      </p:sp>
      <p:sp>
        <p:nvSpPr>
          <p:cNvPr id="9" name="Text 7"/>
          <p:cNvSpPr txBox="1"/>
          <p:nvPr/>
        </p:nvSpPr>
        <p:spPr>
          <a:xfrm>
            <a:off x="260604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Sports</a:t>
            </a:r>
            <a:endParaRPr lang="en-US" sz="1400" dirty="0"/>
          </a:p>
        </p:txBody>
      </p:sp>
      <p:sp>
        <p:nvSpPr>
          <p:cNvPr id="10" name="card"/>
          <p:cNvSpPr/>
          <p:nvPr/>
        </p:nvSpPr>
        <p:spPr>
          <a:xfrm>
            <a:off x="4297680" y="2651760"/>
            <a:ext cx="1691640" cy="1920240"/>
          </a:xfrm>
          <a:prstGeom prst="roundRect">
            <a:avLst>
              <a:gd name="adj" fmla="val 6486"/>
            </a:avLst>
          </a:prstGeom>
          <a:solidFill>
            <a:schemeClr val="bg2"/>
          </a:solidFill>
          <a:ln w="12700">
            <a:solidFill>
              <a:schemeClr val="bg2"/>
            </a:solidFill>
            <a:prstDash val="solid"/>
          </a:ln>
        </p:spPr>
      </p:sp>
      <p:sp>
        <p:nvSpPr>
          <p:cNvPr id="11" name="Text 9"/>
          <p:cNvSpPr txBox="1"/>
          <p:nvPr/>
        </p:nvSpPr>
        <p:spPr>
          <a:xfrm>
            <a:off x="4480560" y="2926080"/>
            <a:ext cx="13716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757</a:t>
            </a:r>
            <a:endParaRPr lang="en-US" sz="4000" dirty="0"/>
          </a:p>
        </p:txBody>
      </p:sp>
      <p:sp>
        <p:nvSpPr>
          <p:cNvPr id="12" name="Text 10"/>
          <p:cNvSpPr txBox="1"/>
          <p:nvPr/>
        </p:nvSpPr>
        <p:spPr>
          <a:xfrm>
            <a:off x="448056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Events</a:t>
            </a:r>
            <a:endParaRPr lang="en-US" sz="1400" dirty="0"/>
          </a:p>
        </p:txBody>
      </p:sp>
      <p:sp>
        <p:nvSpPr>
          <p:cNvPr id="13" name="card"/>
          <p:cNvSpPr/>
          <p:nvPr/>
        </p:nvSpPr>
        <p:spPr>
          <a:xfrm>
            <a:off x="6172200" y="2651760"/>
            <a:ext cx="1691640" cy="1920240"/>
          </a:xfrm>
          <a:prstGeom prst="roundRect">
            <a:avLst>
              <a:gd name="adj" fmla="val 6486"/>
            </a:avLst>
          </a:prstGeom>
          <a:solidFill>
            <a:schemeClr val="bg2"/>
          </a:solidFill>
          <a:ln w="12700">
            <a:solidFill>
              <a:schemeClr val="bg2"/>
            </a:solidFill>
            <a:prstDash val="solid"/>
          </a:ln>
        </p:spPr>
      </p:sp>
      <p:sp>
        <p:nvSpPr>
          <p:cNvPr id="14" name="Text 12"/>
          <p:cNvSpPr txBox="1"/>
          <p:nvPr/>
        </p:nvSpPr>
        <p:spPr>
          <a:xfrm>
            <a:off x="6355080" y="2926080"/>
            <a:ext cx="137160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129K</a:t>
            </a:r>
            <a:endParaRPr lang="en-US" sz="4000" dirty="0"/>
          </a:p>
        </p:txBody>
      </p:sp>
      <p:sp>
        <p:nvSpPr>
          <p:cNvPr id="15" name="Text 13"/>
          <p:cNvSpPr txBox="1"/>
          <p:nvPr/>
        </p:nvSpPr>
        <p:spPr>
          <a:xfrm>
            <a:off x="635508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Participations</a:t>
            </a:r>
            <a:endParaRPr lang="en-US" sz="1400" dirty="0"/>
          </a:p>
        </p:txBody>
      </p:sp>
      <p:sp>
        <p:nvSpPr>
          <p:cNvPr id="16" name="card"/>
          <p:cNvSpPr/>
          <p:nvPr/>
        </p:nvSpPr>
        <p:spPr>
          <a:xfrm>
            <a:off x="8046720" y="2651760"/>
            <a:ext cx="1691640" cy="1920240"/>
          </a:xfrm>
          <a:prstGeom prst="roundRect">
            <a:avLst>
              <a:gd name="adj" fmla="val 6486"/>
            </a:avLst>
          </a:prstGeom>
          <a:solidFill>
            <a:schemeClr val="bg2"/>
          </a:solidFill>
          <a:ln w="12700">
            <a:solidFill>
              <a:schemeClr val="bg2"/>
            </a:solidFill>
            <a:prstDash val="solid"/>
          </a:ln>
        </p:spPr>
      </p:sp>
      <p:sp>
        <p:nvSpPr>
          <p:cNvPr id="17" name="Text 15"/>
          <p:cNvSpPr txBox="1"/>
          <p:nvPr/>
        </p:nvSpPr>
        <p:spPr>
          <a:xfrm>
            <a:off x="8229600" y="2926080"/>
            <a:ext cx="137160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228</a:t>
            </a:r>
            <a:endParaRPr lang="en-US" sz="4000" dirty="0"/>
          </a:p>
        </p:txBody>
      </p:sp>
      <p:sp>
        <p:nvSpPr>
          <p:cNvPr id="18" name="Text 16"/>
          <p:cNvSpPr txBox="1"/>
          <p:nvPr/>
        </p:nvSpPr>
        <p:spPr>
          <a:xfrm>
            <a:off x="822960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NOCs</a:t>
            </a:r>
            <a:endParaRPr lang="en-US" sz="1400" dirty="0"/>
          </a:p>
        </p:txBody>
      </p:sp>
      <p:sp>
        <p:nvSpPr>
          <p:cNvPr id="19" name="card"/>
          <p:cNvSpPr/>
          <p:nvPr/>
        </p:nvSpPr>
        <p:spPr>
          <a:xfrm>
            <a:off x="9921240" y="2651760"/>
            <a:ext cx="1691640" cy="1920240"/>
          </a:xfrm>
          <a:prstGeom prst="roundRect">
            <a:avLst>
              <a:gd name="adj" fmla="val 6486"/>
            </a:avLst>
          </a:prstGeom>
          <a:solidFill>
            <a:schemeClr val="bg2"/>
          </a:solidFill>
          <a:ln w="12700">
            <a:solidFill>
              <a:schemeClr val="bg2"/>
            </a:solidFill>
            <a:prstDash val="solid"/>
          </a:ln>
        </p:spPr>
      </p:sp>
      <p:sp>
        <p:nvSpPr>
          <p:cNvPr id="20" name="Text 18"/>
          <p:cNvSpPr txBox="1"/>
          <p:nvPr/>
        </p:nvSpPr>
        <p:spPr>
          <a:xfrm>
            <a:off x="10104120" y="2926080"/>
            <a:ext cx="1371600" cy="731520"/>
          </a:xfrm>
          <a:prstGeom prst="rect">
            <a:avLst/>
          </a:prstGeom>
          <a:noFill/>
          <a:ln/>
        </p:spPr>
        <p:txBody>
          <a:bodyPr wrap="square" lIns="0" tIns="0" rIns="0" bIns="0" rtlCol="0" anchor="t"/>
          <a:lstStyle/>
          <a:p>
            <a:pPr indent="0" marL="0">
              <a:buNone/>
            </a:pPr>
            <a:r>
              <a:rPr lang="en-US" sz="4000" b="1" dirty="0">
                <a:solidFill>
                  <a:schemeClr val="accent2"/>
                </a:solidFill>
                <a:latin typeface="Cambria" pitchFamily="34" charset="0"/>
                <a:ea typeface="Cambria" pitchFamily="34" charset="-122"/>
                <a:cs typeface="Cambria" pitchFamily="34" charset="-120"/>
              </a:rPr>
              <a:t>39K</a:t>
            </a:r>
            <a:endParaRPr lang="en-US" sz="4000" dirty="0"/>
          </a:p>
        </p:txBody>
      </p:sp>
      <p:sp>
        <p:nvSpPr>
          <p:cNvPr id="21" name="Text 19"/>
          <p:cNvSpPr txBox="1"/>
          <p:nvPr/>
        </p:nvSpPr>
        <p:spPr>
          <a:xfrm>
            <a:off x="10104120" y="3703320"/>
            <a:ext cx="1371600" cy="457200"/>
          </a:xfrm>
          <a:prstGeom prst="rect">
            <a:avLst/>
          </a:prstGeom>
          <a:noFill/>
          <a:ln/>
        </p:spPr>
        <p:txBody>
          <a:bodyPr wrap="square" lIns="0" tIns="0" rIns="0" bIns="0" rtlCol="0" anchor="t"/>
          <a:lstStyle/>
          <a:p>
            <a:pPr indent="0" marL="0">
              <a:buNone/>
            </a:pPr>
            <a:r>
              <a:rPr lang="en-US" sz="1400" dirty="0">
                <a:solidFill>
                  <a:schemeClr val="accent5"/>
                </a:solidFill>
              </a:rPr>
              <a:t>Medals</a:t>
            </a:r>
            <a:endParaRPr lang="en-US" sz="1400" dirty="0"/>
          </a:p>
        </p:txBody>
      </p:sp>
      <p:sp>
        <p:nvSpPr>
          <p:cNvPr id="22" name="Text 20"/>
          <p:cNvSpPr txBox="1"/>
          <p:nvPr/>
        </p:nvSpPr>
        <p:spPr>
          <a:xfrm>
            <a:off x="548640" y="5029200"/>
            <a:ext cx="11064240" cy="731520"/>
          </a:xfrm>
          <a:prstGeom prst="rect">
            <a:avLst/>
          </a:prstGeom>
          <a:noFill/>
          <a:ln/>
        </p:spPr>
        <p:txBody>
          <a:bodyPr wrap="square" lIns="0" tIns="0" rIns="0" bIns="0" rtlCol="0" anchor="t"/>
          <a:lstStyle/>
          <a:p>
            <a:pPr indent="0" marL="0">
              <a:buNone/>
            </a:pPr>
            <a:r>
              <a:rPr lang="en-US" sz="1600" dirty="0">
                <a:solidFill>
                  <a:schemeClr val="accent5"/>
                </a:solidFill>
              </a:rPr>
              <a:t>29 Summer Games (56.86%) and 22 Winter Games (43.14%).  Average athlete age: 25.78 years.  Gender split: 73.9% male, 26.1% female.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How the project was built</a:t>
            </a:r>
            <a:endParaRPr lang="en-US" sz="3000" dirty="0"/>
          </a:p>
        </p:txBody>
      </p:sp>
      <p:sp>
        <p:nvSpPr>
          <p:cNvPr id="3" name="card"/>
          <p:cNvSpPr/>
          <p:nvPr/>
        </p:nvSpPr>
        <p:spPr>
          <a:xfrm>
            <a:off x="548640" y="1463040"/>
            <a:ext cx="2606040" cy="4206240"/>
          </a:xfrm>
          <a:prstGeom prst="roundRect">
            <a:avLst>
              <a:gd name="adj" fmla="val 4211"/>
            </a:avLst>
          </a:prstGeom>
          <a:solidFill>
            <a:schemeClr val="bg2"/>
          </a:solidFill>
          <a:ln w="12700">
            <a:solidFill>
              <a:schemeClr val="bg2"/>
            </a:solidFill>
            <a:prstDash val="solid"/>
          </a:ln>
        </p:spPr>
      </p:sp>
      <p:sp>
        <p:nvSpPr>
          <p:cNvPr id="4" name="step badge"/>
          <p:cNvSpPr/>
          <p:nvPr/>
        </p:nvSpPr>
        <p:spPr>
          <a:xfrm>
            <a:off x="777240" y="1691640"/>
            <a:ext cx="640080" cy="640080"/>
          </a:xfrm>
          <a:prstGeom prst="ellipse">
            <a:avLst/>
          </a:prstGeom>
          <a:solidFill>
            <a:schemeClr val="accent1"/>
          </a:solidFill>
          <a:ln w="12700">
            <a:solidFill>
              <a:schemeClr val="bg2"/>
            </a:solidFill>
            <a:prstDash val="solid"/>
          </a:ln>
        </p:spPr>
      </p:sp>
      <p:sp>
        <p:nvSpPr>
          <p:cNvPr id="5" name="Text 3"/>
          <p:cNvSpPr txBox="1"/>
          <p:nvPr/>
        </p:nvSpPr>
        <p:spPr>
          <a:xfrm>
            <a:off x="77724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777240" y="256032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SQL EDA</a:t>
            </a:r>
            <a:endParaRPr lang="en-US" sz="2200" dirty="0"/>
          </a:p>
        </p:txBody>
      </p:sp>
      <p:sp>
        <p:nvSpPr>
          <p:cNvPr id="7" name="Text 5"/>
          <p:cNvSpPr txBox="1"/>
          <p:nvPr/>
        </p:nvSpPr>
        <p:spPr>
          <a:xfrm>
            <a:off x="777240" y="3108960"/>
            <a:ext cx="2194560" cy="2377440"/>
          </a:xfrm>
          <a:prstGeom prst="rect">
            <a:avLst/>
          </a:prstGeom>
          <a:noFill/>
          <a:ln/>
        </p:spPr>
        <p:txBody>
          <a:bodyPr wrap="square" lIns="0" tIns="0" rIns="0" bIns="0" rtlCol="0" anchor="t"/>
          <a:lstStyle/>
          <a:p>
            <a:pPr indent="0" marL="0">
              <a:buNone/>
            </a:pPr>
            <a:r>
              <a:rPr lang="en-US" sz="1500" dirty="0">
                <a:solidFill>
                  <a:schemeClr val="accent5"/>
                </a:solidFill>
              </a:rPr>
              <a:t>18 exploratory questions answered with SQL joins across games, sport, event, person, competitor and medal tables.</a:t>
            </a:r>
            <a:endParaRPr lang="en-US" sz="1500" dirty="0"/>
          </a:p>
        </p:txBody>
      </p:sp>
      <p:sp>
        <p:nvSpPr>
          <p:cNvPr id="8" name="card"/>
          <p:cNvSpPr/>
          <p:nvPr/>
        </p:nvSpPr>
        <p:spPr>
          <a:xfrm>
            <a:off x="3383280" y="1463040"/>
            <a:ext cx="2606040" cy="4206240"/>
          </a:xfrm>
          <a:prstGeom prst="roundRect">
            <a:avLst>
              <a:gd name="adj" fmla="val 4211"/>
            </a:avLst>
          </a:prstGeom>
          <a:solidFill>
            <a:schemeClr val="bg2"/>
          </a:solidFill>
          <a:ln w="12700">
            <a:solidFill>
              <a:schemeClr val="bg2"/>
            </a:solidFill>
            <a:prstDash val="solid"/>
          </a:ln>
        </p:spPr>
      </p:sp>
      <p:sp>
        <p:nvSpPr>
          <p:cNvPr id="9" name="step badge"/>
          <p:cNvSpPr/>
          <p:nvPr/>
        </p:nvSpPr>
        <p:spPr>
          <a:xfrm>
            <a:off x="3611880" y="1691640"/>
            <a:ext cx="640080" cy="640080"/>
          </a:xfrm>
          <a:prstGeom prst="ellipse">
            <a:avLst/>
          </a:prstGeom>
          <a:solidFill>
            <a:schemeClr val="accent2"/>
          </a:solidFill>
          <a:ln w="12700">
            <a:solidFill>
              <a:schemeClr val="bg2"/>
            </a:solidFill>
            <a:prstDash val="solid"/>
          </a:ln>
        </p:spPr>
      </p:sp>
      <p:sp>
        <p:nvSpPr>
          <p:cNvPr id="10" name="Text 8"/>
          <p:cNvSpPr txBox="1"/>
          <p:nvPr/>
        </p:nvSpPr>
        <p:spPr>
          <a:xfrm>
            <a:off x="361188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 9"/>
          <p:cNvSpPr txBox="1"/>
          <p:nvPr/>
        </p:nvSpPr>
        <p:spPr>
          <a:xfrm>
            <a:off x="3611880" y="256032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Excel</a:t>
            </a:r>
            <a:endParaRPr lang="en-US" sz="2200" dirty="0"/>
          </a:p>
        </p:txBody>
      </p:sp>
      <p:sp>
        <p:nvSpPr>
          <p:cNvPr id="12" name="Text 10"/>
          <p:cNvSpPr txBox="1"/>
          <p:nvPr/>
        </p:nvSpPr>
        <p:spPr>
          <a:xfrm>
            <a:off x="3611880" y="3108960"/>
            <a:ext cx="2194560" cy="2377440"/>
          </a:xfrm>
          <a:prstGeom prst="rect">
            <a:avLst/>
          </a:prstGeom>
          <a:noFill/>
          <a:ln/>
        </p:spPr>
        <p:txBody>
          <a:bodyPr wrap="square" lIns="0" tIns="0" rIns="0" bIns="0" rtlCol="0" anchor="t"/>
          <a:lstStyle/>
          <a:p>
            <a:pPr indent="0" marL="0">
              <a:buNone/>
            </a:pPr>
            <a:r>
              <a:rPr lang="en-US" sz="1500" dirty="0">
                <a:solidFill>
                  <a:schemeClr val="accent5"/>
                </a:solidFill>
              </a:rPr>
              <a:t>Each query output stored in its own Answer sheet with a pivot table, a chart and a written key takeaway.</a:t>
            </a:r>
            <a:endParaRPr lang="en-US" sz="1500" dirty="0"/>
          </a:p>
        </p:txBody>
      </p:sp>
      <p:sp>
        <p:nvSpPr>
          <p:cNvPr id="13" name="card"/>
          <p:cNvSpPr/>
          <p:nvPr/>
        </p:nvSpPr>
        <p:spPr>
          <a:xfrm>
            <a:off x="6217920" y="1463040"/>
            <a:ext cx="2606040" cy="4206240"/>
          </a:xfrm>
          <a:prstGeom prst="roundRect">
            <a:avLst>
              <a:gd name="adj" fmla="val 4211"/>
            </a:avLst>
          </a:prstGeom>
          <a:solidFill>
            <a:schemeClr val="bg2"/>
          </a:solidFill>
          <a:ln w="12700">
            <a:solidFill>
              <a:schemeClr val="bg2"/>
            </a:solidFill>
            <a:prstDash val="solid"/>
          </a:ln>
        </p:spPr>
      </p:sp>
      <p:sp>
        <p:nvSpPr>
          <p:cNvPr id="14" name="step badge"/>
          <p:cNvSpPr/>
          <p:nvPr/>
        </p:nvSpPr>
        <p:spPr>
          <a:xfrm>
            <a:off x="6446520" y="1691640"/>
            <a:ext cx="640080" cy="640080"/>
          </a:xfrm>
          <a:prstGeom prst="ellipse">
            <a:avLst/>
          </a:prstGeom>
          <a:solidFill>
            <a:schemeClr val="accent3"/>
          </a:solidFill>
          <a:ln w="12700">
            <a:solidFill>
              <a:schemeClr val="bg2"/>
            </a:solidFill>
            <a:prstDash val="solid"/>
          </a:ln>
        </p:spPr>
      </p:sp>
      <p:sp>
        <p:nvSpPr>
          <p:cNvPr id="15" name="Text 13"/>
          <p:cNvSpPr txBox="1"/>
          <p:nvPr/>
        </p:nvSpPr>
        <p:spPr>
          <a:xfrm>
            <a:off x="644652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6" name="Text 14"/>
          <p:cNvSpPr txBox="1"/>
          <p:nvPr/>
        </p:nvSpPr>
        <p:spPr>
          <a:xfrm>
            <a:off x="6446520" y="256032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Power BI</a:t>
            </a:r>
            <a:endParaRPr lang="en-US" sz="2200" dirty="0"/>
          </a:p>
        </p:txBody>
      </p:sp>
      <p:sp>
        <p:nvSpPr>
          <p:cNvPr id="17" name="Text 15"/>
          <p:cNvSpPr txBox="1"/>
          <p:nvPr/>
        </p:nvSpPr>
        <p:spPr>
          <a:xfrm>
            <a:off x="6446520" y="3108960"/>
            <a:ext cx="2194560" cy="2377440"/>
          </a:xfrm>
          <a:prstGeom prst="rect">
            <a:avLst/>
          </a:prstGeom>
          <a:noFill/>
          <a:ln/>
        </p:spPr>
        <p:txBody>
          <a:bodyPr wrap="square" lIns="0" tIns="0" rIns="0" bIns="0" rtlCol="0" anchor="t"/>
          <a:lstStyle/>
          <a:p>
            <a:pPr indent="0" marL="0">
              <a:buNone/>
            </a:pPr>
            <a:r>
              <a:rPr lang="en-US" sz="1500" dirty="0">
                <a:solidFill>
                  <a:schemeClr val="accent5"/>
                </a:solidFill>
              </a:rPr>
              <a:t>18 solved questions as DAX measures and visuals, combined into a 5-page dashboard with slicers.</a:t>
            </a:r>
            <a:endParaRPr lang="en-US" sz="1500" dirty="0"/>
          </a:p>
        </p:txBody>
      </p:sp>
      <p:sp>
        <p:nvSpPr>
          <p:cNvPr id="18" name="card"/>
          <p:cNvSpPr/>
          <p:nvPr/>
        </p:nvSpPr>
        <p:spPr>
          <a:xfrm>
            <a:off x="9052560" y="1463040"/>
            <a:ext cx="2606040" cy="4206240"/>
          </a:xfrm>
          <a:prstGeom prst="roundRect">
            <a:avLst>
              <a:gd name="adj" fmla="val 4211"/>
            </a:avLst>
          </a:prstGeom>
          <a:solidFill>
            <a:schemeClr val="bg2"/>
          </a:solidFill>
          <a:ln w="12700">
            <a:solidFill>
              <a:schemeClr val="bg2"/>
            </a:solidFill>
            <a:prstDash val="solid"/>
          </a:ln>
        </p:spPr>
      </p:sp>
      <p:sp>
        <p:nvSpPr>
          <p:cNvPr id="19" name="step badge"/>
          <p:cNvSpPr/>
          <p:nvPr/>
        </p:nvSpPr>
        <p:spPr>
          <a:xfrm>
            <a:off x="9281160" y="1691640"/>
            <a:ext cx="640080" cy="640080"/>
          </a:xfrm>
          <a:prstGeom prst="ellipse">
            <a:avLst/>
          </a:prstGeom>
          <a:solidFill>
            <a:schemeClr val="accent6"/>
          </a:solidFill>
          <a:ln w="12700">
            <a:solidFill>
              <a:schemeClr val="bg2"/>
            </a:solidFill>
            <a:prstDash val="solid"/>
          </a:ln>
        </p:spPr>
      </p:sp>
      <p:sp>
        <p:nvSpPr>
          <p:cNvPr id="20" name="Text 18"/>
          <p:cNvSpPr txBox="1"/>
          <p:nvPr/>
        </p:nvSpPr>
        <p:spPr>
          <a:xfrm>
            <a:off x="9281160" y="169164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1" name="Text 19"/>
          <p:cNvSpPr txBox="1"/>
          <p:nvPr/>
        </p:nvSpPr>
        <p:spPr>
          <a:xfrm>
            <a:off x="9281160" y="2560320"/>
            <a:ext cx="2194560" cy="45720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MECE report</a:t>
            </a:r>
            <a:endParaRPr lang="en-US" sz="2200" dirty="0"/>
          </a:p>
        </p:txBody>
      </p:sp>
      <p:sp>
        <p:nvSpPr>
          <p:cNvPr id="22" name="Text 20"/>
          <p:cNvSpPr txBox="1"/>
          <p:nvPr/>
        </p:nvSpPr>
        <p:spPr>
          <a:xfrm>
            <a:off x="9281160" y="3108960"/>
            <a:ext cx="2194560" cy="2377440"/>
          </a:xfrm>
          <a:prstGeom prst="rect">
            <a:avLst/>
          </a:prstGeom>
          <a:noFill/>
          <a:ln/>
        </p:spPr>
        <p:txBody>
          <a:bodyPr wrap="square" lIns="0" tIns="0" rIns="0" bIns="0" rtlCol="0" anchor="t"/>
          <a:lstStyle/>
          <a:p>
            <a:pPr indent="0" marL="0">
              <a:buNone/>
            </a:pPr>
            <a:r>
              <a:rPr lang="en-US" sz="1500" dirty="0">
                <a:solidFill>
                  <a:schemeClr val="accent5"/>
                </a:solidFill>
              </a:rPr>
              <a:t>Findings structured into 4 non-overlapping pillars and closed with strategic recommendations.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MECE framework: four analytical pillars</a:t>
            </a:r>
            <a:endParaRPr lang="en-US" sz="3000" dirty="0"/>
          </a:p>
        </p:txBody>
      </p:sp>
      <p:sp>
        <p:nvSpPr>
          <p:cNvPr id="3" name="card"/>
          <p:cNvSpPr/>
          <p:nvPr/>
        </p:nvSpPr>
        <p:spPr>
          <a:xfrm>
            <a:off x="548640" y="1371600"/>
            <a:ext cx="5440680" cy="2240280"/>
          </a:xfrm>
          <a:prstGeom prst="roundRect">
            <a:avLst>
              <a:gd name="adj" fmla="val 4898"/>
            </a:avLst>
          </a:prstGeom>
          <a:solidFill>
            <a:schemeClr val="bg2"/>
          </a:solidFill>
          <a:ln w="12700">
            <a:solidFill>
              <a:schemeClr val="bg2"/>
            </a:solidFill>
            <a:prstDash val="solid"/>
          </a:ln>
        </p:spPr>
      </p:sp>
      <p:sp>
        <p:nvSpPr>
          <p:cNvPr id="4" name="Text 2"/>
          <p:cNvSpPr txBox="1"/>
          <p:nvPr/>
        </p:nvSpPr>
        <p:spPr>
          <a:xfrm>
            <a:off x="822960" y="1600200"/>
            <a:ext cx="4846320" cy="320040"/>
          </a:xfrm>
          <a:prstGeom prst="rect">
            <a:avLst/>
          </a:prstGeom>
          <a:noFill/>
          <a:ln/>
        </p:spPr>
        <p:txBody>
          <a:bodyPr wrap="square" lIns="0" tIns="0" rIns="0" bIns="0" rtlCol="0" anchor="t"/>
          <a:lstStyle/>
          <a:p>
            <a:pPr indent="0" marL="0">
              <a:buNone/>
            </a:pPr>
            <a:r>
              <a:rPr lang="en-US" sz="1400" b="1" dirty="0">
                <a:solidFill>
                  <a:schemeClr val="accent1"/>
                </a:solidFill>
              </a:rPr>
              <a:t>PILLAR I</a:t>
            </a:r>
            <a:endParaRPr lang="en-US" sz="1400" dirty="0"/>
          </a:p>
        </p:txBody>
      </p:sp>
      <p:sp>
        <p:nvSpPr>
          <p:cNvPr id="5" name="Text 3"/>
          <p:cNvSpPr txBox="1"/>
          <p:nvPr/>
        </p:nvSpPr>
        <p:spPr>
          <a:xfrm>
            <a:off x="822960" y="201168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Games architecture and temporal evolution</a:t>
            </a:r>
            <a:endParaRPr lang="en-US" sz="2200" dirty="0"/>
          </a:p>
        </p:txBody>
      </p:sp>
      <p:sp>
        <p:nvSpPr>
          <p:cNvPr id="6" name="Text 4"/>
          <p:cNvSpPr txBox="1"/>
          <p:nvPr/>
        </p:nvSpPr>
        <p:spPr>
          <a:xfrm>
            <a:off x="822960" y="2834640"/>
            <a:ext cx="4846320" cy="640080"/>
          </a:xfrm>
          <a:prstGeom prst="rect">
            <a:avLst/>
          </a:prstGeom>
          <a:noFill/>
          <a:ln/>
        </p:spPr>
        <p:txBody>
          <a:bodyPr wrap="square" lIns="0" tIns="0" rIns="0" bIns="0" rtlCol="0" anchor="t"/>
          <a:lstStyle/>
          <a:p>
            <a:pPr indent="0" marL="0">
              <a:buNone/>
            </a:pPr>
            <a:r>
              <a:rPr lang="en-US" sz="1500" dirty="0">
                <a:solidFill>
                  <a:schemeClr val="accent5"/>
                </a:solidFill>
              </a:rPr>
              <a:t>Season split, hosting periodicity by decade, top host cities.</a:t>
            </a:r>
            <a:endParaRPr lang="en-US" sz="1500" dirty="0"/>
          </a:p>
        </p:txBody>
      </p:sp>
      <p:sp>
        <p:nvSpPr>
          <p:cNvPr id="7" name="card"/>
          <p:cNvSpPr/>
          <p:nvPr/>
        </p:nvSpPr>
        <p:spPr>
          <a:xfrm>
            <a:off x="6172200" y="1371600"/>
            <a:ext cx="5440680" cy="2240280"/>
          </a:xfrm>
          <a:prstGeom prst="roundRect">
            <a:avLst>
              <a:gd name="adj" fmla="val 4898"/>
            </a:avLst>
          </a:prstGeom>
          <a:solidFill>
            <a:schemeClr val="bg2"/>
          </a:solidFill>
          <a:ln w="12700">
            <a:solidFill>
              <a:schemeClr val="bg2"/>
            </a:solidFill>
            <a:prstDash val="solid"/>
          </a:ln>
        </p:spPr>
      </p:sp>
      <p:sp>
        <p:nvSpPr>
          <p:cNvPr id="8" name="Text 6"/>
          <p:cNvSpPr txBox="1"/>
          <p:nvPr/>
        </p:nvSpPr>
        <p:spPr>
          <a:xfrm>
            <a:off x="6446520" y="1600200"/>
            <a:ext cx="4846320" cy="320040"/>
          </a:xfrm>
          <a:prstGeom prst="rect">
            <a:avLst/>
          </a:prstGeom>
          <a:noFill/>
          <a:ln/>
        </p:spPr>
        <p:txBody>
          <a:bodyPr wrap="square" lIns="0" tIns="0" rIns="0" bIns="0" rtlCol="0" anchor="t"/>
          <a:lstStyle/>
          <a:p>
            <a:pPr indent="0" marL="0">
              <a:buNone/>
            </a:pPr>
            <a:r>
              <a:rPr lang="en-US" sz="1400" b="1" dirty="0">
                <a:solidFill>
                  <a:schemeClr val="accent3"/>
                </a:solidFill>
              </a:rPr>
              <a:t>PILLAR II</a:t>
            </a:r>
            <a:endParaRPr lang="en-US" sz="1400" dirty="0"/>
          </a:p>
        </p:txBody>
      </p:sp>
      <p:sp>
        <p:nvSpPr>
          <p:cNvPr id="9" name="Text 7"/>
          <p:cNvSpPr txBox="1"/>
          <p:nvPr/>
        </p:nvSpPr>
        <p:spPr>
          <a:xfrm>
            <a:off x="6446520" y="201168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Sports and event portfolio</a:t>
            </a:r>
            <a:endParaRPr lang="en-US" sz="2200" dirty="0"/>
          </a:p>
        </p:txBody>
      </p:sp>
      <p:sp>
        <p:nvSpPr>
          <p:cNvPr id="10" name="Text 8"/>
          <p:cNvSpPr txBox="1"/>
          <p:nvPr/>
        </p:nvSpPr>
        <p:spPr>
          <a:xfrm>
            <a:off x="6446520" y="2834640"/>
            <a:ext cx="4846320" cy="640080"/>
          </a:xfrm>
          <a:prstGeom prst="rect">
            <a:avLst/>
          </a:prstGeom>
          <a:noFill/>
          <a:ln/>
        </p:spPr>
        <p:txBody>
          <a:bodyPr wrap="square" lIns="0" tIns="0" rIns="0" bIns="0" rtlCol="0" anchor="t"/>
          <a:lstStyle/>
          <a:p>
            <a:pPr indent="0" marL="0">
              <a:buNone/>
            </a:pPr>
            <a:r>
              <a:rPr lang="en-US" sz="1500" dirty="0">
                <a:solidFill>
                  <a:schemeClr val="accent5"/>
                </a:solidFill>
              </a:rPr>
              <a:t>Discipline concentration, events across 66 sports, gender categories.</a:t>
            </a:r>
            <a:endParaRPr lang="en-US" sz="1500" dirty="0"/>
          </a:p>
        </p:txBody>
      </p:sp>
      <p:sp>
        <p:nvSpPr>
          <p:cNvPr id="11" name="card"/>
          <p:cNvSpPr/>
          <p:nvPr/>
        </p:nvSpPr>
        <p:spPr>
          <a:xfrm>
            <a:off x="548640" y="3840480"/>
            <a:ext cx="5440680" cy="2240280"/>
          </a:xfrm>
          <a:prstGeom prst="roundRect">
            <a:avLst>
              <a:gd name="adj" fmla="val 4898"/>
            </a:avLst>
          </a:prstGeom>
          <a:solidFill>
            <a:schemeClr val="bg2"/>
          </a:solidFill>
          <a:ln w="12700">
            <a:solidFill>
              <a:schemeClr val="bg2"/>
            </a:solidFill>
            <a:prstDash val="solid"/>
          </a:ln>
        </p:spPr>
      </p:sp>
      <p:sp>
        <p:nvSpPr>
          <p:cNvPr id="12" name="Text 10"/>
          <p:cNvSpPr txBox="1"/>
          <p:nvPr/>
        </p:nvSpPr>
        <p:spPr>
          <a:xfrm>
            <a:off x="822960" y="4069080"/>
            <a:ext cx="4846320" cy="320040"/>
          </a:xfrm>
          <a:prstGeom prst="rect">
            <a:avLst/>
          </a:prstGeom>
          <a:noFill/>
          <a:ln/>
        </p:spPr>
        <p:txBody>
          <a:bodyPr wrap="square" lIns="0" tIns="0" rIns="0" bIns="0" rtlCol="0" anchor="t"/>
          <a:lstStyle/>
          <a:p>
            <a:pPr indent="0" marL="0">
              <a:buNone/>
            </a:pPr>
            <a:r>
              <a:rPr lang="en-US" sz="1400" b="1" dirty="0">
                <a:solidFill>
                  <a:schemeClr val="accent6"/>
                </a:solidFill>
              </a:rPr>
              <a:t>PILLAR III</a:t>
            </a:r>
            <a:endParaRPr lang="en-US" sz="1400" dirty="0"/>
          </a:p>
        </p:txBody>
      </p:sp>
      <p:sp>
        <p:nvSpPr>
          <p:cNvPr id="13" name="Text 11"/>
          <p:cNvSpPr txBox="1"/>
          <p:nvPr/>
        </p:nvSpPr>
        <p:spPr>
          <a:xfrm>
            <a:off x="822960" y="448056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Demographics and participation</a:t>
            </a:r>
            <a:endParaRPr lang="en-US" sz="2200" dirty="0"/>
          </a:p>
        </p:txBody>
      </p:sp>
      <p:sp>
        <p:nvSpPr>
          <p:cNvPr id="14" name="Text 12"/>
          <p:cNvSpPr txBox="1"/>
          <p:nvPr/>
        </p:nvSpPr>
        <p:spPr>
          <a:xfrm>
            <a:off x="822960" y="5303520"/>
            <a:ext cx="4846320" cy="640080"/>
          </a:xfrm>
          <a:prstGeom prst="rect">
            <a:avLst/>
          </a:prstGeom>
          <a:noFill/>
          <a:ln/>
        </p:spPr>
        <p:txBody>
          <a:bodyPr wrap="square" lIns="0" tIns="0" rIns="0" bIns="0" rtlCol="0" anchor="t"/>
          <a:lstStyle/>
          <a:p>
            <a:pPr indent="0" marL="0">
              <a:buNone/>
            </a:pPr>
            <a:r>
              <a:rPr lang="en-US" sz="1500" dirty="0">
                <a:solidFill>
                  <a:schemeClr val="accent5"/>
                </a:solidFill>
              </a:rPr>
              <a:t>Volume growth to 129K, gender balance, age brackets.</a:t>
            </a:r>
            <a:endParaRPr lang="en-US" sz="1500" dirty="0"/>
          </a:p>
        </p:txBody>
      </p:sp>
      <p:sp>
        <p:nvSpPr>
          <p:cNvPr id="15" name="card"/>
          <p:cNvSpPr/>
          <p:nvPr/>
        </p:nvSpPr>
        <p:spPr>
          <a:xfrm>
            <a:off x="6172200" y="3840480"/>
            <a:ext cx="5440680" cy="2240280"/>
          </a:xfrm>
          <a:prstGeom prst="roundRect">
            <a:avLst>
              <a:gd name="adj" fmla="val 4898"/>
            </a:avLst>
          </a:prstGeom>
          <a:solidFill>
            <a:schemeClr val="bg2"/>
          </a:solidFill>
          <a:ln w="12700">
            <a:solidFill>
              <a:schemeClr val="bg2"/>
            </a:solidFill>
            <a:prstDash val="solid"/>
          </a:ln>
        </p:spPr>
      </p:sp>
      <p:sp>
        <p:nvSpPr>
          <p:cNvPr id="16" name="Text 14"/>
          <p:cNvSpPr txBox="1"/>
          <p:nvPr/>
        </p:nvSpPr>
        <p:spPr>
          <a:xfrm>
            <a:off x="6446520" y="4069080"/>
            <a:ext cx="4846320" cy="320040"/>
          </a:xfrm>
          <a:prstGeom prst="rect">
            <a:avLst/>
          </a:prstGeom>
          <a:noFill/>
          <a:ln/>
        </p:spPr>
        <p:txBody>
          <a:bodyPr wrap="square" lIns="0" tIns="0" rIns="0" bIns="0" rtlCol="0" anchor="t"/>
          <a:lstStyle/>
          <a:p>
            <a:pPr indent="0" marL="0">
              <a:buNone/>
            </a:pPr>
            <a:r>
              <a:rPr lang="en-US" sz="1400" b="1" dirty="0">
                <a:solidFill>
                  <a:schemeClr val="accent2"/>
                </a:solidFill>
              </a:rPr>
              <a:t>PILLAR IV</a:t>
            </a:r>
            <a:endParaRPr lang="en-US" sz="1400" dirty="0"/>
          </a:p>
        </p:txBody>
      </p:sp>
      <p:sp>
        <p:nvSpPr>
          <p:cNvPr id="17" name="Text 15"/>
          <p:cNvSpPr txBox="1"/>
          <p:nvPr/>
        </p:nvSpPr>
        <p:spPr>
          <a:xfrm>
            <a:off x="6446520" y="4480560"/>
            <a:ext cx="4846320" cy="822960"/>
          </a:xfrm>
          <a:prstGeom prst="rect">
            <a:avLst/>
          </a:prstGeom>
          <a:noFill/>
          <a:ln/>
        </p:spPr>
        <p:txBody>
          <a:bodyPr wrap="square" lIns="0" tIns="0" rIns="0" bIns="0" rtlCol="0" anchor="t"/>
          <a:lstStyle/>
          <a:p>
            <a:pPr indent="0" marL="0">
              <a:buNone/>
            </a:pPr>
            <a:r>
              <a:rPr lang="en-US" sz="2200" b="1" dirty="0">
                <a:solidFill>
                  <a:schemeClr val="tx1"/>
                </a:solidFill>
                <a:latin typeface="Cambria" pitchFamily="34" charset="0"/>
                <a:ea typeface="Cambria" pitchFamily="34" charset="-122"/>
                <a:cs typeface="Cambria" pitchFamily="34" charset="-120"/>
              </a:rPr>
              <a:t>Geopolitical dominance and medals</a:t>
            </a:r>
            <a:endParaRPr lang="en-US" sz="2200" dirty="0"/>
          </a:p>
        </p:txBody>
      </p:sp>
      <p:sp>
        <p:nvSpPr>
          <p:cNvPr id="18" name="Text 16"/>
          <p:cNvSpPr txBox="1"/>
          <p:nvPr/>
        </p:nvSpPr>
        <p:spPr>
          <a:xfrm>
            <a:off x="6446520" y="5303520"/>
            <a:ext cx="4846320" cy="640080"/>
          </a:xfrm>
          <a:prstGeom prst="rect">
            <a:avLst/>
          </a:prstGeom>
          <a:noFill/>
          <a:ln/>
        </p:spPr>
        <p:txBody>
          <a:bodyPr wrap="square" lIns="0" tIns="0" rIns="0" bIns="0" rtlCol="0" anchor="t"/>
          <a:lstStyle/>
          <a:p>
            <a:pPr indent="0" marL="0">
              <a:buNone/>
            </a:pPr>
            <a:r>
              <a:rPr lang="en-US" sz="1500" dirty="0">
                <a:solidFill>
                  <a:schemeClr val="accent5"/>
                </a:solidFill>
              </a:rPr>
              <a:t>228 NOCs, top nations, 39K medals.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Pillar I: Games architecture and hosting</a:t>
            </a:r>
            <a:endParaRPr lang="en-US" sz="3000" dirty="0"/>
          </a:p>
        </p:txBody>
      </p:sp>
      <p:graphicFrame>
        <p:nvGraphicFramePr>
          <p:cNvPr id="3" name="Chart 0"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680960" y="1371600"/>
            <a:ext cx="3931920" cy="4754880"/>
          </a:xfrm>
          <a:prstGeom prst="roundRect">
            <a:avLst>
              <a:gd name="adj" fmla="val 2791"/>
            </a:avLst>
          </a:prstGeom>
          <a:solidFill>
            <a:schemeClr val="bg2"/>
          </a:solidFill>
          <a:ln w="12700">
            <a:solidFill>
              <a:schemeClr val="bg2"/>
            </a:solidFill>
            <a:prstDash val="solid"/>
          </a:ln>
        </p:spPr>
      </p:sp>
      <p:sp>
        <p:nvSpPr>
          <p:cNvPr id="5" name="Text 2"/>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29 / 22</a:t>
            </a:r>
            <a:endParaRPr lang="en-US" sz="4000" dirty="0"/>
          </a:p>
        </p:txBody>
      </p:sp>
      <p:sp>
        <p:nvSpPr>
          <p:cNvPr id="6" name="Text 3"/>
          <p:cNvSpPr txBox="1"/>
          <p:nvPr/>
        </p:nvSpPr>
        <p:spPr>
          <a:xfrm>
            <a:off x="7955280" y="2423160"/>
            <a:ext cx="3474720" cy="457200"/>
          </a:xfrm>
          <a:prstGeom prst="rect">
            <a:avLst/>
          </a:prstGeom>
          <a:noFill/>
          <a:ln/>
        </p:spPr>
        <p:txBody>
          <a:bodyPr wrap="square" lIns="0" tIns="0" rIns="0" bIns="0" rtlCol="0" anchor="t"/>
          <a:lstStyle/>
          <a:p>
            <a:pPr indent="0" marL="0">
              <a:buNone/>
            </a:pPr>
            <a:r>
              <a:rPr lang="en-US" sz="1400" dirty="0">
                <a:solidFill>
                  <a:schemeClr val="accent5"/>
                </a:solidFill>
              </a:rPr>
              <a:t>Summer vs Winter Games</a:t>
            </a:r>
            <a:endParaRPr lang="en-US" sz="1400" dirty="0"/>
          </a:p>
        </p:txBody>
      </p:sp>
      <p:sp>
        <p:nvSpPr>
          <p:cNvPr id="7" name="Text 4"/>
          <p:cNvSpPr txBox="1"/>
          <p:nvPr/>
        </p:nvSpPr>
        <p:spPr>
          <a:xfrm>
            <a:off x="7955280" y="3108960"/>
            <a:ext cx="3474720" cy="731520"/>
          </a:xfrm>
          <a:prstGeom prst="rect">
            <a:avLst/>
          </a:prstGeom>
          <a:noFill/>
          <a:ln/>
        </p:spPr>
        <p:txBody>
          <a:bodyPr wrap="square" lIns="0" tIns="0" rIns="0" bIns="0" rtlCol="0" anchor="t"/>
          <a:lstStyle/>
          <a:p>
            <a:pPr indent="0" marL="0">
              <a:buNone/>
            </a:pPr>
            <a:r>
              <a:rPr lang="en-US" sz="4000" b="1" dirty="0">
                <a:solidFill>
                  <a:srgbClr val="E36C37"/>
                </a:solidFill>
                <a:latin typeface="Cambria" pitchFamily="34" charset="0"/>
                <a:ea typeface="Cambria" pitchFamily="34" charset="-122"/>
                <a:cs typeface="Cambria" pitchFamily="34" charset="-120"/>
              </a:rPr>
              <a:t>3</a:t>
            </a:r>
            <a:endParaRPr lang="en-US" sz="4000" dirty="0"/>
          </a:p>
        </p:txBody>
      </p:sp>
      <p:sp>
        <p:nvSpPr>
          <p:cNvPr id="8" name="Text 5"/>
          <p:cNvSpPr txBox="1"/>
          <p:nvPr/>
        </p:nvSpPr>
        <p:spPr>
          <a:xfrm>
            <a:off x="7955280" y="3886200"/>
            <a:ext cx="3474720" cy="457200"/>
          </a:xfrm>
          <a:prstGeom prst="rect">
            <a:avLst/>
          </a:prstGeom>
          <a:noFill/>
          <a:ln/>
        </p:spPr>
        <p:txBody>
          <a:bodyPr wrap="square" lIns="0" tIns="0" rIns="0" bIns="0" rtlCol="0" anchor="t"/>
          <a:lstStyle/>
          <a:p>
            <a:pPr indent="0" marL="0">
              <a:buNone/>
            </a:pPr>
            <a:r>
              <a:rPr lang="en-US" sz="1400" dirty="0">
                <a:solidFill>
                  <a:schemeClr val="accent5"/>
                </a:solidFill>
              </a:rPr>
              <a:t>Games each: Athina and London</a:t>
            </a:r>
            <a:endParaRPr lang="en-US" sz="1400" dirty="0"/>
          </a:p>
        </p:txBody>
      </p:sp>
      <p:sp>
        <p:nvSpPr>
          <p:cNvPr id="9" name="Text 6"/>
          <p:cNvSpPr txBox="1"/>
          <p:nvPr/>
        </p:nvSpPr>
        <p:spPr>
          <a:xfrm>
            <a:off x="7955280" y="4663440"/>
            <a:ext cx="3474720" cy="1188720"/>
          </a:xfrm>
          <a:prstGeom prst="rect">
            <a:avLst/>
          </a:prstGeom>
          <a:noFill/>
          <a:ln/>
        </p:spPr>
        <p:txBody>
          <a:bodyPr wrap="square" lIns="0" tIns="0" rIns="0" bIns="0" rtlCol="0" anchor="t"/>
          <a:lstStyle/>
          <a:p>
            <a:pPr indent="0" marL="0">
              <a:buNone/>
            </a:pPr>
            <a:r>
              <a:rPr lang="en-US" sz="1500" dirty="0">
                <a:solidFill>
                  <a:schemeClr val="accent5"/>
                </a:solidFill>
              </a:rPr>
              <a:t>Summer Games started in 1896 and Winter Games in 1924, which explains the 7-game gap.</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Pillar II: Sports and event portfolio</a:t>
            </a:r>
            <a:endParaRPr lang="en-US" sz="3000" dirty="0"/>
          </a:p>
        </p:txBody>
      </p:sp>
      <p:graphicFrame>
        <p:nvGraphicFramePr>
          <p:cNvPr id="3" name="Chart 0" descr=""/>
          <p:cNvGraphicFramePr/>
          <p:nvPr/>
        </p:nvGraphicFramePr>
        <p:xfrm>
          <a:off x="548640" y="1371600"/>
          <a:ext cx="585216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675120" y="1371600"/>
          <a:ext cx="4937760" cy="420624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500" dirty="0">
                <a:solidFill>
                  <a:schemeClr val="accent5"/>
                </a:solidFill>
              </a:rPr>
              <a:t>Athletics and Shooting each hold 10.96% of all events. 60.5% of events are for men, 27.87% for women and 11.62% mixed.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Pillar III: Demographics and participation</a:t>
            </a:r>
            <a:endParaRPr lang="en-US" sz="3000" dirty="0"/>
          </a:p>
        </p:txBody>
      </p:sp>
      <p:graphicFrame>
        <p:nvGraphicFramePr>
          <p:cNvPr id="3" name="Chart 0" descr=""/>
          <p:cNvGraphicFramePr/>
          <p:nvPr/>
        </p:nvGraphicFramePr>
        <p:xfrm>
          <a:off x="548640" y="1371600"/>
          <a:ext cx="4754880" cy="42062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5669280" y="1371600"/>
            <a:ext cx="5943600" cy="4206240"/>
          </a:xfrm>
          <a:prstGeom prst="roundRect">
            <a:avLst>
              <a:gd name="adj" fmla="val 2609"/>
            </a:avLst>
          </a:prstGeom>
          <a:solidFill>
            <a:schemeClr val="bg2"/>
          </a:solidFill>
          <a:ln w="12700">
            <a:solidFill>
              <a:schemeClr val="bg2"/>
            </a:solidFill>
            <a:prstDash val="solid"/>
          </a:ln>
        </p:spPr>
      </p:sp>
      <p:sp>
        <p:nvSpPr>
          <p:cNvPr id="5" name="Text 2"/>
          <p:cNvSpPr txBox="1"/>
          <p:nvPr/>
        </p:nvSpPr>
        <p:spPr>
          <a:xfrm>
            <a:off x="5943600" y="1645920"/>
            <a:ext cx="256032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25.78</a:t>
            </a:r>
            <a:endParaRPr lang="en-US" sz="4000" dirty="0"/>
          </a:p>
        </p:txBody>
      </p:sp>
      <p:sp>
        <p:nvSpPr>
          <p:cNvPr id="6" name="Text 3"/>
          <p:cNvSpPr txBox="1"/>
          <p:nvPr/>
        </p:nvSpPr>
        <p:spPr>
          <a:xfrm>
            <a:off x="5943600" y="2423160"/>
            <a:ext cx="2560320" cy="457200"/>
          </a:xfrm>
          <a:prstGeom prst="rect">
            <a:avLst/>
          </a:prstGeom>
          <a:noFill/>
          <a:ln/>
        </p:spPr>
        <p:txBody>
          <a:bodyPr wrap="square" lIns="0" tIns="0" rIns="0" bIns="0" rtlCol="0" anchor="t"/>
          <a:lstStyle/>
          <a:p>
            <a:pPr indent="0" marL="0">
              <a:buNone/>
            </a:pPr>
            <a:r>
              <a:rPr lang="en-US" sz="1400" dirty="0">
                <a:solidFill>
                  <a:schemeClr val="accent5"/>
                </a:solidFill>
              </a:rPr>
              <a:t>Mean athlete age (years)</a:t>
            </a:r>
            <a:endParaRPr lang="en-US" sz="1400" dirty="0"/>
          </a:p>
        </p:txBody>
      </p:sp>
      <p:sp>
        <p:nvSpPr>
          <p:cNvPr id="7" name="Text 4"/>
          <p:cNvSpPr txBox="1"/>
          <p:nvPr/>
        </p:nvSpPr>
        <p:spPr>
          <a:xfrm>
            <a:off x="8778240" y="1645920"/>
            <a:ext cx="2651760" cy="731520"/>
          </a:xfrm>
          <a:prstGeom prst="rect">
            <a:avLst/>
          </a:prstGeom>
          <a:noFill/>
          <a:ln/>
        </p:spPr>
        <p:txBody>
          <a:bodyPr wrap="square" lIns="0" tIns="0" rIns="0" bIns="0" rtlCol="0" anchor="t"/>
          <a:lstStyle/>
          <a:p>
            <a:pPr indent="0" marL="0">
              <a:buNone/>
            </a:pPr>
            <a:r>
              <a:rPr lang="en-US" sz="4000" b="1" dirty="0">
                <a:solidFill>
                  <a:srgbClr val="E36C37"/>
                </a:solidFill>
                <a:latin typeface="Cambria" pitchFamily="34" charset="0"/>
                <a:ea typeface="Cambria" pitchFamily="34" charset="-122"/>
                <a:cs typeface="Cambria" pitchFamily="34" charset="-120"/>
              </a:rPr>
              <a:t>18-24</a:t>
            </a:r>
            <a:endParaRPr lang="en-US" sz="4000" dirty="0"/>
          </a:p>
        </p:txBody>
      </p:sp>
      <p:sp>
        <p:nvSpPr>
          <p:cNvPr id="8" name="Text 5"/>
          <p:cNvSpPr txBox="1"/>
          <p:nvPr/>
        </p:nvSpPr>
        <p:spPr>
          <a:xfrm>
            <a:off x="8778240" y="2423160"/>
            <a:ext cx="2651760" cy="457200"/>
          </a:xfrm>
          <a:prstGeom prst="rect">
            <a:avLst/>
          </a:prstGeom>
          <a:noFill/>
          <a:ln/>
        </p:spPr>
        <p:txBody>
          <a:bodyPr wrap="square" lIns="0" tIns="0" rIns="0" bIns="0" rtlCol="0" anchor="t"/>
          <a:lstStyle/>
          <a:p>
            <a:pPr indent="0" marL="0">
              <a:buNone/>
            </a:pPr>
            <a:r>
              <a:rPr lang="en-US" sz="1400" dirty="0">
                <a:solidFill>
                  <a:schemeClr val="accent5"/>
                </a:solidFill>
              </a:rPr>
              <a:t>Largest age group (~80K)</a:t>
            </a:r>
            <a:endParaRPr lang="en-US" sz="1400" dirty="0"/>
          </a:p>
        </p:txBody>
      </p:sp>
      <p:sp>
        <p:nvSpPr>
          <p:cNvPr id="9" name="Text 6"/>
          <p:cNvSpPr txBox="1"/>
          <p:nvPr/>
        </p:nvSpPr>
        <p:spPr>
          <a:xfrm>
            <a:off x="5943600" y="3291840"/>
            <a:ext cx="5394960" cy="2103120"/>
          </a:xfrm>
          <a:prstGeom prst="rect">
            <a:avLst/>
          </a:prstGeom>
          <a:noFill/>
          <a:ln/>
        </p:spPr>
        <p:txBody>
          <a:bodyPr wrap="square" lIns="0" tIns="0" rIns="0" bIns="0" rtlCol="0" anchor="t"/>
          <a:lstStyle/>
          <a:p>
            <a:pPr indent="0" marL="0">
              <a:buNone/>
            </a:pPr>
            <a:r>
              <a:rPr lang="en-US" sz="1600" dirty="0">
                <a:solidFill>
                  <a:schemeClr val="accent5"/>
                </a:solidFill>
              </a:rPr>
              <a:t>The 25-30 group follows with about 65K. Under-18 and over-40 athletes are niche cohorts. Female participation grew from under 15% in early Games to over 45% in recent Summer Games.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Pillar IV: Geopolitical dominance and medals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315200" cy="914400"/>
        </p:xfrm>
        <a:graphic>
          <a:graphicData uri="http://schemas.openxmlformats.org/drawingml/2006/table">
            <a:tbl>
              <a:tblPr/>
              <a:tblGrid>
                <a:gridCol w="2194560"/>
                <a:gridCol w="1371600"/>
                <a:gridCol w="1097280"/>
                <a:gridCol w="1554480"/>
                <a:gridCol w="1097280"/>
              </a:tblGrid>
              <a:tr h="548640">
                <a:tc>
                  <a:txBody>
                    <a:bodyPr/>
                    <a:lstStyle/>
                    <a:p>
                      <a:pPr indent="0" marL="0">
                        <a:buNone/>
                      </a:pPr>
                      <a:r>
                        <a:rPr lang="en-US" sz="1400" b="1" dirty="0">
                          <a:solidFill>
                            <a:srgbClr val="FFFFFF"/>
                          </a:solidFill>
                        </a:rPr>
                        <a:t>NOC</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0A1B3F"/>
                    </a:solidFill>
                  </a:tcPr>
                </a:tc>
                <a:tc>
                  <a:txBody>
                    <a:bodyPr/>
                    <a:lstStyle/>
                    <a:p>
                      <a:pPr indent="0" marL="0">
                        <a:buNone/>
                      </a:pPr>
                      <a:r>
                        <a:rPr lang="en-US" sz="1400" b="1" dirty="0">
                          <a:solidFill>
                            <a:srgbClr val="FFFFFF"/>
                          </a:solidFill>
                        </a:rPr>
                        <a:t>Participants</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0A1B3F"/>
                    </a:solidFill>
                  </a:tcPr>
                </a:tc>
                <a:tc>
                  <a:txBody>
                    <a:bodyPr/>
                    <a:lstStyle/>
                    <a:p>
                      <a:pPr indent="0" marL="0">
                        <a:buNone/>
                      </a:pPr>
                      <a:r>
                        <a:rPr lang="en-US" sz="1400" b="1" dirty="0">
                          <a:solidFill>
                            <a:srgbClr val="FFFFFF"/>
                          </a:solidFill>
                        </a:rPr>
                        <a:t>Gold</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0A1B3F"/>
                    </a:solidFill>
                  </a:tcPr>
                </a:tc>
                <a:tc>
                  <a:txBody>
                    <a:bodyPr/>
                    <a:lstStyle/>
                    <a:p>
                      <a:pPr indent="0" marL="0">
                        <a:buNone/>
                      </a:pPr>
                      <a:r>
                        <a:rPr lang="en-US" sz="1400" b="1" dirty="0">
                          <a:solidFill>
                            <a:srgbClr val="FFFFFF"/>
                          </a:solidFill>
                        </a:rPr>
                        <a:t>Total medals</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0A1B3F"/>
                    </a:solidFill>
                  </a:tcPr>
                </a:tc>
                <a:tc>
                  <a:txBody>
                    <a:bodyPr/>
                    <a:lstStyle/>
                    <a:p>
                      <a:pPr indent="0" marL="0">
                        <a:buNone/>
                      </a:pPr>
                      <a:r>
                        <a:rPr lang="en-US" sz="1400" b="1" dirty="0">
                          <a:solidFill>
                            <a:srgbClr val="FFFFFF"/>
                          </a:solidFill>
                        </a:rPr>
                        <a:t>Conversion</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0A1B3F"/>
                    </a:solidFill>
                  </a:tcPr>
                </a:tc>
              </a:tr>
              <a:tr h="548640">
                <a:tc>
                  <a:txBody>
                    <a:bodyPr/>
                    <a:lstStyle/>
                    <a:p>
                      <a:pPr indent="0" marL="0">
                        <a:buNone/>
                      </a:pPr>
                      <a:r>
                        <a:rPr lang="en-US" sz="1400" dirty="0">
                          <a:solidFill>
                            <a:srgbClr val="0A1B3F"/>
                          </a:solidFill>
                        </a:rPr>
                        <a:t>United States</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9,225</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2,533</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5,414</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58.7%</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A1B3F"/>
                          </a:solidFill>
                        </a:rPr>
                        <a:t>Soviet Union</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~4,800</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1,135</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2,658</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55.3%</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A1B3F"/>
                          </a:solidFill>
                        </a:rPr>
                        <a:t>Germany</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4,763</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843</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2,395</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50.2%</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A1B3F"/>
                          </a:solidFill>
                        </a:rPr>
                        <a:t>Great Britain</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5,783</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658</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1,971</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34.1%</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r>
              <a:tr h="548640">
                <a:tc>
                  <a:txBody>
                    <a:bodyPr/>
                    <a:lstStyle/>
                    <a:p>
                      <a:pPr indent="0" marL="0">
                        <a:buNone/>
                      </a:pPr>
                      <a:r>
                        <a:rPr lang="en-US" sz="1400" dirty="0">
                          <a:solidFill>
                            <a:srgbClr val="0A1B3F"/>
                          </a:solidFill>
                        </a:rPr>
                        <a:t>France</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5,198</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492</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1,686</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c>
                  <a:txBody>
                    <a:bodyPr/>
                    <a:lstStyle/>
                    <a:p>
                      <a:pPr indent="0" marL="0">
                        <a:buNone/>
                      </a:pPr>
                      <a:r>
                        <a:rPr lang="en-US" sz="1400" dirty="0">
                          <a:solidFill>
                            <a:srgbClr val="0A1B3F"/>
                          </a:solidFill>
                        </a:rPr>
                        <a:t>32.4%</a:t>
                      </a:r>
                      <a:endParaRPr lang="en-US" sz="1400" dirty="0"/>
                    </a:p>
                  </a:txBody>
                  <a:tcPr marL="91440" marR="91440" marT="45720" marB="45720" anchor="ctr">
                    <a:lnL w="6350" cap="flat" cmpd="sng" algn="ctr">
                      <a:solidFill>
                        <a:srgbClr val="DDE5F0"/>
                      </a:solidFill>
                      <a:prstDash val="solid"/>
                      <a:round/>
                      <a:headEnd type="none" w="med" len="med"/>
                      <a:tailEnd type="none" w="med" len="med"/>
                    </a:lnL>
                    <a:lnR w="6350" cap="flat" cmpd="sng" algn="ctr">
                      <a:solidFill>
                        <a:srgbClr val="DDE5F0"/>
                      </a:solidFill>
                      <a:prstDash val="solid"/>
                      <a:round/>
                      <a:headEnd type="none" w="med" len="med"/>
                      <a:tailEnd type="none" w="med" len="med"/>
                    </a:lnR>
                    <a:lnT w="6350" cap="flat" cmpd="sng" algn="ctr">
                      <a:solidFill>
                        <a:srgbClr val="DDE5F0"/>
                      </a:solidFill>
                      <a:prstDash val="solid"/>
                      <a:round/>
                      <a:headEnd type="none" w="med" len="med"/>
                      <a:tailEnd type="none" w="med" len="med"/>
                    </a:lnT>
                    <a:lnB w="6350" cap="flat" cmpd="sng" algn="ctr">
                      <a:solidFill>
                        <a:srgbClr val="DDE5F0"/>
                      </a:solidFill>
                      <a:prstDash val="solid"/>
                      <a:round/>
                      <a:headEnd type="none" w="med" len="med"/>
                      <a:tailEnd type="none" w="med" len="med"/>
                    </a:lnB>
                    <a:solidFill>
                      <a:srgbClr val="FFFFFF"/>
                    </a:solidFill>
                  </a:tcPr>
                </a:tc>
              </a:tr>
            </a:tbl>
          </a:graphicData>
        </a:graphic>
      </p:graphicFrame>
      <p:sp>
        <p:nvSpPr>
          <p:cNvPr id="4" name="card"/>
          <p:cNvSpPr/>
          <p:nvPr/>
        </p:nvSpPr>
        <p:spPr>
          <a:xfrm>
            <a:off x="8229600" y="1463040"/>
            <a:ext cx="3383280" cy="3291840"/>
          </a:xfrm>
          <a:prstGeom prst="roundRect">
            <a:avLst>
              <a:gd name="adj" fmla="val 3333"/>
            </a:avLst>
          </a:prstGeom>
          <a:solidFill>
            <a:schemeClr val="bg2"/>
          </a:solidFill>
          <a:ln w="12700">
            <a:solidFill>
              <a:schemeClr val="bg2"/>
            </a:solidFill>
            <a:prstDash val="solid"/>
          </a:ln>
        </p:spPr>
      </p:sp>
      <p:sp>
        <p:nvSpPr>
          <p:cNvPr id="5" name="Text 2"/>
          <p:cNvSpPr txBox="1"/>
          <p:nvPr/>
        </p:nvSpPr>
        <p:spPr>
          <a:xfrm>
            <a:off x="8503920" y="1737360"/>
            <a:ext cx="292608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39K</a:t>
            </a:r>
            <a:endParaRPr lang="en-US" sz="4000" dirty="0"/>
          </a:p>
        </p:txBody>
      </p:sp>
      <p:sp>
        <p:nvSpPr>
          <p:cNvPr id="6" name="Text 3"/>
          <p:cNvSpPr txBox="1"/>
          <p:nvPr/>
        </p:nvSpPr>
        <p:spPr>
          <a:xfrm>
            <a:off x="8503920" y="2514600"/>
            <a:ext cx="2926080" cy="457200"/>
          </a:xfrm>
          <a:prstGeom prst="rect">
            <a:avLst/>
          </a:prstGeom>
          <a:noFill/>
          <a:ln/>
        </p:spPr>
        <p:txBody>
          <a:bodyPr wrap="square" lIns="0" tIns="0" rIns="0" bIns="0" rtlCol="0" anchor="t"/>
          <a:lstStyle/>
          <a:p>
            <a:pPr indent="0" marL="0">
              <a:buNone/>
            </a:pPr>
            <a:r>
              <a:rPr lang="en-US" sz="1400" dirty="0">
                <a:solidFill>
                  <a:schemeClr val="accent5"/>
                </a:solidFill>
              </a:rPr>
              <a:t>Medals: 13K each of Gold, Silver, Bronze</a:t>
            </a:r>
            <a:endParaRPr lang="en-US" sz="1400" dirty="0"/>
          </a:p>
        </p:txBody>
      </p:sp>
      <p:sp>
        <p:nvSpPr>
          <p:cNvPr id="7" name="Text 4"/>
          <p:cNvSpPr txBox="1"/>
          <p:nvPr/>
        </p:nvSpPr>
        <p:spPr>
          <a:xfrm>
            <a:off x="8503920" y="3383280"/>
            <a:ext cx="2926080" cy="731520"/>
          </a:xfrm>
          <a:prstGeom prst="rect">
            <a:avLst/>
          </a:prstGeom>
          <a:noFill/>
          <a:ln/>
        </p:spPr>
        <p:txBody>
          <a:bodyPr wrap="square" lIns="0" tIns="0" rIns="0" bIns="0" rtlCol="0" anchor="t"/>
          <a:lstStyle/>
          <a:p>
            <a:pPr indent="0" marL="0">
              <a:buNone/>
            </a:pPr>
            <a:r>
              <a:rPr lang="en-US" sz="4000" b="1" dirty="0">
                <a:solidFill>
                  <a:srgbClr val="E36C37"/>
                </a:solidFill>
                <a:latin typeface="Cambria" pitchFamily="34" charset="0"/>
                <a:ea typeface="Cambria" pitchFamily="34" charset="-122"/>
                <a:cs typeface="Cambria" pitchFamily="34" charset="-120"/>
              </a:rPr>
              <a:t>11 → 215</a:t>
            </a:r>
            <a:endParaRPr lang="en-US" sz="4000" dirty="0"/>
          </a:p>
        </p:txBody>
      </p:sp>
      <p:sp>
        <p:nvSpPr>
          <p:cNvPr id="8" name="Text 5"/>
          <p:cNvSpPr txBox="1"/>
          <p:nvPr/>
        </p:nvSpPr>
        <p:spPr>
          <a:xfrm>
            <a:off x="8503920" y="4160520"/>
            <a:ext cx="2926080" cy="457200"/>
          </a:xfrm>
          <a:prstGeom prst="rect">
            <a:avLst/>
          </a:prstGeom>
          <a:noFill/>
          <a:ln/>
        </p:spPr>
        <p:txBody>
          <a:bodyPr wrap="square" lIns="0" tIns="0" rIns="0" bIns="0" rtlCol="0" anchor="t"/>
          <a:lstStyle/>
          <a:p>
            <a:pPr indent="0" marL="0">
              <a:buNone/>
            </a:pPr>
            <a:r>
              <a:rPr lang="en-US" sz="1400" dirty="0">
                <a:solidFill>
                  <a:schemeClr val="accent5"/>
                </a:solidFill>
              </a:rPr>
              <a:t>NOCs per Games, 1896 to peak</a:t>
            </a:r>
            <a:endParaRPr lang="en-US" sz="1400" dirty="0"/>
          </a:p>
        </p:txBody>
      </p:sp>
      <p:sp>
        <p:nvSpPr>
          <p:cNvPr id="9" name="Text 6"/>
          <p:cNvSpPr txBox="1"/>
          <p:nvPr/>
        </p:nvSpPr>
        <p:spPr>
          <a:xfrm>
            <a:off x="548640" y="5120640"/>
            <a:ext cx="11064240" cy="548640"/>
          </a:xfrm>
          <a:prstGeom prst="rect">
            <a:avLst/>
          </a:prstGeom>
          <a:noFill/>
          <a:ln/>
        </p:spPr>
        <p:txBody>
          <a:bodyPr wrap="square" lIns="0" tIns="0" rIns="0" bIns="0" rtlCol="0" anchor="t"/>
          <a:lstStyle/>
          <a:p>
            <a:pPr indent="0" marL="0">
              <a:buNone/>
            </a:pPr>
            <a:r>
              <a:rPr lang="en-US" sz="1500" dirty="0">
                <a:solidFill>
                  <a:schemeClr val="accent5"/>
                </a:solidFill>
              </a:rPr>
              <a:t>Medal conversion = total medals as a share of participants. The USA leads on both volume and efficiency.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ph idx="100" type="title" hasCustomPrompt="1"/>
          </p:nvPr>
        </p:nvSpPr>
        <p:spPr>
          <a:xfrm>
            <a:off x="731520" y="2011680"/>
            <a:ext cx="10515600" cy="1371600"/>
          </a:xfrm>
          <a:prstGeom prst="rect">
            <a:avLst/>
          </a:prstGeom>
          <a:noFill/>
          <a:ln/>
        </p:spPr>
        <p:txBody>
          <a:bodyPr wrap="square" lIns="0" tIns="0" rIns="0" bIns="0" rtlCol="0" anchor="ctr"/>
          <a:lstStyle/>
          <a:p>
            <a:pPr indent="0" marL="0">
              <a:buNone/>
            </a:pPr>
            <a:r>
              <a:rPr lang="en-US" sz="4400" b="1" dirty="0">
                <a:solidFill>
                  <a:schemeClr val="bg1"/>
                </a:solidFill>
              </a:rPr>
              <a:t>SQL EDA: 18 questions, queries and takeaways</a:t>
            </a:r>
            <a:endParaRPr lang="en-US" sz="4400" dirty="0"/>
          </a:p>
        </p:txBody>
      </p:sp>
      <p:sp>
        <p:nvSpPr>
          <p:cNvPr id="3" name="Text 1"/>
          <p:cNvSpPr txBox="1"/>
          <p:nvPr/>
        </p:nvSpPr>
        <p:spPr>
          <a:xfrm>
            <a:off x="731520" y="3474720"/>
            <a:ext cx="10515600" cy="457200"/>
          </a:xfrm>
          <a:prstGeom prst="rect">
            <a:avLst/>
          </a:prstGeom>
          <a:noFill/>
          <a:ln/>
        </p:spPr>
        <p:txBody>
          <a:bodyPr wrap="square" lIns="0" tIns="0" rIns="0" bIns="0" rtlCol="0" anchor="t"/>
          <a:lstStyle/>
          <a:p>
            <a:pPr indent="0" marL="0">
              <a:buNone/>
            </a:pPr>
            <a:r>
              <a:rPr lang="en-US" sz="2000" dirty="0">
                <a:solidFill>
                  <a:srgbClr val="CADCFC"/>
                </a:solidFill>
              </a:rPr>
              <a:t>Each slide shows the question, the SQL query from the Excel workbook and the key takeaway.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 Hosting frequency by season</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trends or patterns in the frequency of hosting Olympic Games?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season,     COUNT(DISTINCT id) AS games_count,     MIN(games_year) AS start_year,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MAX(games_year) AS latest_year FROM</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games GROUP BY season; </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Summer Olympic editions exceed Winter editions by 7 games (29 vs 22) because the Summer Games were established 28 years earlier (1896 vs 1924). Until 1992, both seasons occurred concurrently every 4 years; post-1992, the International Olympic Committee (IOC) transitioned to an alternating 2-year staggered schedule.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Q2: Games growth and duration</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How has the duration of Olympic Games changed over time?</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g.games_year,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g.season,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ce.event_id) AS total_events,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gc.person_id) AS total_athletes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g.games_year, g.season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g.games_year;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MECE Breakdown: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Mutually Exclusive: Categorizes event expansion (disciplines) and athlete participation (demographics) as distinct metrics across time.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Collectively Exhaustive: Tracks 100% of Olympic editions from 1896 to 2016 to capture the full evolutionary timeline.</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Both event counts and athlete participation have grown exponentially over time (from 72 athletes in 1896 to over 10,000 in recent Summer Games). While early Olympic Games spanned several months, modern editions have standardized to a compressed ~16-day schedule with significantly higher athlete density.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Q3: Notable events and anomalies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notable events or occurrences associated with specific Olympic Games?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g.games_year,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g.season,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g.games_name,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COUNT(DISTINCT pr.region_id) AS participating_countries,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COUNT(DISTINCT gc.person_id) AS total_athletes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g.games_year, g.season, g.games_name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participating_countries ASC;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MECE Breakdown: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Mutually Exclusive: Separates major geopolitical disruptions (1980 Moscow boycott, 1984 Los Angeles counter-boycott) from general participation growth across Olympic editions.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Collectively Exhaustive: Captures 100% of historical Olympic host editions to evaluate national representation completeness.</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Significant dips in participating country counts highlight major political and historical anomalies—most notably the 1980 Moscow Games boycott (where country participation dropped significantly) and the 1984 Los Angeles counter-boycott.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Q4: Emerging sports since 2000</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emerging sports that have been recently added to the Olympics?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MIN(g.games_year) AS first_appearance_year,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MAX(g.games_year) AS last_appearance_year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MIN(g.games_year) &gt;= 2000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first_appearance_year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Recent Olympic Games have actively expanded their athletic program by introducing high-engagement, modern disciplines—such as Taekwondo, Triathlon, and Rugby Sevens—to engage broader global audiences and adapt to contemporary sporting trends.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Q5: Sport popularity over time</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How has the popularity of certain sports changed over the years?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g.games_year,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gc.person_id) AS athlete_count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s.sport_name IN ('Athletics', 'Gymnastics', 'Swimming', 'Cycling', 'Football')</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g.games_year,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g.games_year,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MECE Breakdown: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Mutually Exclusive: Categorizes participation counts into non-overlapping core sports (Athletics, Cycling, Football, Gymnastics, Swimming) for each Olympic year.   Collectively Exhaustive: Accounts for 100% of distinct participating athletes within these selected sports across all historical Games from 1896 to 2016</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Track and field (Athletics) and Swimming have demonstrated continuous exponential growth in athlete participation over the decades, reflecting expanding global representation and the addition of modern sub-events.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Q6: Region-specific sports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sports that are specific to a particular region or culture?</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COUNT(m.id) &gt; 10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s.sport_name, total_medals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Specific Olympic sports demonstrate strong regional and cultural specialization, with North American nations like Canada (358 medals) and the USA (396 medals), as well as European nations like Sweden (233 medals) and Austria (114 medals), capturing disproportionate shares of medals in specialized disciplines due to infrastructure, climate, and historical participation advantages.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Q7: Gender imbalance in events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sports that have a higher number of events for one gender compared to others?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'%Men%' AND e.event_name NOT LIKE '%Women%' THEN e.id END) AS male_events,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'%Women%' THEN e.id END) AS female_events,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'%Mixed%' THEN e.id END) AS mixed_events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ABS(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'%Men%' AND e.event_name NOT LIKE '%Women%' THEN e.id END) -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'%Women%' THEN e.id END)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&gt; 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ABS(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'%Men%' AND e.event_name NOT LIKE '%Women%' THEN e.id END) -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e.event_name LIKE '%Women%' THEN e.id END)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Historical and combat-oriented disciplines display substantial gender imbalances—most notably Athletics (56 male vs. 26 female events) and Shooting (62 male vs. 29 female events)—reflecting historical inclusion timelines, whereas sports like Sailing feature distinct mixed-gender event representations.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Q8: New events in recent editions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new events that have been introduced in recent editions of the Olympics?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MIN(g.games_year) AS introduction_year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event 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 e.event_name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MIN(g.games_year) &gt;= 2012</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introduction_year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Recent Olympic Games show steady modernization and expansion, highlighted by notable debuts across major disciplines in 2012 (Boxing, Canoeing, Cycling), new action sports additions in 2014 (Freestyle Skiing, Luge, Figure Skating), and the introduction of new team formats like Rugby Sevens in 2016</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Q9: Discontinued events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MECE Breakdown: Mutually Exclusive: Categorizes individual discontinued sub-events into non-overlapping parent sports (sport_name) based on their final Olympic appearance (last_appeared &lt; 2004). Collectively Exhaustive: Evaluates 100% of historical Olympic sub-events that have been removed or restructured in modern Olympic programs.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Are there any events that have been discontinued or removed from the Olympics?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SELECT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MIN(g.games_year) AS first_appeared,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MAX(g.games_year) AS last_appeared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FROM event 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 e.event_name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MAX(g.games_year) &lt; 2004</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last_appeared DESC, s.sport_name;</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Discontinued events are concentrated in sports undergoing major discipline restructurings—such as Snowboarding, Art Competitions, and Synchronized Swimming—reflecting the IOC’s continuous effort to phase out outdated sub-events, adjust distance/weight classes, and modernize the global Olympic program.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Q10: Height and weight trends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notable trends in the height and weight of participants over time?</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g.games_year,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p.gender,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ROUND(AVG(p.height), 2) AS avg_height,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ROUND(AVG(p.weight), 2) AS avg_weight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p.height IS NOT NULL AND p.weight IS NOT NULL</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g.games_year, p.gender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g.games_year ASC, p.gender ASC;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Over the modern Olympic era (1960–2016), overall participant physical metrics demonstrate a steady, plateauing upward trend—with average height hovering around 170–175 cm and average weight around 65–70 kg—reflecting broader advances in global athletic nutrition, sports science, and targeted athlete selection.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Q11: Dominant regions by sport</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dominant countries or regions in specific sports or events?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sport 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event e ON s.id = e.sport_id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COUNT(m.id) &gt;= 50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total_medals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Regional dominance in the Olympics is heavily concentrated among major sporting powerhouses—most notably led by the USA (dominating Swimming and Athletics with over 1,000 medals each), alongside strong specialization in Italy (Fencing), Canada (Ice Hockey), and Australia (Swimming).</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Q12: Success factors by country</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MECE Breakdown:Mutually Exclusive: Categorizes total participant volume (total_athletes) and medal tallies (total_medals) into non-overlapping national/regional entities (region_name). Collectively Exhaustive: Evaluates 100% of major Olympic participating regions meeting the minimum threshold (&gt; 100 distinct athletes) to assess performance efficiency.</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p.id) AS total_athletes,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ROUND((COUNT(m.id)::DECIMAL / NULLIF(COUNT(DISTINCT p.id), 0)) * 100, 2) AS medal_conversion_pct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p.id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LEFT JOIN competitor_event ce ON gc.id = ce.competitor_id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LEFT JOIN medal m ON ce.medal_id = m.id AND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COUNT(DISTINCT p.id) &gt;= 100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total_medals DESC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LIMIT 15;</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What factors contribute to the success or performance of participants from different countries?</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Primary success factors include delegation size, sports infrastructure, and conversion efficiency—nations like the USA (9,225 athletes, 5,414 medals) and Soviet Union (2,856 athletes, 2,658 medals with a 93%+ conversion rate) demonstrate that sending larger delegations combined with targeted high-performance funding yields the highest medal returns.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Q13: Consistent performers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countries that consistently perform well in multiple Olympic editions?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g.games_year) AS editions_with_medals,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person p</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p.id = gc.person_id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p.id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COUNT(DISTINCT g.games_year) &gt;= 15</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editions_with_medals DESC, total_medals DESC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LIMIT 10;</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Historic powerhouses—led by the USA (35 editions, 5,414 medals), UK (35 editions, 1,971 medals), Australia (35 editions), France (34 editions), and Canada (34 editions)—demonstrate exceptional multi-generational stability by securing medals across nearly every modern Olympic Games edition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Q14: Medalist concentration</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MECE Breakdown:Mutually Exclusive: Categorizes aggregate medalist counts (Sum of total_medalists) into non-overlapping geographic regions (region_name) mapped to specific high-dominance Olympic events. Collectively Exhaustive: Evaluates 100% of historical event-region combinations meeting the concentration threshold (&gt; 20 medalists) across all Olympic editions to measure event specialization.</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Are there any sports or events that have a higher number of medalists from a specific region?</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s.sport_name,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e.event_name,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total_medalists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event 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sport s ON e.sport_id = s.id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e.id = ce.event_id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ce.competitor_id = gc.id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s.sport_name, e.event_name,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COUNT(m.id) &gt;= 20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total_medalists DESC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LIMIT 15;</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High concentrations of medalists occur in heavily specialized team and individual disciplines—led by the USA (645 medalists across dominant team events), Netherlands (255 medalists in speed skating/cycling), Canada (246 in ice hockey), and India (163 in field hockey)—demonstrating how targeted national sports programs create sustained event monopolies.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Q15: Surprising medal wins</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SELECT p.full_name, nr.region_name, s.sport_name, e.event_name, g.games_year, m.medal_nameFROM person p JOIN games_competitor gc ON p.id = gc.person_id JOIN person_region pr ON p.id = pr.person_id JOIN noc_region nr ON pr.region_id = nr.id JOIN competitor_event ce ON gc.id = ce.competitor_id JOIN event e ON ce.event_id = e.id JOIN sport s ON e.sport_id = s.id JOIN games g ON gc.games_id = g.id JOIN medal m ON ce.medal_id = m.id WHERE m.medal_name = 'Gold' AND nr.region_name NOT IN ('USA', 'Russia', 'Germany', 'China', 'UK', 'France', 'Australia', 'Italy') ORDER BY g.games_year DESC;</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Surprising and non-powerhouse Olympic medal successes are heavily driven by specialized athletic focus—demonstrated by high medal counts in nations like Sweden (473 medals), Canada (459 medals), Hungary (424 medals), and South Korea (224 medals), alongside individual breakthrough gold medal performances from smaller delegations in targeted disciplines like Wrestling, Weightlifting, and Football.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Q16: Participation growth and decline</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regions that have experienced significant growth or decline in Olympic participation?</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g.games_year &lt;= 1960 THEN gc.person_id END) AS early_period_athletes,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g.games_year &gt;= 2000 THEN gc.person_id END) AS modern_period_athletes,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g.games_year &gt;= 2000 THEN gc.person_id END) -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COUNT(DISTINCT CASE WHEN g.games_year &lt;= 1960 THEN gc.person_id END)) AS participation_growth</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noc_region nr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nr.id = pr.region_id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pr.person_id = gc.person_id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 g ON gc.games_id = g.id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COUNT(DISTINCT CASE WHEN g.games_year &lt;= 1960 THEN gc.person_id END) &gt; 0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OR COUNT(DISTINCT CASE WHEN g.games_year &gt;= 2000 THEN gc.person_id END) &gt; 50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participation_growth DESC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LIMIT 15;</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Modern Olympic participation has expanded dramatically due to global sports development and post-1990 geopolitical reconfigurations—led by major delegation growth in Russia (+1,789), China (+1,650), Australia (+1,164), and South Korea (+995).</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Q17: Geography and climate</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How do cultural or geographical factors influence the performance of regions in specific sports?</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g.season,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COUNT(m.id)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games g</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g.id = gc.games_id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gc.person_id = pr.person_id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noc_region nr ON pr.region_id = nr.id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WHERE m.medal_name IN ('Gold', 'Silver', 'Bronze')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g.season,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COUNT(m.id) &gt;= 10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g.season, total_medals DESC;</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Geographical and climatic conditions heavily dictate regional success—cold-climate alpine nations (Norway, Austria, Canada, Switzerland) dominate Winter Games due to natural environmental infrastructure, while warmer, high-population regions excel predominantly in Summer Games disciplines.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EDA Q18: Regional impact on medal tally</a:t>
            </a:r>
            <a:endParaRPr lang="en-US" sz="3000" dirty="0"/>
          </a:p>
        </p:txBody>
      </p:sp>
      <p:sp>
        <p:nvSpPr>
          <p:cNvPr id="3" name="Text 1"/>
          <p:cNvSpPr txBox="1"/>
          <p:nvPr/>
        </p:nvSpPr>
        <p:spPr>
          <a:xfrm>
            <a:off x="548640" y="1097280"/>
            <a:ext cx="11064240" cy="548640"/>
          </a:xfrm>
          <a:prstGeom prst="rect">
            <a:avLst/>
          </a:prstGeom>
          <a:noFill/>
          <a:ln/>
        </p:spPr>
        <p:txBody>
          <a:bodyPr wrap="square" lIns="0" tIns="0" rIns="0" bIns="0" rtlCol="0" anchor="t"/>
          <a:lstStyle/>
          <a:p>
            <a:pPr indent="0" marL="0">
              <a:buNone/>
            </a:pPr>
            <a:r>
              <a:rPr lang="en-US" sz="1600" i="1" dirty="0">
                <a:solidFill>
                  <a:schemeClr val="accent5"/>
                </a:solidFill>
              </a:rPr>
              <a:t>Are there any regions that have had a notable impact on the overall medal tally?</a:t>
            </a:r>
            <a:endParaRPr lang="en-US" sz="1600" dirty="0"/>
          </a:p>
        </p:txBody>
      </p:sp>
      <p:sp>
        <p:nvSpPr>
          <p:cNvPr id="4" name="card"/>
          <p:cNvSpPr/>
          <p:nvPr/>
        </p:nvSpPr>
        <p:spPr>
          <a:xfrm>
            <a:off x="548640" y="1828800"/>
            <a:ext cx="6949440" cy="4343400"/>
          </a:xfrm>
          <a:prstGeom prst="roundRect">
            <a:avLst>
              <a:gd name="adj" fmla="val 2526"/>
            </a:avLst>
          </a:prstGeom>
          <a:solidFill>
            <a:srgbClr val="0A1B3F"/>
          </a:solidFill>
          <a:ln w="12700">
            <a:solidFill>
              <a:srgbClr val="0A1B3F"/>
            </a:solidFill>
            <a:prstDash val="solid"/>
          </a:ln>
        </p:spPr>
      </p:sp>
      <p:sp>
        <p:nvSpPr>
          <p:cNvPr id="5" name="Text 3"/>
          <p:cNvSpPr txBox="1"/>
          <p:nvPr/>
        </p:nvSpPr>
        <p:spPr>
          <a:xfrm>
            <a:off x="777240" y="2011680"/>
            <a:ext cx="6492240" cy="4023360"/>
          </a:xfrm>
          <a:prstGeom prst="rect">
            <a:avLst/>
          </a:prstGeom>
          <a:noFill/>
          <a:ln/>
        </p:spPr>
        <p:txBody>
          <a:bodyPr wrap="square" lIns="0" tIns="0" rIns="0" bIns="0" rtlCol="0" anchor="t"/>
          <a:lstStyle/>
          <a:p>
            <a:pPr indent="0" marL="0">
              <a:buNone/>
            </a:pPr>
            <a:r>
              <a:rPr lang="en-US" sz="1000" dirty="0">
                <a:solidFill>
                  <a:schemeClr val="bg2"/>
                </a:solidFill>
                <a:latin typeface="Courier New" pitchFamily="34" charset="0"/>
                <a:ea typeface="Courier New" pitchFamily="34" charset="-122"/>
                <a:cs typeface="Courier New" pitchFamily="34" charset="-120"/>
              </a:rPr>
              <a:t>SELECT </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COUNT(CASE WHEN m.medal_name = 'Gold' THEN 1 END) AS gold_count,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COUNT(CASE WHEN m.medal_name = 'Silver' THEN 1 END) AS silver_count,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COUNT(CASE WHEN m.medal_name = 'Bronze' THEN 1 END) AS bronze_count,</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COUNT(CASE WHEN m.medal_name IN ('Gold', 'Silver', 'Bronze') THEN 1 END) AS total_medals,</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    DENSE_RANK() OVER (ORDER BY COUNT(CASE WHEN m.medal_name = 'Gold' THEN 1 END) DESC) AS gold_rank</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FROM noc_region nr</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person_region pr ON nr.id = pr.region_id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games_competitor gc ON pr.person_id = gc.person_id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competitor_event ce ON gc.id = ce.competitor_id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JOIN medal m ON ce.medal_id = m.id</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GROUP BY nr.region_name</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HAVING COUNT(CASE WHEN m.medal_name IN ('Gold', 'Silver', 'Bronze') THEN 1 END) &gt; 0</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ORDER BY total_medals DESC</a:t>
            </a:r>
            <a:endParaRPr lang="en-US" sz="1000" dirty="0"/>
          </a:p>
          <a:p>
            <a:pPr indent="0" marL="0">
              <a:buNone/>
            </a:pPr>
            <a:r>
              <a:rPr lang="en-US" sz="1000" dirty="0">
                <a:solidFill>
                  <a:schemeClr val="bg2"/>
                </a:solidFill>
                <a:latin typeface="Courier New" pitchFamily="34" charset="0"/>
                <a:ea typeface="Courier New" pitchFamily="34" charset="-122"/>
                <a:cs typeface="Courier New" pitchFamily="34" charset="-120"/>
              </a:rPr>
              <a:t>LIMIT 10;</a:t>
            </a:r>
            <a:endParaRPr lang="en-US" sz="1000" dirty="0"/>
          </a:p>
        </p:txBody>
      </p:sp>
      <p:sp>
        <p:nvSpPr>
          <p:cNvPr id="6" name="card"/>
          <p:cNvSpPr/>
          <p:nvPr/>
        </p:nvSpPr>
        <p:spPr>
          <a:xfrm>
            <a:off x="7772400" y="1828800"/>
            <a:ext cx="3867912" cy="4343400"/>
          </a:xfrm>
          <a:prstGeom prst="roundRect">
            <a:avLst>
              <a:gd name="adj" fmla="val 2837"/>
            </a:avLst>
          </a:prstGeom>
          <a:solidFill>
            <a:schemeClr val="bg2"/>
          </a:solidFill>
          <a:ln w="12700">
            <a:solidFill>
              <a:schemeClr val="bg2"/>
            </a:solidFill>
            <a:prstDash val="solid"/>
          </a:ln>
        </p:spPr>
      </p:sp>
      <p:sp>
        <p:nvSpPr>
          <p:cNvPr id="7" name="Text 5"/>
          <p:cNvSpPr txBox="1"/>
          <p:nvPr/>
        </p:nvSpPr>
        <p:spPr>
          <a:xfrm>
            <a:off x="8046720" y="2057400"/>
            <a:ext cx="3291840" cy="274320"/>
          </a:xfrm>
          <a:prstGeom prst="rect">
            <a:avLst/>
          </a:prstGeom>
          <a:noFill/>
          <a:ln/>
        </p:spPr>
        <p:txBody>
          <a:bodyPr wrap="square" lIns="0" tIns="0" rIns="0" bIns="0" rtlCol="0" anchor="t"/>
          <a:lstStyle/>
          <a:p>
            <a:pPr indent="0" marL="0">
              <a:buNone/>
            </a:pPr>
            <a:r>
              <a:rPr lang="en-US" sz="1200" b="1" dirty="0">
                <a:solidFill>
                  <a:schemeClr val="accent1"/>
                </a:solidFill>
              </a:rPr>
              <a:t>KEY TAKEAWAY</a:t>
            </a:r>
            <a:endParaRPr lang="en-US" sz="1200" dirty="0"/>
          </a:p>
        </p:txBody>
      </p:sp>
      <p:sp>
        <p:nvSpPr>
          <p:cNvPr id="8" name="Text 6"/>
          <p:cNvSpPr txBox="1"/>
          <p:nvPr/>
        </p:nvSpPr>
        <p:spPr>
          <a:xfrm>
            <a:off x="8046720" y="2423160"/>
            <a:ext cx="3337560" cy="3611880"/>
          </a:xfrm>
          <a:prstGeom prst="rect">
            <a:avLst/>
          </a:prstGeom>
          <a:noFill/>
          <a:ln/>
        </p:spPr>
        <p:txBody>
          <a:bodyPr wrap="square" lIns="0" tIns="0" rIns="0" bIns="0" rtlCol="0" anchor="t"/>
          <a:lstStyle/>
          <a:p>
            <a:pPr indent="0" marL="0">
              <a:buNone/>
            </a:pPr>
            <a:r>
              <a:rPr lang="en-US" sz="1400" dirty="0">
                <a:solidFill>
                  <a:schemeClr val="tx1"/>
                </a:solidFill>
              </a:rPr>
              <a:t>A small group of elite sporting powerhouses overwhelmingly drives the overall Olympic medal tally—led by the USA (5,414 total medals; 2,533 Gold) and the Soviet Union (2,658 total medals; 1,135 Gold), followed by Germany (843 Gold) and the UK (658 Gold), demonstrating how concentrated, multi-generational sporting investments define global medal dominance.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ph idx="100" type="title" hasCustomPrompt="1"/>
          </p:nvPr>
        </p:nvSpPr>
        <p:spPr>
          <a:xfrm>
            <a:off x="731520" y="2011680"/>
            <a:ext cx="10515600" cy="1371600"/>
          </a:xfrm>
          <a:prstGeom prst="rect">
            <a:avLst/>
          </a:prstGeom>
          <a:noFill/>
          <a:ln/>
        </p:spPr>
        <p:txBody>
          <a:bodyPr wrap="square" lIns="0" tIns="0" rIns="0" bIns="0" rtlCol="0" anchor="ctr"/>
          <a:lstStyle/>
          <a:p>
            <a:pPr indent="0" marL="0">
              <a:buNone/>
            </a:pPr>
            <a:r>
              <a:rPr lang="en-US" sz="4400" b="1" dirty="0">
                <a:solidFill>
                  <a:schemeClr val="bg1"/>
                </a:solidFill>
              </a:rPr>
              <a:t>Power BI: 18 solved questions</a:t>
            </a:r>
            <a:endParaRPr lang="en-US" sz="4400" dirty="0"/>
          </a:p>
        </p:txBody>
      </p:sp>
      <p:sp>
        <p:nvSpPr>
          <p:cNvPr id="3" name="Text 1"/>
          <p:cNvSpPr txBox="1"/>
          <p:nvPr/>
        </p:nvSpPr>
        <p:spPr>
          <a:xfrm>
            <a:off x="731520" y="3474720"/>
            <a:ext cx="10515600" cy="457200"/>
          </a:xfrm>
          <a:prstGeom prst="rect">
            <a:avLst/>
          </a:prstGeom>
          <a:noFill/>
          <a:ln/>
        </p:spPr>
        <p:txBody>
          <a:bodyPr wrap="square" lIns="0" tIns="0" rIns="0" bIns="0" rtlCol="0" anchor="t"/>
          <a:lstStyle/>
          <a:p>
            <a:pPr indent="0" marL="0">
              <a:buNone/>
            </a:pPr>
            <a:r>
              <a:rPr lang="en-US" sz="2000" dirty="0">
                <a:solidFill>
                  <a:srgbClr val="CADCFC"/>
                </a:solidFill>
              </a:rPr>
              <a:t>Original charts from the Power BI solved-questions report, with the key insight for each.</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 Games by season</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1.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29 Summer Games (56.86%) and 22 Winter Games (43.14%), 51 in total.</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Q2: Games by decade</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2.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The 1900s peaked with 4 Games, all Summer. The 1960s and 1980s each had 3 Summer and 3 Winter.</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Q3: Top host cities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3.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Athina and London hosted 3 Games each. Six other cities hosted 2 each.</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Q4: Sports by season</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4.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52 Summer sports against 17 Winter sports, about three times as many.</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Q5: Sports with most events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5.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Athletics and Shooting lead with 83 events each, then Swimming 54, Cycling 44 and Sailing 37.</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Q6: Participation by sport</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6.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Slicer view for Alpine Skiing (2,693 participations): from about 100 in 1936 to a peak near 320 in 1992.</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Q7: Events per sport</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7.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A long tail: most sports have under 10 events, and Golf, Croquet and Basketball have only 2 or 3.</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Q8: Events by gender</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8.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Men 458 (60.5%), Women 211 (27.87%) and Mixed 88 (11.62%) of 757 events.</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Q9: Event growth over time</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09.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Summer events rose from about 42 in 1896 to about 306 in 2016. Winter rose from about 17 to about 98.</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Q10: Participants by gender</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0.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95K male (73.9%) against 34K female (26.1%) of 129K participations.</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Q11: Top participating countries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1.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USA 9.2K, UK 5.8K, France 5.2K, Germany 4.8K, Canada and Italy 4.7K.</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Q12: Age distribution</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2.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Participation peaked at 11.13K in 1992 and 11.18K in 2016, led by the 18-24 and 25-30 groups.</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Q13: Medals per Games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3.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2008 Summer had the most medals (2,048). The smallest were 1928 Winter (85) and 1932 Winter (88).</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Q14: Top gold-medal countries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4.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USA 2,533 gold, Soviet Union 1,135, Germany 843, UK 658 and Italy 568.</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Q15: Medals by sport</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5.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Athletics leads with 3,892, then Swimming 2,978 and Rowing 2,801. Each bar segment shows the sport total.</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Q16: Participating NOCs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6.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NOCs grew from 11 in 1896 to 215 in 2012. Winter Games stay near 74 to 91 NOCs.</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Q17: Top regions by participants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7.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USA 9,225, UK 5,783, France 5,198, Germany 4,763 and Canada 4,657.</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Power BI Q18: Medals by region</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q-18.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KEY INSIGHT</a:t>
            </a:r>
            <a:endParaRPr lang="en-US" sz="1200" dirty="0"/>
          </a:p>
        </p:txBody>
      </p:sp>
      <p:sp>
        <p:nvSpPr>
          <p:cNvPr id="7" name="Text 4"/>
          <p:cNvSpPr txBox="1"/>
          <p:nvPr/>
        </p:nvSpPr>
        <p:spPr>
          <a:xfrm>
            <a:off x="8641080" y="1920240"/>
            <a:ext cx="2788920" cy="3749040"/>
          </a:xfrm>
          <a:prstGeom prst="rect">
            <a:avLst/>
          </a:prstGeom>
          <a:noFill/>
          <a:ln/>
        </p:spPr>
        <p:txBody>
          <a:bodyPr wrap="square" lIns="0" tIns="0" rIns="0" bIns="0" rtlCol="0" anchor="t"/>
          <a:lstStyle/>
          <a:p>
            <a:pPr indent="0" marL="0">
              <a:buNone/>
            </a:pPr>
            <a:r>
              <a:rPr lang="en-US" sz="1600" dirty="0">
                <a:solidFill>
                  <a:schemeClr val="tx1"/>
                </a:solidFill>
              </a:rPr>
              <a:t>USA 5,414 total medals, Soviet Union 2,658, Germany 2,395, UK 1,971 and France 1,686.</a:t>
            </a:r>
            <a:endParaRPr lang="en-US" sz="1600" dirty="0"/>
          </a:p>
        </p:txBody>
      </p:sp>
      <p:sp>
        <p:nvSpPr>
          <p:cNvPr id="8" name="Text 5"/>
          <p:cNvSpPr txBox="1"/>
          <p:nvPr/>
        </p:nvSpPr>
        <p:spPr>
          <a:xfrm>
            <a:off x="548640" y="5943600"/>
            <a:ext cx="7315200" cy="274320"/>
          </a:xfrm>
          <a:prstGeom prst="rect">
            <a:avLst/>
          </a:prstGeom>
          <a:noFill/>
          <a:ln/>
        </p:spPr>
        <p:txBody>
          <a:bodyPr wrap="square" lIns="0" tIns="0" rIns="0" bIns="0" rtlCol="0" anchor="t"/>
          <a:lstStyle/>
          <a:p>
            <a:pPr indent="0" marL="0">
              <a:buNone/>
            </a:pPr>
            <a:r>
              <a:rPr lang="en-US" sz="1000" dirty="0">
                <a:solidFill>
                  <a:schemeClr val="accent5"/>
                </a:solidFill>
              </a:rPr>
              <a:t>Source: Power BI solved questions, Q18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ph idx="100" type="title" hasCustomPrompt="1"/>
          </p:nvPr>
        </p:nvSpPr>
        <p:spPr>
          <a:xfrm>
            <a:off x="731520" y="2011680"/>
            <a:ext cx="10515600" cy="1371600"/>
          </a:xfrm>
          <a:prstGeom prst="rect">
            <a:avLst/>
          </a:prstGeom>
          <a:noFill/>
          <a:ln/>
        </p:spPr>
        <p:txBody>
          <a:bodyPr wrap="square" lIns="0" tIns="0" rIns="0" bIns="0" rtlCol="0" anchor="ctr"/>
          <a:lstStyle/>
          <a:p>
            <a:pPr indent="0" marL="0">
              <a:buNone/>
            </a:pPr>
            <a:r>
              <a:rPr lang="en-US" sz="4400" b="1" dirty="0">
                <a:solidFill>
                  <a:schemeClr val="bg1"/>
                </a:solidFill>
              </a:rPr>
              <a:t>Power BI dashboard: five pages</a:t>
            </a:r>
            <a:endParaRPr lang="en-US" sz="4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Dashboard page 1: Olympic Overview</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d-5.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WHAT IT SHOWS</a:t>
            </a:r>
            <a:endParaRPr lang="en-US" sz="1200" dirty="0"/>
          </a:p>
        </p:txBody>
      </p:sp>
      <p:sp>
        <p:nvSpPr>
          <p:cNvPr id="7" name="Text 4"/>
          <p:cNvSpPr txBox="1"/>
          <p:nvPr/>
        </p:nvSpPr>
        <p:spPr>
          <a:xfrm>
            <a:off x="8641080" y="1920240"/>
            <a:ext cx="2788920" cy="2377440"/>
          </a:xfrm>
          <a:prstGeom prst="rect">
            <a:avLst/>
          </a:prstGeom>
          <a:noFill/>
          <a:ln/>
        </p:spPr>
        <p:txBody>
          <a:bodyPr wrap="square" lIns="0" tIns="0" rIns="0" bIns="0" rtlCol="0" anchor="t"/>
          <a:lstStyle/>
          <a:p>
            <a:pPr indent="0" marL="0">
              <a:buNone/>
            </a:pPr>
            <a:r>
              <a:rPr lang="en-US" sz="1600" dirty="0">
                <a:solidFill>
                  <a:schemeClr val="tx1"/>
                </a:solidFill>
              </a:rPr>
              <a:t>Executive KPIs (51 Games, 66 Sports, 757 Events), Games by decade, season donut and host-city chart.</a:t>
            </a:r>
            <a:endParaRPr lang="en-US" sz="1600" dirty="0"/>
          </a:p>
        </p:txBody>
      </p:sp>
      <p:sp>
        <p:nvSpPr>
          <p:cNvPr id="8" name="Text 5"/>
          <p:cNvSpPr txBox="1"/>
          <p:nvPr/>
        </p:nvSpPr>
        <p:spPr>
          <a:xfrm>
            <a:off x="8641080" y="4480560"/>
            <a:ext cx="2788920" cy="1097280"/>
          </a:xfrm>
          <a:prstGeom prst="rect">
            <a:avLst/>
          </a:prstGeom>
          <a:noFill/>
          <a:ln/>
        </p:spPr>
        <p:txBody>
          <a:bodyPr wrap="square" lIns="0" tIns="0" rIns="0" bIns="0" rtlCol="0" anchor="t"/>
          <a:lstStyle/>
          <a:p>
            <a:pPr indent="0" marL="0">
              <a:buNone/>
            </a:pPr>
            <a:r>
              <a:rPr lang="en-US" sz="1400" dirty="0">
                <a:solidFill>
                  <a:schemeClr val="accent5"/>
                </a:solidFill>
              </a:rPr>
              <a:t>Global slicers: Gender, Sport Name, Season, Games Year.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Dashboard page 2: Sports and Events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d-6.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WHAT IT SHOWS</a:t>
            </a:r>
            <a:endParaRPr lang="en-US" sz="1200" dirty="0"/>
          </a:p>
        </p:txBody>
      </p:sp>
      <p:sp>
        <p:nvSpPr>
          <p:cNvPr id="7" name="Text 4"/>
          <p:cNvSpPr txBox="1"/>
          <p:nvPr/>
        </p:nvSpPr>
        <p:spPr>
          <a:xfrm>
            <a:off x="8641080" y="1920240"/>
            <a:ext cx="2788920" cy="2377440"/>
          </a:xfrm>
          <a:prstGeom prst="rect">
            <a:avLst/>
          </a:prstGeom>
          <a:noFill/>
          <a:ln/>
        </p:spPr>
        <p:txBody>
          <a:bodyPr wrap="square" lIns="0" tIns="0" rIns="0" bIns="0" rtlCol="0" anchor="t"/>
          <a:lstStyle/>
          <a:p>
            <a:pPr indent="0" marL="0">
              <a:buNone/>
            </a:pPr>
            <a:r>
              <a:rPr lang="en-US" sz="1600" dirty="0">
                <a:solidFill>
                  <a:schemeClr val="tx1"/>
                </a:solidFill>
              </a:rPr>
              <a:t>Events per sport, Summer and Winter split and participation over time.</a:t>
            </a:r>
            <a:endParaRPr lang="en-US" sz="1600" dirty="0"/>
          </a:p>
        </p:txBody>
      </p:sp>
      <p:sp>
        <p:nvSpPr>
          <p:cNvPr id="8" name="Text 5"/>
          <p:cNvSpPr txBox="1"/>
          <p:nvPr/>
        </p:nvSpPr>
        <p:spPr>
          <a:xfrm>
            <a:off x="8641080" y="4480560"/>
            <a:ext cx="2788920" cy="1097280"/>
          </a:xfrm>
          <a:prstGeom prst="rect">
            <a:avLst/>
          </a:prstGeom>
          <a:noFill/>
          <a:ln/>
        </p:spPr>
        <p:txBody>
          <a:bodyPr wrap="square" lIns="0" tIns="0" rIns="0" bIns="0" rtlCol="0" anchor="t"/>
          <a:lstStyle/>
          <a:p>
            <a:pPr indent="0" marL="0">
              <a:buNone/>
            </a:pPr>
            <a:r>
              <a:rPr lang="en-US" sz="1400" dirty="0">
                <a:solidFill>
                  <a:schemeClr val="accent5"/>
                </a:solidFill>
              </a:rPr>
              <a:t>Global slicers: Gender, Sport Name, Season, Games Year.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Dashboard page 3: Participants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d-7.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WHAT IT SHOWS</a:t>
            </a:r>
            <a:endParaRPr lang="en-US" sz="1200" dirty="0"/>
          </a:p>
        </p:txBody>
      </p:sp>
      <p:sp>
        <p:nvSpPr>
          <p:cNvPr id="7" name="Text 4"/>
          <p:cNvSpPr txBox="1"/>
          <p:nvPr/>
        </p:nvSpPr>
        <p:spPr>
          <a:xfrm>
            <a:off x="8641080" y="1920240"/>
            <a:ext cx="2788920" cy="2377440"/>
          </a:xfrm>
          <a:prstGeom prst="rect">
            <a:avLst/>
          </a:prstGeom>
          <a:noFill/>
          <a:ln/>
        </p:spPr>
        <p:txBody>
          <a:bodyPr wrap="square" lIns="0" tIns="0" rIns="0" bIns="0" rtlCol="0" anchor="t"/>
          <a:lstStyle/>
          <a:p>
            <a:pPr indent="0" marL="0">
              <a:buNone/>
            </a:pPr>
            <a:r>
              <a:rPr lang="en-US" sz="1600" dirty="0">
                <a:solidFill>
                  <a:schemeClr val="tx1"/>
                </a:solidFill>
              </a:rPr>
              <a:t>129K participations, gender pie, age groups and top countries. Average age 25.78.</a:t>
            </a:r>
            <a:endParaRPr lang="en-US" sz="1600" dirty="0"/>
          </a:p>
        </p:txBody>
      </p:sp>
      <p:sp>
        <p:nvSpPr>
          <p:cNvPr id="8" name="Text 5"/>
          <p:cNvSpPr txBox="1"/>
          <p:nvPr/>
        </p:nvSpPr>
        <p:spPr>
          <a:xfrm>
            <a:off x="8641080" y="4480560"/>
            <a:ext cx="2788920" cy="1097280"/>
          </a:xfrm>
          <a:prstGeom prst="rect">
            <a:avLst/>
          </a:prstGeom>
          <a:noFill/>
          <a:ln/>
        </p:spPr>
        <p:txBody>
          <a:bodyPr wrap="square" lIns="0" tIns="0" rIns="0" bIns="0" rtlCol="0" anchor="t"/>
          <a:lstStyle/>
          <a:p>
            <a:pPr indent="0" marL="0">
              <a:buNone/>
            </a:pPr>
            <a:r>
              <a:rPr lang="en-US" sz="1400" dirty="0">
                <a:solidFill>
                  <a:schemeClr val="accent5"/>
                </a:solidFill>
              </a:rPr>
              <a:t>Global slicers: Gender, Sport Name, Season, Games Year.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Dashboard page 4: Medal Analysis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d-8.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WHAT IT SHOWS</a:t>
            </a:r>
            <a:endParaRPr lang="en-US" sz="1200" dirty="0"/>
          </a:p>
        </p:txBody>
      </p:sp>
      <p:sp>
        <p:nvSpPr>
          <p:cNvPr id="7" name="Text 4"/>
          <p:cNvSpPr txBox="1"/>
          <p:nvPr/>
        </p:nvSpPr>
        <p:spPr>
          <a:xfrm>
            <a:off x="8641080" y="1920240"/>
            <a:ext cx="2788920" cy="2377440"/>
          </a:xfrm>
          <a:prstGeom prst="rect">
            <a:avLst/>
          </a:prstGeom>
          <a:noFill/>
          <a:ln/>
        </p:spPr>
        <p:txBody>
          <a:bodyPr wrap="square" lIns="0" tIns="0" rIns="0" bIns="0" rtlCol="0" anchor="t"/>
          <a:lstStyle/>
          <a:p>
            <a:pPr indent="0" marL="0">
              <a:buNone/>
            </a:pPr>
            <a:r>
              <a:rPr lang="en-US" sz="1600" dirty="0">
                <a:solidFill>
                  <a:schemeClr val="tx1"/>
                </a:solidFill>
              </a:rPr>
              <a:t>39K medals (13K each), medals by Games year, gold leaderboard and sport-medal stack.</a:t>
            </a:r>
            <a:endParaRPr lang="en-US" sz="1600" dirty="0"/>
          </a:p>
        </p:txBody>
      </p:sp>
      <p:sp>
        <p:nvSpPr>
          <p:cNvPr id="8" name="Text 5"/>
          <p:cNvSpPr txBox="1"/>
          <p:nvPr/>
        </p:nvSpPr>
        <p:spPr>
          <a:xfrm>
            <a:off x="8641080" y="4480560"/>
            <a:ext cx="2788920" cy="1097280"/>
          </a:xfrm>
          <a:prstGeom prst="rect">
            <a:avLst/>
          </a:prstGeom>
          <a:noFill/>
          <a:ln/>
        </p:spPr>
        <p:txBody>
          <a:bodyPr wrap="square" lIns="0" tIns="0" rIns="0" bIns="0" rtlCol="0" anchor="t"/>
          <a:lstStyle/>
          <a:p>
            <a:pPr indent="0" marL="0">
              <a:buNone/>
            </a:pPr>
            <a:r>
              <a:rPr lang="en-US" sz="1400" dirty="0">
                <a:solidFill>
                  <a:schemeClr val="accent5"/>
                </a:solidFill>
              </a:rPr>
              <a:t>Global slicers: Gender, Sport Name, Season, Games Year.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Dashboard page 5: Regional Analysis</a:t>
            </a:r>
            <a:endParaRPr lang="en-US" sz="3000" dirty="0"/>
          </a:p>
        </p:txBody>
      </p:sp>
      <p:sp>
        <p:nvSpPr>
          <p:cNvPr id="3" name="card"/>
          <p:cNvSpPr/>
          <p:nvPr/>
        </p:nvSpPr>
        <p:spPr>
          <a:xfrm>
            <a:off x="548640" y="1325880"/>
            <a:ext cx="7589520" cy="4526280"/>
          </a:xfrm>
          <a:prstGeom prst="roundRect">
            <a:avLst>
              <a:gd name="adj" fmla="val 2424"/>
            </a:avLst>
          </a:prstGeom>
          <a:solidFill>
            <a:srgbClr val="FFFFFF"/>
          </a:solidFill>
          <a:ln w="12700">
            <a:solidFill>
              <a:srgbClr val="FFFFFF"/>
            </a:solidFill>
            <a:prstDash val="solid"/>
          </a:ln>
        </p:spPr>
      </p:sp>
      <p:pic>
        <p:nvPicPr>
          <p:cNvPr id="4" name="chart image" descr="img/d-9.png">    </p:cNvPr>
          <p:cNvPicPr>
            <a:picLocks noChangeAspect="1"/>
          </p:cNvPicPr>
          <p:nvPr/>
        </p:nvPicPr>
        <p:blipFill>
          <a:blip r:embed="rId1"/>
          <a:stretch>
            <a:fillRect/>
          </a:stretch>
        </p:blipFill>
        <p:spPr>
          <a:xfrm>
            <a:off x="640080" y="1371600"/>
            <a:ext cx="7406640" cy="4245269"/>
          </a:xfrm>
          <a:prstGeom prst="rect">
            <a:avLst/>
          </a:prstGeom>
        </p:spPr>
      </p:pic>
      <p:sp>
        <p:nvSpPr>
          <p:cNvPr id="5" name="card"/>
          <p:cNvSpPr/>
          <p:nvPr/>
        </p:nvSpPr>
        <p:spPr>
          <a:xfrm>
            <a:off x="8412480" y="1325880"/>
            <a:ext cx="3227832" cy="4526280"/>
          </a:xfrm>
          <a:prstGeom prst="roundRect">
            <a:avLst>
              <a:gd name="adj" fmla="val 3399"/>
            </a:avLst>
          </a:prstGeom>
          <a:solidFill>
            <a:schemeClr val="bg2"/>
          </a:solidFill>
          <a:ln w="12700">
            <a:solidFill>
              <a:schemeClr val="bg2"/>
            </a:solidFill>
            <a:prstDash val="solid"/>
          </a:ln>
        </p:spPr>
      </p:sp>
      <p:sp>
        <p:nvSpPr>
          <p:cNvPr id="6" name="Text 3"/>
          <p:cNvSpPr txBox="1"/>
          <p:nvPr/>
        </p:nvSpPr>
        <p:spPr>
          <a:xfrm>
            <a:off x="8641080" y="1554480"/>
            <a:ext cx="2834640" cy="274320"/>
          </a:xfrm>
          <a:prstGeom prst="rect">
            <a:avLst/>
          </a:prstGeom>
          <a:noFill/>
          <a:ln/>
        </p:spPr>
        <p:txBody>
          <a:bodyPr wrap="square" lIns="0" tIns="0" rIns="0" bIns="0" rtlCol="0" anchor="t"/>
          <a:lstStyle/>
          <a:p>
            <a:pPr indent="0" marL="0">
              <a:buNone/>
            </a:pPr>
            <a:r>
              <a:rPr lang="en-US" sz="1200" b="1" dirty="0">
                <a:solidFill>
                  <a:schemeClr val="accent1"/>
                </a:solidFill>
              </a:rPr>
              <a:t>WHAT IT SHOWS</a:t>
            </a:r>
            <a:endParaRPr lang="en-US" sz="1200" dirty="0"/>
          </a:p>
        </p:txBody>
      </p:sp>
      <p:sp>
        <p:nvSpPr>
          <p:cNvPr id="7" name="Text 4"/>
          <p:cNvSpPr txBox="1"/>
          <p:nvPr/>
        </p:nvSpPr>
        <p:spPr>
          <a:xfrm>
            <a:off x="8641080" y="1920240"/>
            <a:ext cx="2788920" cy="2377440"/>
          </a:xfrm>
          <a:prstGeom prst="rect">
            <a:avLst/>
          </a:prstGeom>
          <a:noFill/>
          <a:ln/>
        </p:spPr>
        <p:txBody>
          <a:bodyPr wrap="square" lIns="0" tIns="0" rIns="0" bIns="0" rtlCol="0" anchor="t"/>
          <a:lstStyle/>
          <a:p>
            <a:pPr indent="0" marL="0">
              <a:buNone/>
            </a:pPr>
            <a:r>
              <a:rPr lang="en-US" sz="1600" dirty="0">
                <a:solidFill>
                  <a:schemeClr val="tx1"/>
                </a:solidFill>
              </a:rPr>
              <a:t>228 NOCs, NOC growth over time, participants and medals by region.</a:t>
            </a:r>
            <a:endParaRPr lang="en-US" sz="1600" dirty="0"/>
          </a:p>
        </p:txBody>
      </p:sp>
      <p:sp>
        <p:nvSpPr>
          <p:cNvPr id="8" name="Text 5"/>
          <p:cNvSpPr txBox="1"/>
          <p:nvPr/>
        </p:nvSpPr>
        <p:spPr>
          <a:xfrm>
            <a:off x="8641080" y="4480560"/>
            <a:ext cx="2788920" cy="1097280"/>
          </a:xfrm>
          <a:prstGeom prst="rect">
            <a:avLst/>
          </a:prstGeom>
          <a:noFill/>
          <a:ln/>
        </p:spPr>
        <p:txBody>
          <a:bodyPr wrap="square" lIns="0" tIns="0" rIns="0" bIns="0" rtlCol="0" anchor="t"/>
          <a:lstStyle/>
          <a:p>
            <a:pPr indent="0" marL="0">
              <a:buNone/>
            </a:pPr>
            <a:r>
              <a:rPr lang="en-US" sz="1400" dirty="0">
                <a:solidFill>
                  <a:schemeClr val="accent5"/>
                </a:solidFill>
              </a:rPr>
              <a:t>Global slicers: Gender, Sport Name, Season, Games Year.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Key insights across the four pillars</a:t>
            </a:r>
            <a:endParaRPr lang="en-US" sz="3000" dirty="0"/>
          </a:p>
        </p:txBody>
      </p:sp>
      <p:sp>
        <p:nvSpPr>
          <p:cNvPr id="3" name="card"/>
          <p:cNvSpPr/>
          <p:nvPr/>
        </p:nvSpPr>
        <p:spPr>
          <a:xfrm>
            <a:off x="548640" y="1371600"/>
            <a:ext cx="5440680" cy="2148840"/>
          </a:xfrm>
          <a:prstGeom prst="roundRect">
            <a:avLst>
              <a:gd name="adj" fmla="val 5106"/>
            </a:avLst>
          </a:prstGeom>
          <a:solidFill>
            <a:schemeClr val="bg2"/>
          </a:solidFill>
          <a:ln w="12700">
            <a:solidFill>
              <a:schemeClr val="bg2"/>
            </a:solidFill>
            <a:prstDash val="solid"/>
          </a:ln>
        </p:spPr>
      </p:sp>
      <p:sp>
        <p:nvSpPr>
          <p:cNvPr id="4" name="Text 2"/>
          <p:cNvSpPr txBox="1"/>
          <p:nvPr/>
        </p:nvSpPr>
        <p:spPr>
          <a:xfrm>
            <a:off x="822960" y="1600200"/>
            <a:ext cx="48463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Games</a:t>
            </a:r>
            <a:endParaRPr lang="en-US" sz="2200" dirty="0"/>
          </a:p>
        </p:txBody>
      </p:sp>
      <p:sp>
        <p:nvSpPr>
          <p:cNvPr id="5" name="Text 3"/>
          <p:cNvSpPr txBox="1"/>
          <p:nvPr/>
        </p:nvSpPr>
        <p:spPr>
          <a:xfrm>
            <a:off x="822960" y="2194560"/>
            <a:ext cx="4846320" cy="1188720"/>
          </a:xfrm>
          <a:prstGeom prst="rect">
            <a:avLst/>
          </a:prstGeom>
          <a:noFill/>
          <a:ln/>
        </p:spPr>
        <p:txBody>
          <a:bodyPr wrap="square" lIns="0" tIns="0" rIns="0" bIns="0" rtlCol="0" anchor="t"/>
          <a:lstStyle/>
          <a:p>
            <a:pPr indent="0" marL="0">
              <a:buNone/>
            </a:pPr>
            <a:r>
              <a:rPr lang="en-US" sz="1700" dirty="0">
                <a:solidFill>
                  <a:schemeClr val="tx1"/>
                </a:solidFill>
              </a:rPr>
              <a:t>Summer Games lead 29 to 22. Athina and London host most (3 each).</a:t>
            </a:r>
            <a:endParaRPr lang="en-US" sz="1700" dirty="0"/>
          </a:p>
        </p:txBody>
      </p:sp>
      <p:sp>
        <p:nvSpPr>
          <p:cNvPr id="6" name="card"/>
          <p:cNvSpPr/>
          <p:nvPr/>
        </p:nvSpPr>
        <p:spPr>
          <a:xfrm>
            <a:off x="6172200" y="1371600"/>
            <a:ext cx="5440680" cy="2148840"/>
          </a:xfrm>
          <a:prstGeom prst="roundRect">
            <a:avLst>
              <a:gd name="adj" fmla="val 5106"/>
            </a:avLst>
          </a:prstGeom>
          <a:solidFill>
            <a:schemeClr val="bg2"/>
          </a:solidFill>
          <a:ln w="12700">
            <a:solidFill>
              <a:schemeClr val="bg2"/>
            </a:solidFill>
            <a:prstDash val="solid"/>
          </a:ln>
        </p:spPr>
      </p:sp>
      <p:sp>
        <p:nvSpPr>
          <p:cNvPr id="7" name="Text 5"/>
          <p:cNvSpPr txBox="1"/>
          <p:nvPr/>
        </p:nvSpPr>
        <p:spPr>
          <a:xfrm>
            <a:off x="6446520" y="1600200"/>
            <a:ext cx="4846320" cy="457200"/>
          </a:xfrm>
          <a:prstGeom prst="rect">
            <a:avLst/>
          </a:prstGeom>
          <a:noFill/>
          <a:ln/>
        </p:spPr>
        <p:txBody>
          <a:bodyPr wrap="square" lIns="0" tIns="0" rIns="0" bIns="0" rtlCol="0" anchor="t"/>
          <a:lstStyle/>
          <a:p>
            <a:pPr indent="0" marL="0">
              <a:buNone/>
            </a:pPr>
            <a:r>
              <a:rPr lang="en-US" sz="2200" b="1" dirty="0">
                <a:solidFill>
                  <a:schemeClr val="accent3"/>
                </a:solidFill>
                <a:latin typeface="Cambria" pitchFamily="34" charset="0"/>
                <a:ea typeface="Cambria" pitchFamily="34" charset="-122"/>
                <a:cs typeface="Cambria" pitchFamily="34" charset="-120"/>
              </a:rPr>
              <a:t>Portfolio</a:t>
            </a:r>
            <a:endParaRPr lang="en-US" sz="2200" dirty="0"/>
          </a:p>
        </p:txBody>
      </p:sp>
      <p:sp>
        <p:nvSpPr>
          <p:cNvPr id="8" name="Text 6"/>
          <p:cNvSpPr txBox="1"/>
          <p:nvPr/>
        </p:nvSpPr>
        <p:spPr>
          <a:xfrm>
            <a:off x="6446520" y="2194560"/>
            <a:ext cx="4846320" cy="1188720"/>
          </a:xfrm>
          <a:prstGeom prst="rect">
            <a:avLst/>
          </a:prstGeom>
          <a:noFill/>
          <a:ln/>
        </p:spPr>
        <p:txBody>
          <a:bodyPr wrap="square" lIns="0" tIns="0" rIns="0" bIns="0" rtlCol="0" anchor="t"/>
          <a:lstStyle/>
          <a:p>
            <a:pPr indent="0" marL="0">
              <a:buNone/>
            </a:pPr>
            <a:r>
              <a:rPr lang="en-US" sz="1700" dirty="0">
                <a:solidFill>
                  <a:schemeClr val="tx1"/>
                </a:solidFill>
              </a:rPr>
              <a:t>Athletics and Shooting hold 83 events each. Men have 60.5% of events.</a:t>
            </a:r>
            <a:endParaRPr lang="en-US" sz="1700" dirty="0"/>
          </a:p>
        </p:txBody>
      </p:sp>
      <p:sp>
        <p:nvSpPr>
          <p:cNvPr id="9" name="card"/>
          <p:cNvSpPr/>
          <p:nvPr/>
        </p:nvSpPr>
        <p:spPr>
          <a:xfrm>
            <a:off x="548640" y="3749040"/>
            <a:ext cx="5440680" cy="2148840"/>
          </a:xfrm>
          <a:prstGeom prst="roundRect">
            <a:avLst>
              <a:gd name="adj" fmla="val 5106"/>
            </a:avLst>
          </a:prstGeom>
          <a:solidFill>
            <a:schemeClr val="bg2"/>
          </a:solidFill>
          <a:ln w="12700">
            <a:solidFill>
              <a:schemeClr val="bg2"/>
            </a:solidFill>
            <a:prstDash val="solid"/>
          </a:ln>
        </p:spPr>
      </p:sp>
      <p:sp>
        <p:nvSpPr>
          <p:cNvPr id="10" name="Text 8"/>
          <p:cNvSpPr txBox="1"/>
          <p:nvPr/>
        </p:nvSpPr>
        <p:spPr>
          <a:xfrm>
            <a:off x="822960" y="3977640"/>
            <a:ext cx="4846320" cy="45720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Participants</a:t>
            </a:r>
            <a:endParaRPr lang="en-US" sz="2200" dirty="0"/>
          </a:p>
        </p:txBody>
      </p:sp>
      <p:sp>
        <p:nvSpPr>
          <p:cNvPr id="11" name="Text 9"/>
          <p:cNvSpPr txBox="1"/>
          <p:nvPr/>
        </p:nvSpPr>
        <p:spPr>
          <a:xfrm>
            <a:off x="822960" y="4572000"/>
            <a:ext cx="4846320" cy="1188720"/>
          </a:xfrm>
          <a:prstGeom prst="rect">
            <a:avLst/>
          </a:prstGeom>
          <a:noFill/>
          <a:ln/>
        </p:spPr>
        <p:txBody>
          <a:bodyPr wrap="square" lIns="0" tIns="0" rIns="0" bIns="0" rtlCol="0" anchor="t"/>
          <a:lstStyle/>
          <a:p>
            <a:pPr indent="0" marL="0">
              <a:buNone/>
            </a:pPr>
            <a:r>
              <a:rPr lang="en-US" sz="1700" dirty="0">
                <a:solidFill>
                  <a:schemeClr val="tx1"/>
                </a:solidFill>
              </a:rPr>
              <a:t>26.1% female, mean age 25.78. NOCs grew from 11 to 215.</a:t>
            </a:r>
            <a:endParaRPr lang="en-US" sz="1700" dirty="0"/>
          </a:p>
        </p:txBody>
      </p:sp>
      <p:sp>
        <p:nvSpPr>
          <p:cNvPr id="12" name="card"/>
          <p:cNvSpPr/>
          <p:nvPr/>
        </p:nvSpPr>
        <p:spPr>
          <a:xfrm>
            <a:off x="6172200" y="3749040"/>
            <a:ext cx="5440680" cy="2148840"/>
          </a:xfrm>
          <a:prstGeom prst="roundRect">
            <a:avLst>
              <a:gd name="adj" fmla="val 5106"/>
            </a:avLst>
          </a:prstGeom>
          <a:solidFill>
            <a:schemeClr val="bg2"/>
          </a:solidFill>
          <a:ln w="12700">
            <a:solidFill>
              <a:schemeClr val="bg2"/>
            </a:solidFill>
            <a:prstDash val="solid"/>
          </a:ln>
        </p:spPr>
      </p:sp>
      <p:sp>
        <p:nvSpPr>
          <p:cNvPr id="13" name="Text 11"/>
          <p:cNvSpPr txBox="1"/>
          <p:nvPr/>
        </p:nvSpPr>
        <p:spPr>
          <a:xfrm>
            <a:off x="6446520" y="3977640"/>
            <a:ext cx="484632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Medals</a:t>
            </a:r>
            <a:endParaRPr lang="en-US" sz="2200" dirty="0"/>
          </a:p>
        </p:txBody>
      </p:sp>
      <p:sp>
        <p:nvSpPr>
          <p:cNvPr id="14" name="Text 12"/>
          <p:cNvSpPr txBox="1"/>
          <p:nvPr/>
        </p:nvSpPr>
        <p:spPr>
          <a:xfrm>
            <a:off x="6446520" y="4572000"/>
            <a:ext cx="4846320" cy="1188720"/>
          </a:xfrm>
          <a:prstGeom prst="rect">
            <a:avLst/>
          </a:prstGeom>
          <a:noFill/>
          <a:ln/>
        </p:spPr>
        <p:txBody>
          <a:bodyPr wrap="square" lIns="0" tIns="0" rIns="0" bIns="0" rtlCol="0" anchor="t"/>
          <a:lstStyle/>
          <a:p>
            <a:pPr indent="0" marL="0">
              <a:buNone/>
            </a:pPr>
            <a:r>
              <a:rPr lang="en-US" sz="1700" dirty="0">
                <a:solidFill>
                  <a:schemeClr val="tx1"/>
                </a:solidFill>
              </a:rPr>
              <a:t>USA leads with 5,414 medals and 2,533 gold. The top five NOCs dominate.</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1"/>
          <p:cNvSpPr txBox="1"/>
          <p:nvPr>
            <p:ph idx="101" type="title" hasCustomPrompt="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chemeClr val="tx1"/>
                </a:solidFill>
              </a:rPr>
              <a:t>Strategic recommendations</a:t>
            </a:r>
            <a:endParaRPr lang="en-US" sz="3000" dirty="0"/>
          </a:p>
        </p:txBody>
      </p:sp>
      <p:sp>
        <p:nvSpPr>
          <p:cNvPr id="3" name="card"/>
          <p:cNvSpPr/>
          <p:nvPr/>
        </p:nvSpPr>
        <p:spPr>
          <a:xfrm>
            <a:off x="548640" y="1463040"/>
            <a:ext cx="3566160" cy="4297680"/>
          </a:xfrm>
          <a:prstGeom prst="roundRect">
            <a:avLst>
              <a:gd name="adj" fmla="val 3077"/>
            </a:avLst>
          </a:prstGeom>
          <a:solidFill>
            <a:schemeClr val="bg2"/>
          </a:solidFill>
          <a:ln w="12700">
            <a:solidFill>
              <a:schemeClr val="bg2"/>
            </a:solidFill>
            <a:prstDash val="solid"/>
          </a:ln>
        </p:spPr>
      </p:sp>
      <p:sp>
        <p:nvSpPr>
          <p:cNvPr id="4" name="rec badge"/>
          <p:cNvSpPr/>
          <p:nvPr/>
        </p:nvSpPr>
        <p:spPr>
          <a:xfrm>
            <a:off x="822960" y="1737360"/>
            <a:ext cx="640080" cy="640080"/>
          </a:xfrm>
          <a:prstGeom prst="ellipse">
            <a:avLst/>
          </a:prstGeom>
          <a:solidFill>
            <a:schemeClr val="accent1"/>
          </a:solidFill>
          <a:ln w="12700">
            <a:solidFill>
              <a:schemeClr val="bg2"/>
            </a:solidFill>
            <a:prstDash val="solid"/>
          </a:ln>
        </p:spPr>
      </p:sp>
      <p:sp>
        <p:nvSpPr>
          <p:cNvPr id="5" name="Text 3"/>
          <p:cNvSpPr txBox="1"/>
          <p:nvPr/>
        </p:nvSpPr>
        <p:spPr>
          <a:xfrm>
            <a:off x="822960" y="173736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6" name="Text 4"/>
          <p:cNvSpPr txBox="1"/>
          <p:nvPr/>
        </p:nvSpPr>
        <p:spPr>
          <a:xfrm>
            <a:off x="822960" y="2651760"/>
            <a:ext cx="301752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Accelerate gender parity</a:t>
            </a:r>
            <a:endParaRPr lang="en-US" sz="2100" dirty="0"/>
          </a:p>
        </p:txBody>
      </p:sp>
      <p:sp>
        <p:nvSpPr>
          <p:cNvPr id="7" name="Text 5"/>
          <p:cNvSpPr txBox="1"/>
          <p:nvPr/>
        </p:nvSpPr>
        <p:spPr>
          <a:xfrm>
            <a:off x="822960" y="3566160"/>
            <a:ext cx="3017520" cy="2011680"/>
          </a:xfrm>
          <a:prstGeom prst="rect">
            <a:avLst/>
          </a:prstGeom>
          <a:noFill/>
          <a:ln/>
        </p:spPr>
        <p:txBody>
          <a:bodyPr wrap="square" lIns="0" tIns="0" rIns="0" bIns="0" rtlCol="0" anchor="t"/>
          <a:lstStyle/>
          <a:p>
            <a:pPr indent="0" marL="0">
              <a:buNone/>
            </a:pPr>
            <a:r>
              <a:rPr lang="en-US" sz="1600" dirty="0">
                <a:solidFill>
                  <a:schemeClr val="accent5"/>
                </a:solidFill>
              </a:rPr>
              <a:t>Expand women's events in Athletics, Cycling and Shooting, where male dominance remains.</a:t>
            </a:r>
            <a:endParaRPr lang="en-US" sz="1600" dirty="0"/>
          </a:p>
        </p:txBody>
      </p:sp>
      <p:sp>
        <p:nvSpPr>
          <p:cNvPr id="8" name="card"/>
          <p:cNvSpPr/>
          <p:nvPr/>
        </p:nvSpPr>
        <p:spPr>
          <a:xfrm>
            <a:off x="4297680" y="1463040"/>
            <a:ext cx="3566160" cy="4297680"/>
          </a:xfrm>
          <a:prstGeom prst="roundRect">
            <a:avLst>
              <a:gd name="adj" fmla="val 3077"/>
            </a:avLst>
          </a:prstGeom>
          <a:solidFill>
            <a:schemeClr val="bg2"/>
          </a:solidFill>
          <a:ln w="12700">
            <a:solidFill>
              <a:schemeClr val="bg2"/>
            </a:solidFill>
            <a:prstDash val="solid"/>
          </a:ln>
        </p:spPr>
      </p:sp>
      <p:sp>
        <p:nvSpPr>
          <p:cNvPr id="9" name="rec badge"/>
          <p:cNvSpPr/>
          <p:nvPr/>
        </p:nvSpPr>
        <p:spPr>
          <a:xfrm>
            <a:off x="4572000" y="1737360"/>
            <a:ext cx="640080" cy="640080"/>
          </a:xfrm>
          <a:prstGeom prst="ellipse">
            <a:avLst/>
          </a:prstGeom>
          <a:solidFill>
            <a:schemeClr val="accent3"/>
          </a:solidFill>
          <a:ln w="12700">
            <a:solidFill>
              <a:schemeClr val="bg2"/>
            </a:solidFill>
            <a:prstDash val="solid"/>
          </a:ln>
        </p:spPr>
      </p:sp>
      <p:sp>
        <p:nvSpPr>
          <p:cNvPr id="10" name="Text 8"/>
          <p:cNvSpPr txBox="1"/>
          <p:nvPr/>
        </p:nvSpPr>
        <p:spPr>
          <a:xfrm>
            <a:off x="4572000" y="173736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 9"/>
          <p:cNvSpPr txBox="1"/>
          <p:nvPr/>
        </p:nvSpPr>
        <p:spPr>
          <a:xfrm>
            <a:off x="4572000" y="2651760"/>
            <a:ext cx="301752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Support Winter Games growth</a:t>
            </a:r>
            <a:endParaRPr lang="en-US" sz="2100" dirty="0"/>
          </a:p>
        </p:txBody>
      </p:sp>
      <p:sp>
        <p:nvSpPr>
          <p:cNvPr id="12" name="Text 10"/>
          <p:cNvSpPr txBox="1"/>
          <p:nvPr/>
        </p:nvSpPr>
        <p:spPr>
          <a:xfrm>
            <a:off x="4572000" y="3566160"/>
            <a:ext cx="3017520" cy="2011680"/>
          </a:xfrm>
          <a:prstGeom prst="rect">
            <a:avLst/>
          </a:prstGeom>
          <a:noFill/>
          <a:ln/>
        </p:spPr>
        <p:txBody>
          <a:bodyPr wrap="square" lIns="0" tIns="0" rIns="0" bIns="0" rtlCol="0" anchor="t"/>
          <a:lstStyle/>
          <a:p>
            <a:pPr indent="0" marL="0">
              <a:buNone/>
            </a:pPr>
            <a:r>
              <a:rPr lang="en-US" sz="1600" dirty="0">
                <a:solidFill>
                  <a:schemeClr val="accent5"/>
                </a:solidFill>
              </a:rPr>
              <a:t>Winter is 22 of 51 Games and 17 of 66 sports. Fund emerging NOCs in Asia and South America.</a:t>
            </a:r>
            <a:endParaRPr lang="en-US" sz="1600" dirty="0"/>
          </a:p>
        </p:txBody>
      </p:sp>
      <p:sp>
        <p:nvSpPr>
          <p:cNvPr id="13" name="card"/>
          <p:cNvSpPr/>
          <p:nvPr/>
        </p:nvSpPr>
        <p:spPr>
          <a:xfrm>
            <a:off x="8046720" y="1463040"/>
            <a:ext cx="3566160" cy="4297680"/>
          </a:xfrm>
          <a:prstGeom prst="roundRect">
            <a:avLst>
              <a:gd name="adj" fmla="val 3077"/>
            </a:avLst>
          </a:prstGeom>
          <a:solidFill>
            <a:schemeClr val="bg2"/>
          </a:solidFill>
          <a:ln w="12700">
            <a:solidFill>
              <a:schemeClr val="bg2"/>
            </a:solidFill>
            <a:prstDash val="solid"/>
          </a:ln>
        </p:spPr>
      </p:sp>
      <p:sp>
        <p:nvSpPr>
          <p:cNvPr id="14" name="rec badge"/>
          <p:cNvSpPr/>
          <p:nvPr/>
        </p:nvSpPr>
        <p:spPr>
          <a:xfrm>
            <a:off x="8321040" y="1737360"/>
            <a:ext cx="640080" cy="640080"/>
          </a:xfrm>
          <a:prstGeom prst="ellipse">
            <a:avLst/>
          </a:prstGeom>
          <a:solidFill>
            <a:schemeClr val="accent6"/>
          </a:solidFill>
          <a:ln w="12700">
            <a:solidFill>
              <a:schemeClr val="bg2"/>
            </a:solidFill>
            <a:prstDash val="solid"/>
          </a:ln>
        </p:spPr>
      </p:sp>
      <p:sp>
        <p:nvSpPr>
          <p:cNvPr id="15" name="Text 13"/>
          <p:cNvSpPr txBox="1"/>
          <p:nvPr/>
        </p:nvSpPr>
        <p:spPr>
          <a:xfrm>
            <a:off x="8321040" y="173736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6" name="Text 14"/>
          <p:cNvSpPr txBox="1"/>
          <p:nvPr/>
        </p:nvSpPr>
        <p:spPr>
          <a:xfrm>
            <a:off x="8321040" y="2651760"/>
            <a:ext cx="3017520" cy="822960"/>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Add predictive DAX analytics</a:t>
            </a:r>
            <a:endParaRPr lang="en-US" sz="2100" dirty="0"/>
          </a:p>
        </p:txBody>
      </p:sp>
      <p:sp>
        <p:nvSpPr>
          <p:cNvPr id="17" name="Text 15"/>
          <p:cNvSpPr txBox="1"/>
          <p:nvPr/>
        </p:nvSpPr>
        <p:spPr>
          <a:xfrm>
            <a:off x="8321040" y="3566160"/>
            <a:ext cx="3017520" cy="2011680"/>
          </a:xfrm>
          <a:prstGeom prst="rect">
            <a:avLst/>
          </a:prstGeom>
          <a:noFill/>
          <a:ln/>
        </p:spPr>
        <p:txBody>
          <a:bodyPr wrap="square" lIns="0" tIns="0" rIns="0" bIns="0" rtlCol="0" anchor="t"/>
          <a:lstStyle/>
          <a:p>
            <a:pPr indent="0" marL="0">
              <a:buNone/>
            </a:pPr>
            <a:r>
              <a:rPr lang="en-US" sz="1600" dirty="0">
                <a:solidFill>
                  <a:schemeClr val="accent5"/>
                </a:solidFill>
              </a:rPr>
              <a:t>Model athlete age trajectories and forecast NOC medal counts before future Games.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ph idx="100" type="title" hasCustomPrompt="1"/>
          </p:nvPr>
        </p:nvSpPr>
        <p:spPr>
          <a:xfrm>
            <a:off x="731520" y="2011680"/>
            <a:ext cx="10515600" cy="1371600"/>
          </a:xfrm>
          <a:prstGeom prst="rect">
            <a:avLst/>
          </a:prstGeom>
          <a:noFill/>
          <a:ln/>
        </p:spPr>
        <p:txBody>
          <a:bodyPr wrap="square" lIns="0" tIns="0" rIns="0" bIns="0" rtlCol="0" anchor="ctr"/>
          <a:lstStyle/>
          <a:p>
            <a:pPr indent="0" marL="0">
              <a:buNone/>
            </a:pPr>
            <a:r>
              <a:rPr lang="en-US" sz="4400" b="1" dirty="0">
                <a:solidFill>
                  <a:schemeClr val="bg1"/>
                </a:solidFill>
              </a:rPr>
              <a:t>Conclusion</a:t>
            </a:r>
            <a:endParaRPr lang="en-US" sz="4400" dirty="0"/>
          </a:p>
        </p:txBody>
      </p:sp>
      <p:sp>
        <p:nvSpPr>
          <p:cNvPr id="3" name="Text 1"/>
          <p:cNvSpPr txBox="1"/>
          <p:nvPr/>
        </p:nvSpPr>
        <p:spPr>
          <a:xfrm>
            <a:off x="731520" y="3474720"/>
            <a:ext cx="10515600" cy="1463040"/>
          </a:xfrm>
          <a:prstGeom prst="rect">
            <a:avLst/>
          </a:prstGeom>
          <a:noFill/>
          <a:ln/>
        </p:spPr>
        <p:txBody>
          <a:bodyPr wrap="square" lIns="0" tIns="0" rIns="0" bIns="0" rtlCol="0" anchor="t"/>
          <a:lstStyle/>
          <a:p>
            <a:pPr indent="0" marL="0">
              <a:buNone/>
            </a:pPr>
            <a:r>
              <a:rPr lang="en-US" sz="2000" dirty="0">
                <a:solidFill>
                  <a:srgbClr val="CADCFC"/>
                </a:solidFill>
              </a:rPr>
              <a:t>Eighteen SQL questions, eighteen Power BI measures and a five-page dashboard point to one story: a growing, globalising Games that is still male-heavy, Summer-heavy and medal-concentrated among a few NOCs.</a:t>
            </a:r>
            <a:endParaRPr lang="en-US" sz="2000" dirty="0"/>
          </a:p>
        </p:txBody>
      </p:sp>
    </p:spTree>
  </p:cSld>
  <p:clrMapOvr>
    <a:masterClrMapping/>
  </p:clrMapOvr>
</p:sld>
</file>

<file path=ppt/theme/theme1.xml><?xml version="1.0" encoding="utf-8"?>
<a:theme xmlns:a="http://schemas.openxmlformats.org/drawingml/2006/main" name="Olympic Analytics">
  <a:themeElements>
    <a:clrScheme name="Olympic Analytics">
      <a:dk1>
        <a:srgbClr val="0A1B3F"/>
      </a:dk1>
      <a:lt1>
        <a:srgbClr val="FFFFFF"/>
      </a:lt1>
      <a:dk2>
        <a:srgbClr val="33415C"/>
      </a:dk2>
      <a:lt2>
        <a:srgbClr val="EEF3FA"/>
      </a:lt2>
      <a:accent1>
        <a:srgbClr val="118DFF"/>
      </a:accent1>
      <a:accent2>
        <a:srgbClr val="12239B"/>
      </a:accent2>
      <a:accent3>
        <a:srgbClr val="E36C37"/>
      </a:accent3>
      <a:accent4>
        <a:srgbClr val="F5B700"/>
      </a:accent4>
      <a:accent5>
        <a:srgbClr val="5B6B8C"/>
      </a:accent5>
      <a:accent6>
        <a:srgbClr val="1FA67A"/>
      </a:accent6>
      <a:hlink>
        <a:srgbClr val="118DFF"/>
      </a:hlink>
      <a:folHlink>
        <a:srgbClr val="5B6B8C"/>
      </a:folHlink>
    </a:clrScheme>
    <a:fontScheme name="Olympic Analytic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Olympic Sports Data Analysis - Final Project Report</dc:title>
  <dc:subject>PptxGenJS Presentation</dc:subject>
  <dc:creator>PptxGenJS</dc:creator>
  <cp:lastModifiedBy>PptxGenJS</cp:lastModifiedBy>
  <cp:revision>1</cp:revision>
  <dcterms:created xsi:type="dcterms:W3CDTF">2026-10-30T16:23:18Z</dcterms:created>
  <dcterms:modified xsi:type="dcterms:W3CDTF">2026-10-30T16:23:18Z</dcterms:modified>
</cp:coreProperties>
</file>
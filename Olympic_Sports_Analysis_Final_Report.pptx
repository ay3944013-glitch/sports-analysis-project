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8.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9.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20.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charts/chart21.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fb0c0b9-2689-1eeb-43b3-44e2f0999184}">
          <p14:sldIdLst>
            <p14:sldId id="256"/>
            <p14:sldId id="257"/>
            <p14:sldId id="258"/>
            <p14:sldId id="259"/>
          </p14:sldIdLst>
        </p14:section>
        <p14:section name="SQL EDA" id="{b63ab20d-5d51-8140-44da-6699ec0208fd}">
          <p14:sldIdLst>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Power BI" id="{63c254f1-a0a3-1d39-6d22-e753040fdc50}">
          <p14:sldIdLst>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Dashboard" id="{ff670a15-d0f5-a344-7563-514a9bada7b1}">
          <p14:sldIdLst>
            <p14:sldId id="298"/>
            <p14:sldId id="299"/>
            <p14:sldId id="300"/>
            <p14:sldId id="301"/>
            <p14:sldId id="302"/>
            <p14:sldId id="303"/>
          </p14:sldIdLst>
        </p14:section>
        <p14:section name="Conclusion" id="{58e7b062-b9a7-dac0-0601-a6bc3dc8b177}">
          <p14:sldIdLst>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Summer vs Winter Olympic Editions Breakdown</a:t>
            </a:r>
          </a:p>
        </c:rich>
      </c:tx>
      <c:layout/>
      <c:overlay val="0"/>
    </c:title>
    <c:autoTitleDeleted val="0"/>
    <c:plotArea>
      <c:layout/>
      <c:barChart>
        <c:barDir val="col"/>
        <c:grouping val="clustered"/>
        <c:varyColors val="0"/>
        <c:ser>
          <c:idx val="0"/>
          <c:order val="0"/>
          <c:tx>
            <c:strRef>
              <c:f>Sheet1!$B$1</c:f>
              <c:strCache>
                <c:ptCount val="1"/>
                <c:pt idx="0">
                  <c:v>games_count</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Sheet1!$A$2:$A$3</c:f>
              <c:multiLvlStrCache>
                <c:ptCount val="2"/>
                <c:lvl>
                  <c:pt idx="0">
                    <c:v>Summer</c:v>
                  </c:pt>
                  <c:pt idx="1">
                    <c:v>Winter</c:v>
                  </c:pt>
                </c:lvl>
              </c:multiLvlStrCache>
            </c:multiLvlStrRef>
          </c:cat>
          <c:val>
            <c:numRef>
              <c:f>Sheet1!$B$2:$B$3</c:f>
              <c:numCache>
                <c:formatCode>General</c:formatCode>
                <c:ptCount val="2"/>
                <c:pt idx="0">
                  <c:v>29</c:v>
                </c:pt>
                <c:pt idx="1">
                  <c:v>22</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Olympic Scale &amp; Participation Growth Over Time</a:t>
            </a:r>
          </a:p>
        </c:rich>
      </c:tx>
      <c:layout/>
      <c:overlay val="0"/>
    </c:title>
    <c:autoTitleDeleted val="0"/>
    <c:plotArea>
      <c:layout/>
      <c:barChart>
        <c:barDir val="col"/>
        <c:grouping val="clustered"/>
        <c:varyColors val="0"/>
        <c:ser>
          <c:idx val="0"/>
          <c:order val="0"/>
          <c:tx>
            <c:strRef>
              <c:f>Sheet1!$B$1</c:f>
              <c:strCache>
                <c:ptCount val="1"/>
                <c:pt idx="0">
                  <c:v>total_events</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Sheet1!$A$2:$A$52</c:f>
              <c:multiLvlStrCache>
                <c:ptCount val="51"/>
                <c:lvl>
                  <c:pt idx="0">
                    <c:v>1896 Summer</c:v>
                  </c:pt>
                  <c:pt idx="1">
                    <c:v>1900 Summer</c:v>
                  </c:pt>
                  <c:pt idx="2">
                    <c:v>1904 Summer</c:v>
                  </c:pt>
                  <c:pt idx="3">
                    <c:v>1906 Summer</c:v>
                  </c:pt>
                  <c:pt idx="4">
                    <c:v>1908 Summer</c:v>
                  </c:pt>
                  <c:pt idx="5">
                    <c:v>1912 Summer</c:v>
                  </c:pt>
                  <c:pt idx="6">
                    <c:v>1920 Summer</c:v>
                  </c:pt>
                  <c:pt idx="7">
                    <c:v>1924 Summer</c:v>
                  </c:pt>
                  <c:pt idx="8">
                    <c:v>1924 Winter</c:v>
                  </c:pt>
                  <c:pt idx="9">
                    <c:v>1928 Summer</c:v>
                  </c:pt>
                  <c:pt idx="10">
                    <c:v>1928 Winter</c:v>
                  </c:pt>
                  <c:pt idx="11">
                    <c:v>1932 Summer</c:v>
                  </c:pt>
                  <c:pt idx="12">
                    <c:v>1932 Winter</c:v>
                  </c:pt>
                  <c:pt idx="13">
                    <c:v>1936 Summer</c:v>
                  </c:pt>
                  <c:pt idx="14">
                    <c:v>1936 Winter</c:v>
                  </c:pt>
                  <c:pt idx="15">
                    <c:v>1948 Summer</c:v>
                  </c:pt>
                  <c:pt idx="16">
                    <c:v>1948 Winter</c:v>
                  </c:pt>
                  <c:pt idx="17">
                    <c:v>1952 Summer</c:v>
                  </c:pt>
                  <c:pt idx="18">
                    <c:v>1952 Winter</c:v>
                  </c:pt>
                  <c:pt idx="19">
                    <c:v>1956 Summer</c:v>
                  </c:pt>
                  <c:pt idx="20">
                    <c:v>1956 Winter</c:v>
                  </c:pt>
                  <c:pt idx="21">
                    <c:v>1960 Summer</c:v>
                  </c:pt>
                  <c:pt idx="22">
                    <c:v>1960 Winter</c:v>
                  </c:pt>
                  <c:pt idx="23">
                    <c:v>1964 Summer</c:v>
                  </c:pt>
                  <c:pt idx="24">
                    <c:v>1964 Winter</c:v>
                  </c:pt>
                  <c:pt idx="25">
                    <c:v>1968 Summer</c:v>
                  </c:pt>
                  <c:pt idx="26">
                    <c:v>1968 Winter</c:v>
                  </c:pt>
                  <c:pt idx="27">
                    <c:v>1972 Summer</c:v>
                  </c:pt>
                  <c:pt idx="28">
                    <c:v>1972 Winter</c:v>
                  </c:pt>
                  <c:pt idx="29">
                    <c:v>1976 Summer</c:v>
                  </c:pt>
                  <c:pt idx="30">
                    <c:v>1976 Winter</c:v>
                  </c:pt>
                  <c:pt idx="31">
                    <c:v>1980 Summer</c:v>
                  </c:pt>
                  <c:pt idx="32">
                    <c:v>1980 Winter</c:v>
                  </c:pt>
                  <c:pt idx="33">
                    <c:v>1984 Summer</c:v>
                  </c:pt>
                  <c:pt idx="34">
                    <c:v>1984 Winter</c:v>
                  </c:pt>
                  <c:pt idx="35">
                    <c:v>1988 Summer</c:v>
                  </c:pt>
                  <c:pt idx="36">
                    <c:v>1988 Winter</c:v>
                  </c:pt>
                  <c:pt idx="37">
                    <c:v>1992 Summer</c:v>
                  </c:pt>
                  <c:pt idx="38">
                    <c:v>1992 Winter</c:v>
                  </c:pt>
                  <c:pt idx="39">
                    <c:v>1994 Winter</c:v>
                  </c:pt>
                  <c:pt idx="40">
                    <c:v>1996 Summer</c:v>
                  </c:pt>
                  <c:pt idx="41">
                    <c:v>1998 Winter</c:v>
                  </c:pt>
                  <c:pt idx="42">
                    <c:v>2000 Summer</c:v>
                  </c:pt>
                  <c:pt idx="43">
                    <c:v>2002 Winter</c:v>
                  </c:pt>
                  <c:pt idx="44">
                    <c:v>2004 Summer</c:v>
                  </c:pt>
                  <c:pt idx="45">
                    <c:v>2006 Winter</c:v>
                  </c:pt>
                  <c:pt idx="46">
                    <c:v>2008 Summer</c:v>
                  </c:pt>
                  <c:pt idx="47">
                    <c:v>2010 Winter</c:v>
                  </c:pt>
                  <c:pt idx="48">
                    <c:v>2012 Summer</c:v>
                  </c:pt>
                  <c:pt idx="49">
                    <c:v>2014 Winter</c:v>
                  </c:pt>
                  <c:pt idx="50">
                    <c:v>2016 Summer</c:v>
                  </c:pt>
                </c:lvl>
              </c:multiLvlStrCache>
            </c:multiLvlStrRef>
          </c:cat>
          <c:val>
            <c:numRef>
              <c:f>Sheet1!$B$2:$B$52</c:f>
              <c:numCache>
                <c:formatCode>General</c:formatCode>
                <c:ptCount val="51"/>
                <c:pt idx="0">
                  <c:v>42</c:v>
                </c:pt>
                <c:pt idx="1">
                  <c:v>90</c:v>
                </c:pt>
                <c:pt idx="2">
                  <c:v>94</c:v>
                </c:pt>
                <c:pt idx="3">
                  <c:v>72</c:v>
                </c:pt>
                <c:pt idx="4">
                  <c:v>109</c:v>
                </c:pt>
                <c:pt idx="5">
                  <c:v>107</c:v>
                </c:pt>
                <c:pt idx="6">
                  <c:v>153</c:v>
                </c:pt>
                <c:pt idx="7">
                  <c:v>131</c:v>
                </c:pt>
                <c:pt idx="8">
                  <c:v>17</c:v>
                </c:pt>
                <c:pt idx="9">
                  <c:v>122</c:v>
                </c:pt>
                <c:pt idx="10">
                  <c:v>14</c:v>
                </c:pt>
                <c:pt idx="11">
                  <c:v>131</c:v>
                </c:pt>
                <c:pt idx="12">
                  <c:v>14</c:v>
                </c:pt>
                <c:pt idx="13">
                  <c:v>150</c:v>
                </c:pt>
                <c:pt idx="14">
                  <c:v>17</c:v>
                </c:pt>
                <c:pt idx="15">
                  <c:v>153</c:v>
                </c:pt>
                <c:pt idx="16">
                  <c:v>22</c:v>
                </c:pt>
                <c:pt idx="17">
                  <c:v>149</c:v>
                </c:pt>
                <c:pt idx="18">
                  <c:v>22</c:v>
                </c:pt>
                <c:pt idx="19">
                  <c:v>151</c:v>
                </c:pt>
                <c:pt idx="20">
                  <c:v>24</c:v>
                </c:pt>
                <c:pt idx="21">
                  <c:v>150</c:v>
                </c:pt>
                <c:pt idx="22">
                  <c:v>27</c:v>
                </c:pt>
                <c:pt idx="23">
                  <c:v>163</c:v>
                </c:pt>
                <c:pt idx="24">
                  <c:v>34</c:v>
                </c:pt>
                <c:pt idx="25">
                  <c:v>172</c:v>
                </c:pt>
                <c:pt idx="26">
                  <c:v>35</c:v>
                </c:pt>
                <c:pt idx="27">
                  <c:v>193</c:v>
                </c:pt>
                <c:pt idx="28">
                  <c:v>35</c:v>
                </c:pt>
                <c:pt idx="29">
                  <c:v>198</c:v>
                </c:pt>
                <c:pt idx="30">
                  <c:v>37</c:v>
                </c:pt>
                <c:pt idx="31">
                  <c:v>203</c:v>
                </c:pt>
                <c:pt idx="32">
                  <c:v>38</c:v>
                </c:pt>
                <c:pt idx="33">
                  <c:v>221</c:v>
                </c:pt>
                <c:pt idx="34">
                  <c:v>39</c:v>
                </c:pt>
                <c:pt idx="35">
                  <c:v>237</c:v>
                </c:pt>
                <c:pt idx="36">
                  <c:v>46</c:v>
                </c:pt>
                <c:pt idx="37">
                  <c:v>257</c:v>
                </c:pt>
                <c:pt idx="38">
                  <c:v>57</c:v>
                </c:pt>
                <c:pt idx="39">
                  <c:v>61</c:v>
                </c:pt>
                <c:pt idx="40">
                  <c:v>271</c:v>
                </c:pt>
                <c:pt idx="41">
                  <c:v>68</c:v>
                </c:pt>
                <c:pt idx="42">
                  <c:v>300</c:v>
                </c:pt>
                <c:pt idx="43">
                  <c:v>78</c:v>
                </c:pt>
                <c:pt idx="44">
                  <c:v>301</c:v>
                </c:pt>
                <c:pt idx="45">
                  <c:v>84</c:v>
                </c:pt>
                <c:pt idx="46">
                  <c:v>302</c:v>
                </c:pt>
                <c:pt idx="47">
                  <c:v>86</c:v>
                </c:pt>
                <c:pt idx="48">
                  <c:v>302</c:v>
                </c:pt>
                <c:pt idx="49">
                  <c:v>98</c:v>
                </c:pt>
                <c:pt idx="50">
                  <c:v>306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lineChart>
        <c:varyColors val="0"/>
        <c:ser>
          <c:idx val="1"/>
          <c:order val="1"/>
          <c:tx>
            <c:strRef>
              <c:f>Sheet1!$C$1</c:f>
              <c:strCache>
                <c:ptCount val="1"/>
                <c:pt idx="0">
                  <c:v>total_athletes</c:v>
                </c:pt>
              </c:strCache>
            </c:strRef>
          </c:tx>
          <c:spPr>
            <a:solidFill>
              <a:srgbClr val="E66C37"/>
            </a:solidFill>
            <a:ln w="25400" cap="flat">
              <a:solidFill>
                <a:srgbClr val="E66C3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6C37"/>
              </a:solidFill>
              <a:ln w="9525" cap="flat">
                <a:solidFill>
                  <a:srgbClr val="E66C37"/>
                </a:solidFill>
                <a:prstDash val="solid"/>
                <a:round/>
              </a:ln>
              <a:effectLst/>
            </c:spPr>
          </c:marker>
          <c:cat>
            <c:multiLvlStrRef>
              <c:f>Sheet1!$A$2:$A$52</c:f>
              <c:multiLvlStrCache>
                <c:ptCount val="51"/>
                <c:lvl>
                  <c:pt idx="0">
                    <c:v>1896 Summer</c:v>
                  </c:pt>
                  <c:pt idx="1">
                    <c:v>1900 Summer</c:v>
                  </c:pt>
                  <c:pt idx="2">
                    <c:v>1904 Summer</c:v>
                  </c:pt>
                  <c:pt idx="3">
                    <c:v>1906 Summer</c:v>
                  </c:pt>
                  <c:pt idx="4">
                    <c:v>1908 Summer</c:v>
                  </c:pt>
                  <c:pt idx="5">
                    <c:v>1912 Summer</c:v>
                  </c:pt>
                  <c:pt idx="6">
                    <c:v>1920 Summer</c:v>
                  </c:pt>
                  <c:pt idx="7">
                    <c:v>1924 Summer</c:v>
                  </c:pt>
                  <c:pt idx="8">
                    <c:v>1924 Winter</c:v>
                  </c:pt>
                  <c:pt idx="9">
                    <c:v>1928 Summer</c:v>
                  </c:pt>
                  <c:pt idx="10">
                    <c:v>1928 Winter</c:v>
                  </c:pt>
                  <c:pt idx="11">
                    <c:v>1932 Summer</c:v>
                  </c:pt>
                  <c:pt idx="12">
                    <c:v>1932 Winter</c:v>
                  </c:pt>
                  <c:pt idx="13">
                    <c:v>1936 Summer</c:v>
                  </c:pt>
                  <c:pt idx="14">
                    <c:v>1936 Winter</c:v>
                  </c:pt>
                  <c:pt idx="15">
                    <c:v>1948 Summer</c:v>
                  </c:pt>
                  <c:pt idx="16">
                    <c:v>1948 Winter</c:v>
                  </c:pt>
                  <c:pt idx="17">
                    <c:v>1952 Summer</c:v>
                  </c:pt>
                  <c:pt idx="18">
                    <c:v>1952 Winter</c:v>
                  </c:pt>
                  <c:pt idx="19">
                    <c:v>1956 Summer</c:v>
                  </c:pt>
                  <c:pt idx="20">
                    <c:v>1956 Winter</c:v>
                  </c:pt>
                  <c:pt idx="21">
                    <c:v>1960 Summer</c:v>
                  </c:pt>
                  <c:pt idx="22">
                    <c:v>1960 Winter</c:v>
                  </c:pt>
                  <c:pt idx="23">
                    <c:v>1964 Summer</c:v>
                  </c:pt>
                  <c:pt idx="24">
                    <c:v>1964 Winter</c:v>
                  </c:pt>
                  <c:pt idx="25">
                    <c:v>1968 Summer</c:v>
                  </c:pt>
                  <c:pt idx="26">
                    <c:v>1968 Winter</c:v>
                  </c:pt>
                  <c:pt idx="27">
                    <c:v>1972 Summer</c:v>
                  </c:pt>
                  <c:pt idx="28">
                    <c:v>1972 Winter</c:v>
                  </c:pt>
                  <c:pt idx="29">
                    <c:v>1976 Summer</c:v>
                  </c:pt>
                  <c:pt idx="30">
                    <c:v>1976 Winter</c:v>
                  </c:pt>
                  <c:pt idx="31">
                    <c:v>1980 Summer</c:v>
                  </c:pt>
                  <c:pt idx="32">
                    <c:v>1980 Winter</c:v>
                  </c:pt>
                  <c:pt idx="33">
                    <c:v>1984 Summer</c:v>
                  </c:pt>
                  <c:pt idx="34">
                    <c:v>1984 Winter</c:v>
                  </c:pt>
                  <c:pt idx="35">
                    <c:v>1988 Summer</c:v>
                  </c:pt>
                  <c:pt idx="36">
                    <c:v>1988 Winter</c:v>
                  </c:pt>
                  <c:pt idx="37">
                    <c:v>1992 Summer</c:v>
                  </c:pt>
                  <c:pt idx="38">
                    <c:v>1992 Winter</c:v>
                  </c:pt>
                  <c:pt idx="39">
                    <c:v>1994 Winter</c:v>
                  </c:pt>
                  <c:pt idx="40">
                    <c:v>1996 Summer</c:v>
                  </c:pt>
                  <c:pt idx="41">
                    <c:v>1998 Winter</c:v>
                  </c:pt>
                  <c:pt idx="42">
                    <c:v>2000 Summer</c:v>
                  </c:pt>
                  <c:pt idx="43">
                    <c:v>2002 Winter</c:v>
                  </c:pt>
                  <c:pt idx="44">
                    <c:v>2004 Summer</c:v>
                  </c:pt>
                  <c:pt idx="45">
                    <c:v>2006 Winter</c:v>
                  </c:pt>
                  <c:pt idx="46">
                    <c:v>2008 Summer</c:v>
                  </c:pt>
                  <c:pt idx="47">
                    <c:v>2010 Winter</c:v>
                  </c:pt>
                  <c:pt idx="48">
                    <c:v>2012 Summer</c:v>
                  </c:pt>
                  <c:pt idx="49">
                    <c:v>2014 Winter</c:v>
                  </c:pt>
                  <c:pt idx="50">
                    <c:v>2016 Summer</c:v>
                  </c:pt>
                </c:lvl>
              </c:multiLvlStrCache>
            </c:multiLvlStrRef>
          </c:cat>
          <c:val>
            <c:numRef>
              <c:f>Sheet1!$C$2:$C$52</c:f>
              <c:numCache>
                <c:formatCode>General</c:formatCode>
                <c:ptCount val="51"/>
                <c:pt idx="0">
                  <c:v>72</c:v>
                </c:pt>
                <c:pt idx="1">
                  <c:v>636</c:v>
                </c:pt>
                <c:pt idx="2">
                  <c:v>496</c:v>
                </c:pt>
                <c:pt idx="3">
                  <c:v>391</c:v>
                </c:pt>
                <c:pt idx="4">
                  <c:v>1529</c:v>
                </c:pt>
                <c:pt idx="5">
                  <c:v>2310</c:v>
                </c:pt>
                <c:pt idx="6">
                  <c:v>2115</c:v>
                </c:pt>
                <c:pt idx="7">
                  <c:v>2547</c:v>
                </c:pt>
                <c:pt idx="8">
                  <c:v>265</c:v>
                </c:pt>
                <c:pt idx="9">
                  <c:v>2598</c:v>
                </c:pt>
                <c:pt idx="10">
                  <c:v>375</c:v>
                </c:pt>
                <c:pt idx="11">
                  <c:v>1666</c:v>
                </c:pt>
                <c:pt idx="12">
                  <c:v>228</c:v>
                </c:pt>
                <c:pt idx="13">
                  <c:v>4306</c:v>
                </c:pt>
                <c:pt idx="14">
                  <c:v>655</c:v>
                </c:pt>
                <c:pt idx="15">
                  <c:v>3501</c:v>
                </c:pt>
                <c:pt idx="16">
                  <c:v>657</c:v>
                </c:pt>
                <c:pt idx="17">
                  <c:v>4715</c:v>
                </c:pt>
                <c:pt idx="18">
                  <c:v>686</c:v>
                </c:pt>
                <c:pt idx="19">
                  <c:v>2858</c:v>
                </c:pt>
                <c:pt idx="20">
                  <c:v>803</c:v>
                </c:pt>
                <c:pt idx="21">
                  <c:v>5212</c:v>
                </c:pt>
                <c:pt idx="22">
                  <c:v>655</c:v>
                </c:pt>
                <c:pt idx="23">
                  <c:v>5066</c:v>
                </c:pt>
                <c:pt idx="24">
                  <c:v>1085</c:v>
                </c:pt>
                <c:pt idx="25">
                  <c:v>5446</c:v>
                </c:pt>
                <c:pt idx="26">
                  <c:v>1143</c:v>
                </c:pt>
                <c:pt idx="27">
                  <c:v>7009</c:v>
                </c:pt>
                <c:pt idx="28">
                  <c:v>994</c:v>
                </c:pt>
                <c:pt idx="29">
                  <c:v>6026</c:v>
                </c:pt>
                <c:pt idx="30">
                  <c:v>1121</c:v>
                </c:pt>
                <c:pt idx="31">
                  <c:v>5091</c:v>
                </c:pt>
                <c:pt idx="32">
                  <c:v>1067</c:v>
                </c:pt>
                <c:pt idx="33">
                  <c:v>6612</c:v>
                </c:pt>
                <c:pt idx="34">
                  <c:v>1264</c:v>
                </c:pt>
                <c:pt idx="35">
                  <c:v>8341</c:v>
                </c:pt>
                <c:pt idx="36">
                  <c:v>1418</c:v>
                </c:pt>
                <c:pt idx="37">
                  <c:v>9327</c:v>
                </c:pt>
                <c:pt idx="38">
                  <c:v>1798</c:v>
                </c:pt>
                <c:pt idx="39">
                  <c:v>1733</c:v>
                </c:pt>
                <c:pt idx="40">
                  <c:v>10319</c:v>
                </c:pt>
                <c:pt idx="41">
                  <c:v>2175</c:v>
                </c:pt>
                <c:pt idx="42">
                  <c:v>10641</c:v>
                </c:pt>
                <c:pt idx="43">
                  <c:v>2395</c:v>
                </c:pt>
                <c:pt idx="44">
                  <c:v>10554</c:v>
                </c:pt>
                <c:pt idx="45">
                  <c:v>2493</c:v>
                </c:pt>
                <c:pt idx="46">
                  <c:v>10895</c:v>
                </c:pt>
                <c:pt idx="47">
                  <c:v>2532</c:v>
                </c:pt>
                <c:pt idx="48">
                  <c:v>10512</c:v>
                </c:pt>
                <c:pt idx="49">
                  <c:v>2743</c:v>
                </c:pt>
                <c:pt idx="50">
                  <c:v>11176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tickLblSkip val="8"/>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valAx>
        <c:axId val="2094734553"/>
        <c:scaling>
          <c:orientation val="minMax"/>
        </c:scaling>
        <c:delete val="0"/>
        <c:axPos val="r"/>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3"/>
        <c:crosses val="autoZero"/>
        <c:auto val="1"/>
        <c:lblAlgn val="ctr"/>
        <c:noMultiLvlLbl val="1"/>
      </c:cat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Participating Country Dips &amp; Historical Olympic Anomalies</a:t>
            </a:r>
          </a:p>
        </c:rich>
      </c:tx>
      <c:layout/>
      <c:overlay val="0"/>
    </c:title>
    <c:autoTitleDeleted val="0"/>
    <c:plotArea>
      <c:layout/>
      <c:barChart>
        <c:barDir val="col"/>
        <c:grouping val="stacked"/>
        <c:varyColors val="0"/>
        <c:ser>
          <c:idx val="0"/>
          <c:order val="0"/>
          <c:tx>
            <c:strRef>
              <c:f>Sheet1!$B$1</c:f>
              <c:strCache>
                <c:ptCount val="1"/>
                <c:pt idx="0">
                  <c:v>participating_countries</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Sheet1!$A$2:$A$52</c:f>
              <c:multiLvlStrCache>
                <c:ptCount val="51"/>
                <c:lvl>
                  <c:pt idx="0">
                    <c:v>1896 Summer</c:v>
                  </c:pt>
                  <c:pt idx="1">
                    <c:v>1900 Summer</c:v>
                  </c:pt>
                  <c:pt idx="2">
                    <c:v>1904 Summer</c:v>
                  </c:pt>
                  <c:pt idx="3">
                    <c:v>1906 Summer</c:v>
                  </c:pt>
                  <c:pt idx="4">
                    <c:v>1908 Summer</c:v>
                  </c:pt>
                  <c:pt idx="5">
                    <c:v>1912 Summer</c:v>
                  </c:pt>
                  <c:pt idx="6">
                    <c:v>1920 Summer</c:v>
                  </c:pt>
                  <c:pt idx="7">
                    <c:v>1924 Winter</c:v>
                  </c:pt>
                  <c:pt idx="8">
                    <c:v>1924 Summer</c:v>
                  </c:pt>
                  <c:pt idx="9">
                    <c:v>1928 Winter</c:v>
                  </c:pt>
                  <c:pt idx="10">
                    <c:v>1928 Summer</c:v>
                  </c:pt>
                  <c:pt idx="11">
                    <c:v>1932 Winter</c:v>
                  </c:pt>
                  <c:pt idx="12">
                    <c:v>1932 Summer</c:v>
                  </c:pt>
                  <c:pt idx="13">
                    <c:v>1936 Winter</c:v>
                  </c:pt>
                  <c:pt idx="14">
                    <c:v>1936 Summer</c:v>
                  </c:pt>
                  <c:pt idx="15">
                    <c:v>1948 Winter</c:v>
                  </c:pt>
                  <c:pt idx="16">
                    <c:v>1948 Summer</c:v>
                  </c:pt>
                  <c:pt idx="17">
                    <c:v>1952 Winter</c:v>
                  </c:pt>
                  <c:pt idx="18">
                    <c:v>1952 Summer</c:v>
                  </c:pt>
                  <c:pt idx="19">
                    <c:v>1956 Winter</c:v>
                  </c:pt>
                  <c:pt idx="20">
                    <c:v>1956 Summer</c:v>
                  </c:pt>
                  <c:pt idx="21">
                    <c:v>1960 Winter</c:v>
                  </c:pt>
                  <c:pt idx="22">
                    <c:v>1960 Summer</c:v>
                  </c:pt>
                  <c:pt idx="23">
                    <c:v>1964 Winter</c:v>
                  </c:pt>
                  <c:pt idx="24">
                    <c:v>1964 Summer</c:v>
                  </c:pt>
                  <c:pt idx="25">
                    <c:v>1968 Winter</c:v>
                  </c:pt>
                  <c:pt idx="26">
                    <c:v>1968 Summer</c:v>
                  </c:pt>
                  <c:pt idx="27">
                    <c:v>1972 Winter</c:v>
                  </c:pt>
                  <c:pt idx="28">
                    <c:v>1972 Summer</c:v>
                  </c:pt>
                  <c:pt idx="29">
                    <c:v>1976 Winter</c:v>
                  </c:pt>
                  <c:pt idx="30">
                    <c:v>1976 Summer</c:v>
                  </c:pt>
                  <c:pt idx="31">
                    <c:v>1980 Winter</c:v>
                  </c:pt>
                  <c:pt idx="32">
                    <c:v>1980 Summer</c:v>
                  </c:pt>
                  <c:pt idx="33">
                    <c:v>1984 Winter</c:v>
                  </c:pt>
                  <c:pt idx="34">
                    <c:v>1984 Summer</c:v>
                  </c:pt>
                  <c:pt idx="35">
                    <c:v>1988 Winter</c:v>
                  </c:pt>
                  <c:pt idx="36">
                    <c:v>1988 Summer</c:v>
                  </c:pt>
                  <c:pt idx="37">
                    <c:v>1992 Winter</c:v>
                  </c:pt>
                  <c:pt idx="38">
                    <c:v>1992 Summer</c:v>
                  </c:pt>
                  <c:pt idx="39">
                    <c:v>1994 Winter</c:v>
                  </c:pt>
                  <c:pt idx="40">
                    <c:v>1996 Summer</c:v>
                  </c:pt>
                  <c:pt idx="41">
                    <c:v>1998 Winter</c:v>
                  </c:pt>
                  <c:pt idx="42">
                    <c:v>2000 Summer</c:v>
                  </c:pt>
                  <c:pt idx="43">
                    <c:v>2002 Winter</c:v>
                  </c:pt>
                  <c:pt idx="44">
                    <c:v>2004 Summer</c:v>
                  </c:pt>
                  <c:pt idx="45">
                    <c:v>2006 Winter</c:v>
                  </c:pt>
                  <c:pt idx="46">
                    <c:v>2008 Summer</c:v>
                  </c:pt>
                  <c:pt idx="47">
                    <c:v>2010 Winter</c:v>
                  </c:pt>
                  <c:pt idx="48">
                    <c:v>2012 Summer</c:v>
                  </c:pt>
                  <c:pt idx="49">
                    <c:v>2014 Winter</c:v>
                  </c:pt>
                  <c:pt idx="50">
                    <c:v>2016 Summer</c:v>
                  </c:pt>
                </c:lvl>
              </c:multiLvlStrCache>
            </c:multiLvlStrRef>
          </c:cat>
          <c:val>
            <c:numRef>
              <c:f>Sheet1!$B$2:$B$52</c:f>
              <c:numCache>
                <c:formatCode>General</c:formatCode>
                <c:ptCount val="51"/>
                <c:pt idx="0">
                  <c:v>11</c:v>
                </c:pt>
                <c:pt idx="1">
                  <c:v>31</c:v>
                </c:pt>
                <c:pt idx="2">
                  <c:v>13</c:v>
                </c:pt>
                <c:pt idx="3">
                  <c:v>22</c:v>
                </c:pt>
                <c:pt idx="4">
                  <c:v>23</c:v>
                </c:pt>
                <c:pt idx="5">
                  <c:v>32</c:v>
                </c:pt>
                <c:pt idx="6">
                  <c:v>31</c:v>
                </c:pt>
                <c:pt idx="7">
                  <c:v>17</c:v>
                </c:pt>
                <c:pt idx="8">
                  <c:v>47</c:v>
                </c:pt>
                <c:pt idx="9">
                  <c:v>25</c:v>
                </c:pt>
                <c:pt idx="10">
                  <c:v>48</c:v>
                </c:pt>
                <c:pt idx="11">
                  <c:v>17</c:v>
                </c:pt>
                <c:pt idx="12">
                  <c:v>44</c:v>
                </c:pt>
                <c:pt idx="13">
                  <c:v>28</c:v>
                </c:pt>
                <c:pt idx="14">
                  <c:v>52</c:v>
                </c:pt>
                <c:pt idx="15">
                  <c:v>28</c:v>
                </c:pt>
                <c:pt idx="16">
                  <c:v>58</c:v>
                </c:pt>
                <c:pt idx="17">
                  <c:v>30</c:v>
                </c:pt>
                <c:pt idx="18">
                  <c:v>71</c:v>
                </c:pt>
                <c:pt idx="19">
                  <c:v>32</c:v>
                </c:pt>
                <c:pt idx="20">
                  <c:v>77</c:v>
                </c:pt>
                <c:pt idx="21">
                  <c:v>32</c:v>
                </c:pt>
                <c:pt idx="22">
                  <c:v>94</c:v>
                </c:pt>
                <c:pt idx="23">
                  <c:v>38</c:v>
                </c:pt>
                <c:pt idx="24">
                  <c:v>99</c:v>
                </c:pt>
                <c:pt idx="25">
                  <c:v>38</c:v>
                </c:pt>
                <c:pt idx="26">
                  <c:v>112</c:v>
                </c:pt>
                <c:pt idx="27">
                  <c:v>36</c:v>
                </c:pt>
                <c:pt idx="28">
                  <c:v>121</c:v>
                </c:pt>
                <c:pt idx="29">
                  <c:v>39</c:v>
                </c:pt>
                <c:pt idx="30">
                  <c:v>98</c:v>
                </c:pt>
                <c:pt idx="31">
                  <c:v>41</c:v>
                </c:pt>
                <c:pt idx="32">
                  <c:v>92</c:v>
                </c:pt>
                <c:pt idx="33">
                  <c:v>58</c:v>
                </c:pt>
                <c:pt idx="34">
                  <c:v>150</c:v>
                </c:pt>
                <c:pt idx="35">
                  <c:v>70</c:v>
                </c:pt>
                <c:pt idx="36">
                  <c:v>181</c:v>
                </c:pt>
                <c:pt idx="37">
                  <c:v>79</c:v>
                </c:pt>
                <c:pt idx="38">
                  <c:v>188</c:v>
                </c:pt>
                <c:pt idx="39">
                  <c:v>74</c:v>
                </c:pt>
                <c:pt idx="40">
                  <c:v>206</c:v>
                </c:pt>
                <c:pt idx="41">
                  <c:v>79</c:v>
                </c:pt>
                <c:pt idx="42">
                  <c:v>209</c:v>
                </c:pt>
                <c:pt idx="43">
                  <c:v>85</c:v>
                </c:pt>
                <c:pt idx="44">
                  <c:v>210</c:v>
                </c:pt>
                <c:pt idx="45">
                  <c:v>87</c:v>
                </c:pt>
                <c:pt idx="46">
                  <c:v>212</c:v>
                </c:pt>
                <c:pt idx="47">
                  <c:v>85</c:v>
                </c:pt>
                <c:pt idx="48">
                  <c:v>215</c:v>
                </c:pt>
                <c:pt idx="49">
                  <c:v>91</c:v>
                </c:pt>
                <c:pt idx="50">
                  <c:v>213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Emerging Olympic Sports Introduced Since 2000</a:t>
            </a:r>
          </a:p>
        </c:rich>
      </c:tx>
      <c:layout/>
      <c:overlay val="0"/>
    </c:title>
    <c:autoTitleDeleted val="0"/>
    <c:plotArea>
      <c:layout/>
      <c:barChart>
        <c:barDir val="bar"/>
        <c:grouping val="clustered"/>
        <c:varyColors val="0"/>
        <c:ser>
          <c:idx val="0"/>
          <c:order val="0"/>
          <c:tx>
            <c:strRef>
              <c:f>Sheet1!$B$1</c:f>
              <c:strCache>
                <c:ptCount val="1"/>
                <c:pt idx="0">
                  <c:v>first_appearance_year</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Triathlon</c:v>
                  </c:pt>
                  <c:pt idx="1">
                    <c:v>Trampolining</c:v>
                  </c:pt>
                  <c:pt idx="2">
                    <c:v>Taekwondo</c:v>
                  </c:pt>
                  <c:pt idx="3">
                    <c:v>Rugby Sevens</c:v>
                  </c:pt>
                </c:lvl>
              </c:multiLvlStrCache>
            </c:multiLvlStrRef>
          </c:cat>
          <c:val>
            <c:numRef>
              <c:f>Sheet1!$B$2:$B$5</c:f>
              <c:numCache>
                <c:formatCode>General</c:formatCode>
                <c:ptCount val="4"/>
                <c:pt idx="0">
                  <c:v>2000</c:v>
                </c:pt>
                <c:pt idx="1">
                  <c:v>2000</c:v>
                </c:pt>
                <c:pt idx="2">
                  <c:v>2000</c:v>
                </c:pt>
                <c:pt idx="3">
                  <c:v>2016</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Popularity &amp; Participation Trends Across Core Olympic Sports</a:t>
            </a:r>
          </a:p>
        </c:rich>
      </c:tx>
      <c:layout/>
      <c:overlay val="0"/>
    </c:title>
    <c:autoTitleDeleted val="0"/>
    <c:plotArea>
      <c:layout/>
      <c:lineChart>
        <c:varyColors val="0"/>
        <c:ser>
          <c:idx val="0"/>
          <c:order val="0"/>
          <c:tx>
            <c:strRef>
              <c:f>Sheet1!$B$1</c:f>
              <c:strCache>
                <c:ptCount val="1"/>
                <c:pt idx="0">
                  <c:v>Athletics</c:v>
                </c:pt>
              </c:strCache>
            </c:strRef>
          </c:tx>
          <c:spPr>
            <a:solidFill>
              <a:srgbClr val="118DFF"/>
            </a:solidFill>
            <a:ln w="25400" cap="flat">
              <a:solidFill>
                <a:srgbClr val="118D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18DFF"/>
              </a:solidFill>
              <a:ln w="9525" cap="flat">
                <a:solidFill>
                  <a:srgbClr val="118DFF"/>
                </a:solidFill>
                <a:prstDash val="solid"/>
                <a:round/>
              </a:ln>
              <a:effectLst/>
            </c:spPr>
          </c:marker>
          <c:cat>
            <c:multiLvlStrRef>
              <c:f>Sheet1!$A$2:$A$30</c:f>
              <c:multiLvlStrCache>
                <c:ptCount val="29"/>
                <c:lvl>
                  <c:pt idx="0">
                    <c:v>1896</c:v>
                  </c:pt>
                  <c:pt idx="1">
                    <c:v>1900</c:v>
                  </c:pt>
                  <c:pt idx="2">
                    <c:v>1904</c:v>
                  </c:pt>
                  <c:pt idx="3">
                    <c:v>1906</c:v>
                  </c:pt>
                  <c:pt idx="4">
                    <c:v>1908</c:v>
                  </c:pt>
                  <c:pt idx="5">
                    <c:v>1912</c:v>
                  </c:pt>
                  <c:pt idx="6">
                    <c:v>1920</c:v>
                  </c:pt>
                  <c:pt idx="7">
                    <c:v>1924</c:v>
                  </c:pt>
                  <c:pt idx="8">
                    <c:v>1928</c:v>
                  </c:pt>
                  <c:pt idx="9">
                    <c:v>1932</c:v>
                  </c:pt>
                  <c:pt idx="10">
                    <c:v>1936</c:v>
                  </c:pt>
                  <c:pt idx="11">
                    <c:v>1948</c:v>
                  </c:pt>
                  <c:pt idx="12">
                    <c:v>1952</c:v>
                  </c:pt>
                  <c:pt idx="13">
                    <c:v>1956</c:v>
                  </c:pt>
                  <c:pt idx="14">
                    <c:v>1960</c:v>
                  </c:pt>
                  <c:pt idx="15">
                    <c:v>1964</c:v>
                  </c:pt>
                  <c:pt idx="16">
                    <c:v>1968</c:v>
                  </c:pt>
                  <c:pt idx="17">
                    <c:v>1972</c:v>
                  </c:pt>
                  <c:pt idx="18">
                    <c:v>1976</c:v>
                  </c:pt>
                  <c:pt idx="19">
                    <c:v>1980</c:v>
                  </c:pt>
                  <c:pt idx="20">
                    <c:v>1984</c:v>
                  </c:pt>
                  <c:pt idx="21">
                    <c:v>1988</c:v>
                  </c:pt>
                  <c:pt idx="22">
                    <c:v>1992</c:v>
                  </c:pt>
                  <c:pt idx="23">
                    <c:v>1996</c:v>
                  </c:pt>
                  <c:pt idx="24">
                    <c:v>2000</c:v>
                  </c:pt>
                  <c:pt idx="25">
                    <c:v>2004</c:v>
                  </c:pt>
                  <c:pt idx="26">
                    <c:v>2008</c:v>
                  </c:pt>
                  <c:pt idx="27">
                    <c:v>2012</c:v>
                  </c:pt>
                  <c:pt idx="28">
                    <c:v>2016</c:v>
                  </c:pt>
                </c:lvl>
              </c:multiLvlStrCache>
            </c:multiLvlStrRef>
          </c:cat>
          <c:val>
            <c:numRef>
              <c:f>Sheet1!$B$2:$B$30</c:f>
              <c:numCache>
                <c:formatCode>General</c:formatCode>
                <c:ptCount val="29"/>
                <c:pt idx="0">
                  <c:v>34</c:v>
                </c:pt>
                <c:pt idx="1">
                  <c:v>102</c:v>
                </c:pt>
                <c:pt idx="2">
                  <c:v>94</c:v>
                </c:pt>
                <c:pt idx="3">
                  <c:v>131</c:v>
                </c:pt>
                <c:pt idx="4">
                  <c:v>374</c:v>
                </c:pt>
                <c:pt idx="5">
                  <c:v>523</c:v>
                </c:pt>
                <c:pt idx="6">
                  <c:v>436</c:v>
                </c:pt>
                <c:pt idx="7">
                  <c:v>575</c:v>
                </c:pt>
                <c:pt idx="8">
                  <c:v>624</c:v>
                </c:pt>
                <c:pt idx="9">
                  <c:v>349</c:v>
                </c:pt>
                <c:pt idx="10">
                  <c:v>762</c:v>
                </c:pt>
                <c:pt idx="11">
                  <c:v>681</c:v>
                </c:pt>
                <c:pt idx="12">
                  <c:v>942</c:v>
                </c:pt>
                <c:pt idx="13">
                  <c:v>668</c:v>
                </c:pt>
                <c:pt idx="14">
                  <c:v>989</c:v>
                </c:pt>
                <c:pt idx="15">
                  <c:v>999</c:v>
                </c:pt>
                <c:pt idx="16">
                  <c:v>1005</c:v>
                </c:pt>
                <c:pt idx="17">
                  <c:v>1305</c:v>
                </c:pt>
                <c:pt idx="18">
                  <c:v>996</c:v>
                </c:pt>
                <c:pt idx="19">
                  <c:v>924</c:v>
                </c:pt>
                <c:pt idx="20">
                  <c:v>1244</c:v>
                </c:pt>
                <c:pt idx="21">
                  <c:v>1589</c:v>
                </c:pt>
                <c:pt idx="22">
                  <c:v>1705</c:v>
                </c:pt>
                <c:pt idx="23">
                  <c:v>2048</c:v>
                </c:pt>
                <c:pt idx="24">
                  <c:v>2136</c:v>
                </c:pt>
                <c:pt idx="25">
                  <c:v>1994</c:v>
                </c:pt>
                <c:pt idx="26">
                  <c:v>2055</c:v>
                </c:pt>
                <c:pt idx="27">
                  <c:v>2077</c:v>
                </c:pt>
                <c:pt idx="28">
                  <c:v>2268</c:v>
                </c:pt>
              </c:numCache>
            </c:numRef>
          </c:val>
          <c:smooth val="0"/>
        </c:ser>
        <c:ser>
          <c:idx val="1"/>
          <c:order val="1"/>
          <c:tx>
            <c:strRef>
              <c:f>Sheet1!$C$1</c:f>
              <c:strCache>
                <c:ptCount val="1"/>
                <c:pt idx="0">
                  <c:v>Cycling</c:v>
                </c:pt>
              </c:strCache>
            </c:strRef>
          </c:tx>
          <c:spPr>
            <a:solidFill>
              <a:srgbClr val="10239E"/>
            </a:solidFill>
            <a:ln w="25400" cap="flat">
              <a:solidFill>
                <a:srgbClr val="1023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0239E"/>
              </a:solidFill>
              <a:ln w="9525" cap="flat">
                <a:solidFill>
                  <a:srgbClr val="10239E"/>
                </a:solidFill>
                <a:prstDash val="solid"/>
                <a:round/>
              </a:ln>
              <a:effectLst/>
            </c:spPr>
          </c:marker>
          <c:cat>
            <c:multiLvlStrRef>
              <c:f>Sheet1!$A$2:$A$30</c:f>
              <c:multiLvlStrCache>
                <c:ptCount val="29"/>
                <c:lvl>
                  <c:pt idx="0">
                    <c:v>1896</c:v>
                  </c:pt>
                  <c:pt idx="1">
                    <c:v>1900</c:v>
                  </c:pt>
                  <c:pt idx="2">
                    <c:v>1904</c:v>
                  </c:pt>
                  <c:pt idx="3">
                    <c:v>1906</c:v>
                  </c:pt>
                  <c:pt idx="4">
                    <c:v>1908</c:v>
                  </c:pt>
                  <c:pt idx="5">
                    <c:v>1912</c:v>
                  </c:pt>
                  <c:pt idx="6">
                    <c:v>1920</c:v>
                  </c:pt>
                  <c:pt idx="7">
                    <c:v>1924</c:v>
                  </c:pt>
                  <c:pt idx="8">
                    <c:v>1928</c:v>
                  </c:pt>
                  <c:pt idx="9">
                    <c:v>1932</c:v>
                  </c:pt>
                  <c:pt idx="10">
                    <c:v>1936</c:v>
                  </c:pt>
                  <c:pt idx="11">
                    <c:v>1948</c:v>
                  </c:pt>
                  <c:pt idx="12">
                    <c:v>1952</c:v>
                  </c:pt>
                  <c:pt idx="13">
                    <c:v>1956</c:v>
                  </c:pt>
                  <c:pt idx="14">
                    <c:v>1960</c:v>
                  </c:pt>
                  <c:pt idx="15">
                    <c:v>1964</c:v>
                  </c:pt>
                  <c:pt idx="16">
                    <c:v>1968</c:v>
                  </c:pt>
                  <c:pt idx="17">
                    <c:v>1972</c:v>
                  </c:pt>
                  <c:pt idx="18">
                    <c:v>1976</c:v>
                  </c:pt>
                  <c:pt idx="19">
                    <c:v>1980</c:v>
                  </c:pt>
                  <c:pt idx="20">
                    <c:v>1984</c:v>
                  </c:pt>
                  <c:pt idx="21">
                    <c:v>1988</c:v>
                  </c:pt>
                  <c:pt idx="22">
                    <c:v>1992</c:v>
                  </c:pt>
                  <c:pt idx="23">
                    <c:v>1996</c:v>
                  </c:pt>
                  <c:pt idx="24">
                    <c:v>2000</c:v>
                  </c:pt>
                  <c:pt idx="25">
                    <c:v>2004</c:v>
                  </c:pt>
                  <c:pt idx="26">
                    <c:v>2008</c:v>
                  </c:pt>
                  <c:pt idx="27">
                    <c:v>2012</c:v>
                  </c:pt>
                  <c:pt idx="28">
                    <c:v>2016</c:v>
                  </c:pt>
                </c:lvl>
              </c:multiLvlStrCache>
            </c:multiLvlStrRef>
          </c:cat>
          <c:val>
            <c:numRef>
              <c:f>Sheet1!$C$2:$C$30</c:f>
              <c:numCache>
                <c:formatCode>General</c:formatCode>
                <c:ptCount val="29"/>
                <c:pt idx="0">
                  <c:v>7</c:v>
                </c:pt>
                <c:pt idx="1">
                  <c:v>24</c:v>
                </c:pt>
                <c:pt idx="2">
                  <c:v>14</c:v>
                </c:pt>
                <c:pt idx="3">
                  <c:v>18</c:v>
                </c:pt>
                <c:pt idx="4">
                  <c:v>51</c:v>
                </c:pt>
                <c:pt idx="5">
                  <c:v>119</c:v>
                </c:pt>
                <c:pt idx="6">
                  <c:v>73</c:v>
                </c:pt>
                <c:pt idx="7">
                  <c:v>86</c:v>
                </c:pt>
                <c:pt idx="8">
                  <c:v>110</c:v>
                </c:pt>
                <c:pt idx="9">
                  <c:v>61</c:v>
                </c:pt>
                <c:pt idx="10">
                  <c:v>174</c:v>
                </c:pt>
                <c:pt idx="11">
                  <c:v>157</c:v>
                </c:pt>
                <c:pt idx="12">
                  <c:v>205</c:v>
                </c:pt>
                <c:pt idx="13">
                  <c:v>131</c:v>
                </c:pt>
                <c:pt idx="14">
                  <c:v>290</c:v>
                </c:pt>
                <c:pt idx="15">
                  <c:v>295</c:v>
                </c:pt>
                <c:pt idx="16">
                  <c:v>325</c:v>
                </c:pt>
                <c:pt idx="17">
                  <c:v>359</c:v>
                </c:pt>
                <c:pt idx="18">
                  <c:v>289</c:v>
                </c:pt>
                <c:pt idx="19">
                  <c:v>221</c:v>
                </c:pt>
                <c:pt idx="20">
                  <c:v>348</c:v>
                </c:pt>
                <c:pt idx="21">
                  <c:v>414</c:v>
                </c:pt>
                <c:pt idx="22">
                  <c:v>442</c:v>
                </c:pt>
                <c:pt idx="23">
                  <c:v>477</c:v>
                </c:pt>
                <c:pt idx="24">
                  <c:v>461</c:v>
                </c:pt>
                <c:pt idx="25">
                  <c:v>464</c:v>
                </c:pt>
                <c:pt idx="26">
                  <c:v>508</c:v>
                </c:pt>
                <c:pt idx="27">
                  <c:v>501</c:v>
                </c:pt>
                <c:pt idx="28">
                  <c:v>513</c:v>
                </c:pt>
              </c:numCache>
            </c:numRef>
          </c:val>
          <c:smooth val="0"/>
        </c:ser>
        <c:ser>
          <c:idx val="2"/>
          <c:order val="2"/>
          <c:tx>
            <c:strRef>
              <c:f>Sheet1!$D$1</c:f>
              <c:strCache>
                <c:ptCount val="1"/>
                <c:pt idx="0">
                  <c:v>Football</c:v>
                </c:pt>
              </c:strCache>
            </c:strRef>
          </c:tx>
          <c:spPr>
            <a:solidFill>
              <a:srgbClr val="E66C37"/>
            </a:solidFill>
            <a:ln w="25400" cap="flat">
              <a:solidFill>
                <a:srgbClr val="E66C3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66C37"/>
              </a:solidFill>
              <a:ln w="9525" cap="flat">
                <a:solidFill>
                  <a:srgbClr val="E66C37"/>
                </a:solidFill>
                <a:prstDash val="solid"/>
                <a:round/>
              </a:ln>
              <a:effectLst/>
            </c:spPr>
          </c:marker>
          <c:cat>
            <c:multiLvlStrRef>
              <c:f>Sheet1!$A$2:$A$30</c:f>
              <c:multiLvlStrCache>
                <c:ptCount val="29"/>
                <c:lvl>
                  <c:pt idx="0">
                    <c:v>1896</c:v>
                  </c:pt>
                  <c:pt idx="1">
                    <c:v>1900</c:v>
                  </c:pt>
                  <c:pt idx="2">
                    <c:v>1904</c:v>
                  </c:pt>
                  <c:pt idx="3">
                    <c:v>1906</c:v>
                  </c:pt>
                  <c:pt idx="4">
                    <c:v>1908</c:v>
                  </c:pt>
                  <c:pt idx="5">
                    <c:v>1912</c:v>
                  </c:pt>
                  <c:pt idx="6">
                    <c:v>1920</c:v>
                  </c:pt>
                  <c:pt idx="7">
                    <c:v>1924</c:v>
                  </c:pt>
                  <c:pt idx="8">
                    <c:v>1928</c:v>
                  </c:pt>
                  <c:pt idx="9">
                    <c:v>1932</c:v>
                  </c:pt>
                  <c:pt idx="10">
                    <c:v>1936</c:v>
                  </c:pt>
                  <c:pt idx="11">
                    <c:v>1948</c:v>
                  </c:pt>
                  <c:pt idx="12">
                    <c:v>1952</c:v>
                  </c:pt>
                  <c:pt idx="13">
                    <c:v>1956</c:v>
                  </c:pt>
                  <c:pt idx="14">
                    <c:v>1960</c:v>
                  </c:pt>
                  <c:pt idx="15">
                    <c:v>1964</c:v>
                  </c:pt>
                  <c:pt idx="16">
                    <c:v>1968</c:v>
                  </c:pt>
                  <c:pt idx="17">
                    <c:v>1972</c:v>
                  </c:pt>
                  <c:pt idx="18">
                    <c:v>1976</c:v>
                  </c:pt>
                  <c:pt idx="19">
                    <c:v>1980</c:v>
                  </c:pt>
                  <c:pt idx="20">
                    <c:v>1984</c:v>
                  </c:pt>
                  <c:pt idx="21">
                    <c:v>1988</c:v>
                  </c:pt>
                  <c:pt idx="22">
                    <c:v>1992</c:v>
                  </c:pt>
                  <c:pt idx="23">
                    <c:v>1996</c:v>
                  </c:pt>
                  <c:pt idx="24">
                    <c:v>2000</c:v>
                  </c:pt>
                  <c:pt idx="25">
                    <c:v>2004</c:v>
                  </c:pt>
                  <c:pt idx="26">
                    <c:v>2008</c:v>
                  </c:pt>
                  <c:pt idx="27">
                    <c:v>2012</c:v>
                  </c:pt>
                  <c:pt idx="28">
                    <c:v>2016</c:v>
                  </c:pt>
                </c:lvl>
              </c:multiLvlStrCache>
            </c:multiLvlStrRef>
          </c:cat>
          <c:val>
            <c:numRef>
              <c:f>Sheet1!$D$2:$D$30</c:f>
              <c:numCache>
                <c:formatCode>General</c:formatCode>
                <c:ptCount val="29"/>
                <c:pt idx="0">
                  <c:v>16</c:v>
                </c:pt>
                <c:pt idx="1">
                  <c:v>32</c:v>
                </c:pt>
                <c:pt idx="2">
                  <c:v>18</c:v>
                </c:pt>
                <c:pt idx="3">
                  <c:v>63</c:v>
                </c:pt>
                <c:pt idx="4">
                  <c:v>157</c:v>
                </c:pt>
                <c:pt idx="5">
                  <c:v>168</c:v>
                </c:pt>
                <c:pt idx="6">
                  <c:v>244</c:v>
                </c:pt>
                <c:pt idx="7">
                  <c:v>191</c:v>
                </c:pt>
                <c:pt idx="8">
                  <c:v>201</c:v>
                </c:pt>
                <c:pt idx="9">
                  <c:v>153</c:v>
                </c:pt>
                <c:pt idx="10">
                  <c:v>274</c:v>
                </c:pt>
                <c:pt idx="11">
                  <c:v>113</c:v>
                </c:pt>
                <c:pt idx="12">
                  <c:v>222</c:v>
                </c:pt>
                <c:pt idx="13">
                  <c:v>204</c:v>
                </c:pt>
                <c:pt idx="14">
                  <c:v>250</c:v>
                </c:pt>
                <c:pt idx="15">
                  <c:v>235</c:v>
                </c:pt>
                <c:pt idx="16">
                  <c:v>202</c:v>
                </c:pt>
                <c:pt idx="17">
                  <c:v>242</c:v>
                </c:pt>
                <c:pt idx="18">
                  <c:v>225</c:v>
                </c:pt>
                <c:pt idx="19">
                  <c:v>270</c:v>
                </c:pt>
                <c:pt idx="20">
                  <c:v>272</c:v>
                </c:pt>
                <c:pt idx="21">
                  <c:v>387</c:v>
                </c:pt>
                <c:pt idx="22">
                  <c:v>390</c:v>
                </c:pt>
                <c:pt idx="23">
                  <c:v>424</c:v>
                </c:pt>
                <c:pt idx="24">
                  <c:v>469</c:v>
                </c:pt>
                <c:pt idx="25">
                  <c:v>467</c:v>
                </c:pt>
                <c:pt idx="26">
                  <c:v>473</c:v>
                </c:pt>
              </c:numCache>
            </c:numRef>
          </c:val>
          <c:smooth val="0"/>
        </c:ser>
        <c:ser>
          <c:idx val="3"/>
          <c:order val="3"/>
          <c:tx>
            <c:strRef>
              <c:f>Sheet1!$E$1</c:f>
              <c:strCache>
                <c:ptCount val="1"/>
                <c:pt idx="0">
                  <c:v>Gymnastics</c:v>
                </c:pt>
              </c:strCache>
            </c:strRef>
          </c:tx>
          <c:spPr>
            <a:solidFill>
              <a:srgbClr val="F2B600"/>
            </a:solidFill>
            <a:ln w="25400" cap="flat">
              <a:solidFill>
                <a:srgbClr val="F2B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B600"/>
              </a:solidFill>
              <a:ln w="9525" cap="flat">
                <a:solidFill>
                  <a:srgbClr val="F2B600"/>
                </a:solidFill>
                <a:prstDash val="solid"/>
                <a:round/>
              </a:ln>
              <a:effectLst/>
            </c:spPr>
          </c:marker>
          <c:cat>
            <c:multiLvlStrRef>
              <c:f>Sheet1!$A$2:$A$30</c:f>
              <c:multiLvlStrCache>
                <c:ptCount val="29"/>
                <c:lvl>
                  <c:pt idx="0">
                    <c:v>1896</c:v>
                  </c:pt>
                  <c:pt idx="1">
                    <c:v>1900</c:v>
                  </c:pt>
                  <c:pt idx="2">
                    <c:v>1904</c:v>
                  </c:pt>
                  <c:pt idx="3">
                    <c:v>1906</c:v>
                  </c:pt>
                  <c:pt idx="4">
                    <c:v>1908</c:v>
                  </c:pt>
                  <c:pt idx="5">
                    <c:v>1912</c:v>
                  </c:pt>
                  <c:pt idx="6">
                    <c:v>1920</c:v>
                  </c:pt>
                  <c:pt idx="7">
                    <c:v>1924</c:v>
                  </c:pt>
                  <c:pt idx="8">
                    <c:v>1928</c:v>
                  </c:pt>
                  <c:pt idx="9">
                    <c:v>1932</c:v>
                  </c:pt>
                  <c:pt idx="10">
                    <c:v>1936</c:v>
                  </c:pt>
                  <c:pt idx="11">
                    <c:v>1948</c:v>
                  </c:pt>
                  <c:pt idx="12">
                    <c:v>1952</c:v>
                  </c:pt>
                  <c:pt idx="13">
                    <c:v>1956</c:v>
                  </c:pt>
                  <c:pt idx="14">
                    <c:v>1960</c:v>
                  </c:pt>
                  <c:pt idx="15">
                    <c:v>1964</c:v>
                  </c:pt>
                  <c:pt idx="16">
                    <c:v>1968</c:v>
                  </c:pt>
                  <c:pt idx="17">
                    <c:v>1972</c:v>
                  </c:pt>
                  <c:pt idx="18">
                    <c:v>1976</c:v>
                  </c:pt>
                  <c:pt idx="19">
                    <c:v>1980</c:v>
                  </c:pt>
                  <c:pt idx="20">
                    <c:v>1984</c:v>
                  </c:pt>
                  <c:pt idx="21">
                    <c:v>1988</c:v>
                  </c:pt>
                  <c:pt idx="22">
                    <c:v>1992</c:v>
                  </c:pt>
                  <c:pt idx="23">
                    <c:v>1996</c:v>
                  </c:pt>
                  <c:pt idx="24">
                    <c:v>2000</c:v>
                  </c:pt>
                  <c:pt idx="25">
                    <c:v>2004</c:v>
                  </c:pt>
                  <c:pt idx="26">
                    <c:v>2008</c:v>
                  </c:pt>
                  <c:pt idx="27">
                    <c:v>2012</c:v>
                  </c:pt>
                  <c:pt idx="28">
                    <c:v>2016</c:v>
                  </c:pt>
                </c:lvl>
              </c:multiLvlStrCache>
            </c:multiLvlStrRef>
          </c:cat>
          <c:val>
            <c:numRef>
              <c:f>Sheet1!$E$2:$E$30</c:f>
              <c:numCache>
                <c:formatCode>General</c:formatCode>
                <c:ptCount val="29"/>
                <c:pt idx="0">
                  <c:v>17</c:v>
                </c:pt>
                <c:pt idx="1">
                  <c:v>33</c:v>
                </c:pt>
                <c:pt idx="2">
                  <c:v>82</c:v>
                </c:pt>
                <c:pt idx="3">
                  <c:v>51</c:v>
                </c:pt>
                <c:pt idx="4">
                  <c:v>216</c:v>
                </c:pt>
                <c:pt idx="5">
                  <c:v>249</c:v>
                </c:pt>
                <c:pt idx="6">
                  <c:v>196</c:v>
                </c:pt>
                <c:pt idx="7">
                  <c:v>56</c:v>
                </c:pt>
                <c:pt idx="8">
                  <c:v>111</c:v>
                </c:pt>
                <c:pt idx="9">
                  <c:v>42</c:v>
                </c:pt>
                <c:pt idx="10">
                  <c:v>175</c:v>
                </c:pt>
                <c:pt idx="11">
                  <c:v>171</c:v>
                </c:pt>
                <c:pt idx="12">
                  <c:v>308</c:v>
                </c:pt>
                <c:pt idx="13">
                  <c:v>120</c:v>
                </c:pt>
                <c:pt idx="14">
                  <c:v>240</c:v>
                </c:pt>
                <c:pt idx="15">
                  <c:v>212</c:v>
                </c:pt>
                <c:pt idx="16">
                  <c:v>216</c:v>
                </c:pt>
                <c:pt idx="17">
                  <c:v>229</c:v>
                </c:pt>
                <c:pt idx="18">
                  <c:v>176</c:v>
                </c:pt>
                <c:pt idx="19">
                  <c:v>127</c:v>
                </c:pt>
                <c:pt idx="20">
                  <c:v>136</c:v>
                </c:pt>
                <c:pt idx="21">
                  <c:v>179</c:v>
                </c:pt>
                <c:pt idx="22">
                  <c:v>185</c:v>
                </c:pt>
                <c:pt idx="23">
                  <c:v>216</c:v>
                </c:pt>
                <c:pt idx="24">
                  <c:v>194</c:v>
                </c:pt>
                <c:pt idx="25">
                  <c:v>196</c:v>
                </c:pt>
                <c:pt idx="26">
                  <c:v>195</c:v>
                </c:pt>
                <c:pt idx="27">
                  <c:v>195</c:v>
                </c:pt>
                <c:pt idx="28">
                  <c:v>196</c:v>
                </c:pt>
              </c:numCache>
            </c:numRef>
          </c:val>
          <c:smooth val="0"/>
        </c:ser>
        <c:ser>
          <c:idx val="4"/>
          <c:order val="4"/>
          <c:tx>
            <c:strRef>
              <c:f>Sheet1!$F$1</c:f>
              <c:strCache>
                <c:ptCount val="1"/>
                <c:pt idx="0">
                  <c:v>Swimming</c:v>
                </c:pt>
              </c:strCache>
            </c:strRef>
          </c:tx>
          <c:spPr>
            <a:solidFill>
              <a:srgbClr val="2BB673"/>
            </a:solidFill>
            <a:ln w="25400" cap="flat">
              <a:solidFill>
                <a:srgbClr val="2BB6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BB673"/>
              </a:solidFill>
              <a:ln w="9525" cap="flat">
                <a:solidFill>
                  <a:srgbClr val="2BB673"/>
                </a:solidFill>
                <a:prstDash val="solid"/>
                <a:round/>
              </a:ln>
              <a:effectLst/>
            </c:spPr>
          </c:marker>
          <c:cat>
            <c:multiLvlStrRef>
              <c:f>Sheet1!$A$2:$A$30</c:f>
              <c:multiLvlStrCache>
                <c:ptCount val="29"/>
                <c:lvl>
                  <c:pt idx="0">
                    <c:v>1896</c:v>
                  </c:pt>
                  <c:pt idx="1">
                    <c:v>1900</c:v>
                  </c:pt>
                  <c:pt idx="2">
                    <c:v>1904</c:v>
                  </c:pt>
                  <c:pt idx="3">
                    <c:v>1906</c:v>
                  </c:pt>
                  <c:pt idx="4">
                    <c:v>1908</c:v>
                  </c:pt>
                  <c:pt idx="5">
                    <c:v>1912</c:v>
                  </c:pt>
                  <c:pt idx="6">
                    <c:v>1920</c:v>
                  </c:pt>
                  <c:pt idx="7">
                    <c:v>1924</c:v>
                  </c:pt>
                  <c:pt idx="8">
                    <c:v>1928</c:v>
                  </c:pt>
                  <c:pt idx="9">
                    <c:v>1932</c:v>
                  </c:pt>
                  <c:pt idx="10">
                    <c:v>1936</c:v>
                  </c:pt>
                  <c:pt idx="11">
                    <c:v>1948</c:v>
                  </c:pt>
                  <c:pt idx="12">
                    <c:v>1952</c:v>
                  </c:pt>
                  <c:pt idx="13">
                    <c:v>1956</c:v>
                  </c:pt>
                  <c:pt idx="14">
                    <c:v>1960</c:v>
                  </c:pt>
                  <c:pt idx="15">
                    <c:v>1964</c:v>
                  </c:pt>
                  <c:pt idx="16">
                    <c:v>1968</c:v>
                  </c:pt>
                  <c:pt idx="17">
                    <c:v>1972</c:v>
                  </c:pt>
                  <c:pt idx="18">
                    <c:v>1976</c:v>
                  </c:pt>
                  <c:pt idx="19">
                    <c:v>1980</c:v>
                  </c:pt>
                  <c:pt idx="20">
                    <c:v>1984</c:v>
                  </c:pt>
                  <c:pt idx="21">
                    <c:v>1988</c:v>
                  </c:pt>
                  <c:pt idx="22">
                    <c:v>1992</c:v>
                  </c:pt>
                  <c:pt idx="23">
                    <c:v>1996</c:v>
                  </c:pt>
                  <c:pt idx="24">
                    <c:v>2000</c:v>
                  </c:pt>
                  <c:pt idx="25">
                    <c:v>2004</c:v>
                  </c:pt>
                  <c:pt idx="26">
                    <c:v>2008</c:v>
                  </c:pt>
                  <c:pt idx="27">
                    <c:v>2012</c:v>
                  </c:pt>
                  <c:pt idx="28">
                    <c:v>2016</c:v>
                  </c:pt>
                </c:lvl>
              </c:multiLvlStrCache>
            </c:multiLvlStrRef>
          </c:cat>
          <c:val>
            <c:numRef>
              <c:f>Sheet1!$F$2:$F$30</c:f>
              <c:numCache>
                <c:formatCode>General</c:formatCode>
                <c:ptCount val="29"/>
                <c:pt idx="0">
                  <c:v>4</c:v>
                </c:pt>
                <c:pt idx="1">
                  <c:v>33</c:v>
                </c:pt>
                <c:pt idx="2">
                  <c:v>28</c:v>
                </c:pt>
                <c:pt idx="3">
                  <c:v>30</c:v>
                </c:pt>
                <c:pt idx="4">
                  <c:v>80</c:v>
                </c:pt>
                <c:pt idx="5">
                  <c:v>118</c:v>
                </c:pt>
                <c:pt idx="6">
                  <c:v>86</c:v>
                </c:pt>
                <c:pt idx="7">
                  <c:v>138</c:v>
                </c:pt>
                <c:pt idx="8">
                  <c:v>146</c:v>
                </c:pt>
                <c:pt idx="9">
                  <c:v>107</c:v>
                </c:pt>
                <c:pt idx="10">
                  <c:v>231</c:v>
                </c:pt>
                <c:pt idx="11">
                  <c:v>201</c:v>
                </c:pt>
                <c:pt idx="12">
                  <c:v>302</c:v>
                </c:pt>
                <c:pt idx="13">
                  <c:v>193</c:v>
                </c:pt>
                <c:pt idx="14">
                  <c:v>376</c:v>
                </c:pt>
                <c:pt idx="15">
                  <c:v>401</c:v>
                </c:pt>
                <c:pt idx="16">
                  <c:v>465</c:v>
                </c:pt>
                <c:pt idx="17">
                  <c:v>524</c:v>
                </c:pt>
                <c:pt idx="18">
                  <c:v>465</c:v>
                </c:pt>
                <c:pt idx="19">
                  <c:v>323</c:v>
                </c:pt>
                <c:pt idx="20">
                  <c:v>479</c:v>
                </c:pt>
                <c:pt idx="21">
                  <c:v>629</c:v>
                </c:pt>
                <c:pt idx="22">
                  <c:v>638</c:v>
                </c:pt>
                <c:pt idx="23">
                  <c:v>759</c:v>
                </c:pt>
                <c:pt idx="24">
                  <c:v>954</c:v>
                </c:pt>
                <c:pt idx="25">
                  <c:v>937</c:v>
                </c:pt>
                <c:pt idx="26">
                  <c:v>1022</c:v>
                </c:pt>
                <c:pt idx="27">
                  <c:v>931</c:v>
                </c:pt>
                <c:pt idx="28">
                  <c:v>942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Regional &amp; Cultural Dominance Across Selected Olympic Sports</a:t>
            </a:r>
          </a:p>
        </c:rich>
      </c:tx>
      <c:layout/>
      <c:overlay val="0"/>
    </c:title>
    <c:autoTitleDeleted val="0"/>
    <c:plotArea>
      <c:layout/>
      <c:barChart>
        <c:barDir val="col"/>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Sheet1!$A$2:$A$25</c:f>
              <c:multiLvlStrCache>
                <c:ptCount val="24"/>
                <c:lvl>
                  <c:pt idx="0">
                    <c:v>Australia</c:v>
                  </c:pt>
                  <c:pt idx="1">
                    <c:v>Austria</c:v>
                  </c:pt>
                  <c:pt idx="2">
                    <c:v>Belgium</c:v>
                  </c:pt>
                  <c:pt idx="3">
                    <c:v>Canada</c:v>
                  </c:pt>
                  <c:pt idx="4">
                    <c:v>China</c:v>
                  </c:pt>
                  <c:pt idx="5">
                    <c:v>Cuba</c:v>
                  </c:pt>
                  <c:pt idx="6">
                    <c:v>Czech Republic</c:v>
                  </c:pt>
                  <c:pt idx="7">
                    <c:v>Czechoslovakia</c:v>
                  </c:pt>
                  <c:pt idx="8">
                    <c:v>Finland</c:v>
                  </c:pt>
                  <c:pt idx="9">
                    <c:v>France</c:v>
                  </c:pt>
                  <c:pt idx="10">
                    <c:v>Germany</c:v>
                  </c:pt>
                  <c:pt idx="11">
                    <c:v>Italy</c:v>
                  </c:pt>
                  <c:pt idx="12">
                    <c:v>Japan</c:v>
                  </c:pt>
                  <c:pt idx="13">
                    <c:v>Norway</c:v>
                  </c:pt>
                  <c:pt idx="14">
                    <c:v>Russia</c:v>
                  </c:pt>
                  <c:pt idx="15">
                    <c:v>South Korea</c:v>
                  </c:pt>
                  <c:pt idx="16">
                    <c:v>Soviet Union</c:v>
                  </c:pt>
                  <c:pt idx="17">
                    <c:v>Sweden</c:v>
                  </c:pt>
                  <c:pt idx="18">
                    <c:v>Switzerland</c:v>
                  </c:pt>
                  <c:pt idx="19">
                    <c:v>Taiwan</c:v>
                  </c:pt>
                  <c:pt idx="20">
                    <c:v>UK</c:v>
                  </c:pt>
                  <c:pt idx="21">
                    <c:v>Unified Team</c:v>
                  </c:pt>
                  <c:pt idx="22">
                    <c:v>USA</c:v>
                  </c:pt>
                  <c:pt idx="23">
                    <c:v>West Germany</c:v>
                  </c:pt>
                </c:lvl>
              </c:multiLvlStrCache>
            </c:multiLvlStrRef>
          </c:cat>
          <c:val>
            <c:numRef>
              <c:f>Sheet1!$B$2:$B$25</c:f>
              <c:numCache>
                <c:formatCode>General</c:formatCode>
                <c:ptCount val="24"/>
                <c:pt idx="0">
                  <c:v>24</c:v>
                </c:pt>
                <c:pt idx="1">
                  <c:v>114</c:v>
                </c:pt>
                <c:pt idx="2">
                  <c:v>21</c:v>
                </c:pt>
                <c:pt idx="3">
                  <c:v>358</c:v>
                </c:pt>
                <c:pt idx="4">
                  <c:v>19</c:v>
                </c:pt>
                <c:pt idx="5">
                  <c:v>112</c:v>
                </c:pt>
                <c:pt idx="6">
                  <c:v>60</c:v>
                </c:pt>
                <c:pt idx="7">
                  <c:v>146</c:v>
                </c:pt>
                <c:pt idx="8">
                  <c:v>174</c:v>
                </c:pt>
                <c:pt idx="9">
                  <c:v>92</c:v>
                </c:pt>
                <c:pt idx="10">
                  <c:v>43</c:v>
                </c:pt>
                <c:pt idx="11">
                  <c:v>47</c:v>
                </c:pt>
                <c:pt idx="12">
                  <c:v>64</c:v>
                </c:pt>
                <c:pt idx="13">
                  <c:v>29</c:v>
                </c:pt>
                <c:pt idx="14">
                  <c:v>59</c:v>
                </c:pt>
                <c:pt idx="15">
                  <c:v>136</c:v>
                </c:pt>
                <c:pt idx="16">
                  <c:v>176</c:v>
                </c:pt>
                <c:pt idx="17">
                  <c:v>233</c:v>
                </c:pt>
                <c:pt idx="18">
                  <c:v>107</c:v>
                </c:pt>
                <c:pt idx="19">
                  <c:v>20</c:v>
                </c:pt>
                <c:pt idx="20">
                  <c:v>35</c:v>
                </c:pt>
                <c:pt idx="21">
                  <c:v>40</c:v>
                </c:pt>
                <c:pt idx="22">
                  <c:v>424</c:v>
                </c:pt>
                <c:pt idx="23">
                  <c:v>29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Gender Event Distribution Across Selected Olympic Sports</a:t>
            </a:r>
          </a:p>
        </c:rich>
      </c:tx>
      <c:layout/>
      <c:overlay val="0"/>
    </c:title>
    <c:autoTitleDeleted val="0"/>
    <c:plotArea>
      <c:layout/>
      <c:barChart>
        <c:barDir val="col"/>
        <c:grouping val="clustered"/>
        <c:varyColors val="0"/>
        <c:ser>
          <c:idx val="0"/>
          <c:order val="0"/>
          <c:tx>
            <c:strRef>
              <c:f>Sheet1!$B$1</c:f>
              <c:strCache>
                <c:ptCount val="1"/>
                <c:pt idx="0">
                  <c:v>Sum of male_events</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Sheet1!$A$2:$A$15</c:f>
              <c:multiLvlStrCache>
                <c:ptCount val="14"/>
                <c:lvl>
                  <c:pt idx="0">
                    <c:v>Archery</c:v>
                  </c:pt>
                  <c:pt idx="1">
                    <c:v>Athletics</c:v>
                  </c:pt>
                  <c:pt idx="2">
                    <c:v>Boxing</c:v>
                  </c:pt>
                  <c:pt idx="3">
                    <c:v>Canoeing</c:v>
                  </c:pt>
                  <c:pt idx="4">
                    <c:v>Cross Country Skiing</c:v>
                  </c:pt>
                  <c:pt idx="5">
                    <c:v>Cycling</c:v>
                  </c:pt>
                  <c:pt idx="6">
                    <c:v>Fencing</c:v>
                  </c:pt>
                  <c:pt idx="7">
                    <c:v>Gymnastics</c:v>
                  </c:pt>
                  <c:pt idx="8">
                    <c:v>Rowing</c:v>
                  </c:pt>
                  <c:pt idx="9">
                    <c:v>Sailing</c:v>
                  </c:pt>
                  <c:pt idx="10">
                    <c:v>Shooting</c:v>
                  </c:pt>
                  <c:pt idx="11">
                    <c:v>Swimming</c:v>
                  </c:pt>
                  <c:pt idx="12">
                    <c:v>Weightlifting</c:v>
                  </c:pt>
                  <c:pt idx="13">
                    <c:v>Wrestling</c:v>
                  </c:pt>
                </c:lvl>
              </c:multiLvlStrCache>
            </c:multiLvlStrRef>
          </c:cat>
          <c:val>
            <c:numRef>
              <c:f>Sheet1!$B$2:$B$15</c:f>
              <c:numCache>
                <c:formatCode>General</c:formatCode>
                <c:ptCount val="14"/>
                <c:pt idx="0">
                  <c:v>20</c:v>
                </c:pt>
                <c:pt idx="1">
                  <c:v>56</c:v>
                </c:pt>
                <c:pt idx="2">
                  <c:v>12</c:v>
                </c:pt>
                <c:pt idx="3">
                  <c:v>22</c:v>
                </c:pt>
                <c:pt idx="4">
                  <c:v>11</c:v>
                </c:pt>
                <c:pt idx="5">
                  <c:v>32</c:v>
                </c:pt>
                <c:pt idx="6">
                  <c:v>12</c:v>
                </c:pt>
                <c:pt idx="7">
                  <c:v>20</c:v>
                </c:pt>
                <c:pt idx="8">
                  <c:v>14</c:v>
                </c:pt>
                <c:pt idx="9">
                  <c:v>6</c:v>
                </c:pt>
                <c:pt idx="10">
                  <c:v>68</c:v>
                </c:pt>
                <c:pt idx="11">
                  <c:v>36</c:v>
                </c:pt>
                <c:pt idx="12">
                  <c:v>14</c:v>
                </c:pt>
                <c:pt idx="13">
                  <c:v>24</c:v>
                </c:pt>
              </c:numCache>
            </c:numRef>
          </c:val>
        </c:ser>
        <c:ser>
          <c:idx val="1"/>
          <c:order val="1"/>
          <c:tx>
            <c:strRef>
              <c:f>Sheet1!$C$1</c:f>
              <c:strCache>
                <c:ptCount val="1"/>
                <c:pt idx="0">
                  <c:v>Sum of female_events</c:v>
                </c:pt>
              </c:strCache>
            </c:strRef>
          </c:tx>
          <c:spPr>
            <a:solidFill>
              <a:srgbClr val="102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Sheet1!$A$2:$A$15</c:f>
              <c:multiLvlStrCache>
                <c:ptCount val="14"/>
                <c:lvl>
                  <c:pt idx="0">
                    <c:v>Archery</c:v>
                  </c:pt>
                  <c:pt idx="1">
                    <c:v>Athletics</c:v>
                  </c:pt>
                  <c:pt idx="2">
                    <c:v>Boxing</c:v>
                  </c:pt>
                  <c:pt idx="3">
                    <c:v>Canoeing</c:v>
                  </c:pt>
                  <c:pt idx="4">
                    <c:v>Cross Country Skiing</c:v>
                  </c:pt>
                  <c:pt idx="5">
                    <c:v>Cycling</c:v>
                  </c:pt>
                  <c:pt idx="6">
                    <c:v>Fencing</c:v>
                  </c:pt>
                  <c:pt idx="7">
                    <c:v>Gymnastics</c:v>
                  </c:pt>
                  <c:pt idx="8">
                    <c:v>Rowing</c:v>
                  </c:pt>
                  <c:pt idx="9">
                    <c:v>Sailing</c:v>
                  </c:pt>
                  <c:pt idx="10">
                    <c:v>Shooting</c:v>
                  </c:pt>
                  <c:pt idx="11">
                    <c:v>Swimming</c:v>
                  </c:pt>
                  <c:pt idx="12">
                    <c:v>Weightlifting</c:v>
                  </c:pt>
                  <c:pt idx="13">
                    <c:v>Wrestling</c:v>
                  </c:pt>
                </c:lvl>
              </c:multiLvlStrCache>
            </c:multiLvlStrRef>
          </c:cat>
          <c:val>
            <c:numRef>
              <c:f>Sheet1!$C$2:$C$15</c:f>
              <c:numCache>
                <c:formatCode>General</c:formatCode>
                <c:ptCount val="14"/>
                <c:pt idx="0">
                  <c:v>5</c:v>
                </c:pt>
                <c:pt idx="1">
                  <c:v>27</c:v>
                </c:pt>
                <c:pt idx="2">
                  <c:v>3</c:v>
                </c:pt>
                <c:pt idx="3">
                  <c:v>5</c:v>
                </c:pt>
                <c:pt idx="4">
                  <c:v>12</c:v>
                </c:pt>
                <c:pt idx="5">
                  <c:v>12</c:v>
                </c:pt>
                <c:pt idx="6">
                  <c:v>6</c:v>
                </c:pt>
                <c:pt idx="7">
                  <c:v>7</c:v>
                </c:pt>
                <c:pt idx="8">
                  <c:v>9</c:v>
                </c:pt>
                <c:pt idx="9">
                  <c:v>5</c:v>
                </c:pt>
                <c:pt idx="10">
                  <c:v>7</c:v>
                </c:pt>
                <c:pt idx="11">
                  <c:v>18</c:v>
                </c:pt>
                <c:pt idx="12">
                  <c:v>7</c:v>
                </c:pt>
                <c:pt idx="13">
                  <c:v>6</c:v>
                </c:pt>
              </c:numCache>
            </c:numRef>
          </c:val>
        </c:ser>
        <c:ser>
          <c:idx val="2"/>
          <c:order val="2"/>
          <c:tx>
            <c:strRef>
              <c:f>Sheet1!$D$1</c:f>
              <c:strCache>
                <c:ptCount val="1"/>
                <c:pt idx="0">
                  <c:v>Sum of mixed_events</c:v>
                </c:pt>
              </c:strCache>
            </c:strRef>
          </c:tx>
          <c:spPr>
            <a:solidFill>
              <a:srgbClr val="E66C3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Sheet1!$A$2:$A$15</c:f>
              <c:multiLvlStrCache>
                <c:ptCount val="14"/>
                <c:lvl>
                  <c:pt idx="0">
                    <c:v>Archery</c:v>
                  </c:pt>
                  <c:pt idx="1">
                    <c:v>Athletics</c:v>
                  </c:pt>
                  <c:pt idx="2">
                    <c:v>Boxing</c:v>
                  </c:pt>
                  <c:pt idx="3">
                    <c:v>Canoeing</c:v>
                  </c:pt>
                  <c:pt idx="4">
                    <c:v>Cross Country Skiing</c:v>
                  </c:pt>
                  <c:pt idx="5">
                    <c:v>Cycling</c:v>
                  </c:pt>
                  <c:pt idx="6">
                    <c:v>Fencing</c:v>
                  </c:pt>
                  <c:pt idx="7">
                    <c:v>Gymnastics</c:v>
                  </c:pt>
                  <c:pt idx="8">
                    <c:v>Rowing</c:v>
                  </c:pt>
                  <c:pt idx="9">
                    <c:v>Sailing</c:v>
                  </c:pt>
                  <c:pt idx="10">
                    <c:v>Shooting</c:v>
                  </c:pt>
                  <c:pt idx="11">
                    <c:v>Swimming</c:v>
                  </c:pt>
                  <c:pt idx="12">
                    <c:v>Weightlifting</c:v>
                  </c:pt>
                  <c:pt idx="13">
                    <c:v>Wrestling</c:v>
                  </c:pt>
                </c:lvl>
              </c:multiLvlStrCache>
            </c:multiLvlStrRef>
          </c:cat>
          <c:val>
            <c:numRef>
              <c:f>Sheet1!$D$2:$D$15</c:f>
              <c:numCache>
                <c:formatCode>General</c:formatCode>
                <c:ptCount val="14"/>
                <c:pt idx="0">
                  <c:v>0</c:v>
                </c:pt>
                <c:pt idx="1">
                  <c:v>0</c:v>
                </c:pt>
                <c:pt idx="2">
                  <c:v>0</c:v>
                </c:pt>
                <c:pt idx="3">
                  <c:v>0</c:v>
                </c:pt>
                <c:pt idx="4">
                  <c:v>0</c:v>
                </c:pt>
                <c:pt idx="5">
                  <c:v>0</c:v>
                </c:pt>
                <c:pt idx="6">
                  <c:v>0</c:v>
                </c:pt>
                <c:pt idx="7">
                  <c:v>0</c:v>
                </c:pt>
                <c:pt idx="8">
                  <c:v>0</c:v>
                </c:pt>
                <c:pt idx="9">
                  <c:v>26</c:v>
                </c:pt>
                <c:pt idx="10">
                  <c:v>8</c:v>
                </c:pt>
                <c:pt idx="11">
                  <c:v>0</c:v>
                </c:pt>
                <c:pt idx="12">
                  <c:v>0</c:v>
                </c:pt>
                <c:pt idx="13">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New Olympic Events Introduced in Recent Games (2012–2016)</a:t>
            </a:r>
          </a:p>
        </c:rich>
      </c:tx>
      <c:layout/>
      <c:overlay val="0"/>
    </c:title>
    <c:autoTitleDeleted val="0"/>
    <c:plotArea>
      <c:layout/>
      <c:barChart>
        <c:barDir val="col"/>
        <c:grouping val="clustered"/>
        <c:varyColors val="0"/>
        <c:ser>
          <c:idx val="0"/>
          <c:order val="0"/>
          <c:tx>
            <c:strRef>
              <c:f>Sheet1!$B$1</c:f>
              <c:strCache>
                <c:ptCount val="1"/>
                <c:pt idx="0">
                  <c:v>Biathlon</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Sheet1!$B$2:$B$4</c:f>
              <c:numCache>
                <c:formatCode>General</c:formatCode>
                <c:ptCount val="3"/>
                <c:pt idx="0">
                  <c:v>1</c:v>
                </c:pt>
              </c:numCache>
            </c:numRef>
          </c:val>
        </c:ser>
        <c:ser>
          <c:idx val="1"/>
          <c:order val="1"/>
          <c:tx>
            <c:strRef>
              <c:f>Sheet1!$C$1</c:f>
              <c:strCache>
                <c:ptCount val="1"/>
                <c:pt idx="0">
                  <c:v>Boxing</c:v>
                </c:pt>
              </c:strCache>
            </c:strRef>
          </c:tx>
          <c:spPr>
            <a:solidFill>
              <a:srgbClr val="102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Sheet1!$C$2:$C$4</c:f>
              <c:numCache>
                <c:formatCode>General</c:formatCode>
                <c:ptCount val="3"/>
                <c:pt idx="0">
                  <c:v>3</c:v>
                </c:pt>
              </c:numCache>
            </c:numRef>
          </c:val>
        </c:ser>
        <c:ser>
          <c:idx val="2"/>
          <c:order val="2"/>
          <c:tx>
            <c:strRef>
              <c:f>Sheet1!$D$1</c:f>
              <c:strCache>
                <c:ptCount val="1"/>
                <c:pt idx="0">
                  <c:v>Canoeing</c:v>
                </c:pt>
              </c:strCache>
            </c:strRef>
          </c:tx>
          <c:spPr>
            <a:solidFill>
              <a:srgbClr val="E66C3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Sheet1!$D$2:$D$4</c:f>
              <c:numCache>
                <c:formatCode>General</c:formatCode>
                <c:ptCount val="3"/>
                <c:pt idx="0">
                  <c:v>4</c:v>
                </c:pt>
              </c:numCache>
            </c:numRef>
          </c:val>
        </c:ser>
        <c:ser>
          <c:idx val="3"/>
          <c:order val="3"/>
          <c:tx>
            <c:strRef>
              <c:f>Sheet1!$E$1</c:f>
              <c:strCache>
                <c:ptCount val="1"/>
                <c:pt idx="0">
                  <c:v>Cycling</c:v>
                </c:pt>
              </c:strCache>
            </c:strRef>
          </c:tx>
          <c:spPr>
            <a:solidFill>
              <a:srgbClr val="F2B6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Sheet1!$E$2:$E$4</c:f>
              <c:numCache>
                <c:formatCode>General</c:formatCode>
                <c:ptCount val="3"/>
                <c:pt idx="0">
                  <c:v>5</c:v>
                </c:pt>
              </c:numCache>
            </c:numRef>
          </c:val>
        </c:ser>
        <c:ser>
          <c:idx val="4"/>
          <c:order val="4"/>
          <c:tx>
            <c:strRef>
              <c:f>Sheet1!$F$1</c:f>
              <c:strCache>
                <c:ptCount val="1"/>
                <c:pt idx="0">
                  <c:v>Figure Skating</c:v>
                </c:pt>
              </c:strCache>
            </c:strRef>
          </c:tx>
          <c:spPr>
            <a:solidFill>
              <a:srgbClr val="2BB6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Sheet1!$F$2:$F$4</c:f>
              <c:numCache>
                <c:formatCode>General</c:formatCode>
                <c:ptCount val="3"/>
                <c:pt idx="0">
                  <c:v>1</c:v>
                </c:pt>
              </c:numCache>
            </c:numRef>
          </c:val>
        </c:ser>
        <c:ser>
          <c:idx val="5"/>
          <c:order val="5"/>
          <c:tx>
            <c:strRef>
              <c:f>Sheet1!$G$1</c:f>
              <c:strCache>
                <c:ptCount val="1"/>
                <c:pt idx="0">
                  <c:v>Freestyle Skiing</c:v>
                </c:pt>
              </c:strCache>
            </c:strRef>
          </c:tx>
          <c:spPr>
            <a:solidFill>
              <a:srgbClr val="6B7A9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Sheet1!$G$2:$G$4</c:f>
              <c:numCache>
                <c:formatCode>General</c:formatCode>
                <c:ptCount val="3"/>
                <c:pt idx="0">
                  <c:v>4</c:v>
                </c:pt>
              </c:numCache>
            </c:numRef>
          </c:val>
        </c:ser>
        <c:ser>
          <c:idx val="6"/>
          <c:order val="6"/>
          <c:tx>
            <c:strRef>
              <c:f>Sheet1!$H$1</c:f>
              <c:strCache>
                <c:ptCount val="1"/>
                <c:pt idx="0">
                  <c:v>Luge</c:v>
                </c:pt>
              </c:strCache>
            </c:strRef>
          </c:tx>
          <c:spPr>
            <a:solidFill>
              <a:srgbClr val="8E44A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Sheet1!$H$2:$H$4</c:f>
              <c:numCache>
                <c:formatCode>General</c:formatCode>
                <c:ptCount val="3"/>
                <c:pt idx="0">
                  <c:v>1</c:v>
                </c:pt>
              </c:numCache>
            </c:numRef>
          </c:val>
        </c:ser>
        <c:ser>
          <c:idx val="7"/>
          <c:order val="7"/>
          <c:tx>
            <c:strRef>
              <c:f>Sheet1!$I$1</c:f>
              <c:strCache>
                <c:ptCount val="1"/>
                <c:pt idx="0">
                  <c:v>Rugby Sevens</c:v>
                </c:pt>
              </c:strCache>
            </c:strRef>
          </c:tx>
          <c:spPr>
            <a:solidFill>
              <a:srgbClr val="17A2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Sheet1!$I$2:$I$4</c:f>
              <c:numCache>
                <c:formatCode>General</c:formatCode>
                <c:ptCount val="3"/>
                <c:pt idx="0">
                  <c:v>2</c:v>
                </c:pt>
              </c:numCache>
            </c:numRef>
          </c:val>
        </c:ser>
        <c:ser>
          <c:idx val="8"/>
          <c:order val="8"/>
          <c:tx>
            <c:strRef>
              <c:f>Sheet1!$J$1</c:f>
              <c:strCache>
                <c:ptCount val="1"/>
                <c:pt idx="0">
                  <c:v>Sailing</c:v>
                </c:pt>
              </c:strCache>
            </c:strRef>
          </c:tx>
          <c:spPr>
            <a:solidFill>
              <a:srgbClr val="D633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Sheet1!$J$2:$J$4</c:f>
              <c:numCache>
                <c:formatCode>General</c:formatCode>
                <c:ptCount val="3"/>
                <c:pt idx="0">
                  <c:v>2</c:v>
                </c:pt>
                <c:pt idx="1">
                  <c:v>1</c:v>
                </c:pt>
              </c:numCache>
            </c:numRef>
          </c:val>
        </c:ser>
        <c:ser>
          <c:idx val="9"/>
          <c:order val="9"/>
          <c:tx>
            <c:strRef>
              <c:f>Sheet1!$K$1</c:f>
              <c:strCache>
                <c:ptCount val="1"/>
                <c:pt idx="0">
                  <c:v>Ski Jumping</c:v>
                </c:pt>
              </c:strCache>
            </c:strRef>
          </c:tx>
          <c:spPr>
            <a:solidFill>
              <a:srgbClr val="5C940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Sheet1!$K$2:$K$4</c:f>
              <c:numCache>
                <c:formatCode>General</c:formatCode>
                <c:ptCount val="3"/>
                <c:pt idx="0">
                  <c:v>1</c:v>
                </c:pt>
              </c:numCache>
            </c:numRef>
          </c:val>
        </c:ser>
        <c:ser>
          <c:idx val="10"/>
          <c:order val="10"/>
          <c:tx>
            <c:strRef>
              <c:f>Sheet1!$L$1</c:f>
              <c:strCache>
                <c:ptCount val="1"/>
                <c:pt idx="0">
                  <c:v>Snowboarding</c:v>
                </c:pt>
              </c:strCache>
            </c:strRef>
          </c:tx>
          <c:spPr>
            <a:solidFill>
              <a:srgbClr val="FD7E1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Sheet1!$L$2:$L$4</c:f>
              <c:numCache>
                <c:formatCode>General</c:formatCode>
                <c:ptCount val="3"/>
                <c:pt idx="0">
                  <c:v>4</c:v>
                </c:pt>
              </c:numCache>
            </c:numRef>
          </c:val>
        </c:ser>
        <c:ser>
          <c:idx val="11"/>
          <c:order val="11"/>
          <c:tx>
            <c:strRef>
              <c:f>Sheet1!$M$1</c:f>
              <c:strCache>
                <c:ptCount val="1"/>
                <c:pt idx="0">
                  <c:v>Wrestling</c:v>
                </c:pt>
              </c:strCache>
            </c:strRef>
          </c:tx>
          <c:spPr>
            <a:solidFill>
              <a:srgbClr val="343A4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2012</c:v>
                  </c:pt>
                  <c:pt idx="1">
                    <c:v>2014</c:v>
                  </c:pt>
                  <c:pt idx="2">
                    <c:v>2016</c:v>
                  </c:pt>
                </c:lvl>
              </c:multiLvlStrCache>
            </c:multiLvlStrRef>
          </c:cat>
          <c:val>
            <c:numRef>
              <c:f>Sheet1!$M$2:$M$4</c:f>
              <c:numCache>
                <c:formatCode>General</c:formatCode>
                <c:ptCount val="3"/>
                <c:pt idx="0">
                  <c:v>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Top Sports with Discontinued Olympic Events (top 12)</a:t>
            </a:r>
          </a:p>
        </c:rich>
      </c:tx>
      <c:layout/>
      <c:overlay val="0"/>
    </c:title>
    <c:autoTitleDeleted val="0"/>
    <c:plotArea>
      <c:layout/>
      <c:barChart>
        <c:barDir val="bar"/>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Sheet1!$A$2:$A$13</c:f>
              <c:multiLvlStrCache>
                <c:ptCount val="12"/>
                <c:lvl>
                  <c:pt idx="0">
                    <c:v>Rowing</c:v>
                  </c:pt>
                  <c:pt idx="1">
                    <c:v>Wrestling</c:v>
                  </c:pt>
                  <c:pt idx="2">
                    <c:v>Cross Country Skiing</c:v>
                  </c:pt>
                  <c:pt idx="3">
                    <c:v>Equestrianism</c:v>
                  </c:pt>
                  <c:pt idx="4">
                    <c:v>Gymnastics</c:v>
                  </c:pt>
                  <c:pt idx="5">
                    <c:v>Cycling</c:v>
                  </c:pt>
                  <c:pt idx="6">
                    <c:v>Swimming</c:v>
                  </c:pt>
                  <c:pt idx="7">
                    <c:v>Archery</c:v>
                  </c:pt>
                  <c:pt idx="8">
                    <c:v>Sailing</c:v>
                  </c:pt>
                  <c:pt idx="9">
                    <c:v>Art Competitions</c:v>
                  </c:pt>
                  <c:pt idx="10">
                    <c:v>Athletics</c:v>
                  </c:pt>
                  <c:pt idx="11">
                    <c:v>Shooting</c:v>
                  </c:pt>
                </c:lvl>
              </c:multiLvlStrCache>
            </c:multiLvlStrRef>
          </c:cat>
          <c:val>
            <c:numRef>
              <c:f>Sheet1!$B$2:$B$13</c:f>
              <c:numCache>
                <c:formatCode>General</c:formatCode>
                <c:ptCount val="12"/>
                <c:pt idx="0">
                  <c:v>9</c:v>
                </c:pt>
                <c:pt idx="1">
                  <c:v>10</c:v>
                </c:pt>
                <c:pt idx="2">
                  <c:v>11</c:v>
                </c:pt>
                <c:pt idx="3">
                  <c:v>12</c:v>
                </c:pt>
                <c:pt idx="4">
                  <c:v>13</c:v>
                </c:pt>
                <c:pt idx="5">
                  <c:v>19</c:v>
                </c:pt>
                <c:pt idx="6">
                  <c:v>20</c:v>
                </c:pt>
                <c:pt idx="7">
                  <c:v>21</c:v>
                </c:pt>
                <c:pt idx="8">
                  <c:v>23</c:v>
                </c:pt>
                <c:pt idx="9">
                  <c:v>29</c:v>
                </c:pt>
                <c:pt idx="10">
                  <c:v>36</c:v>
                </c:pt>
                <c:pt idx="11">
                  <c:v>66</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Historical Trends in Participant Average Height &amp; Weight (1960–2016)</a:t>
            </a:r>
          </a:p>
        </c:rich>
      </c:tx>
      <c:layout/>
      <c:overlay val="0"/>
    </c:title>
    <c:autoTitleDeleted val="0"/>
    <c:plotArea>
      <c:layout/>
      <c:lineChart>
        <c:varyColors val="0"/>
        <c:ser>
          <c:idx val="0"/>
          <c:order val="0"/>
          <c:tx>
            <c:strRef>
              <c:f>Sheet1!$B$1</c:f>
              <c:strCache>
                <c:ptCount val="1"/>
                <c:pt idx="0">
                  <c:v>Average of avg_height</c:v>
                </c:pt>
              </c:strCache>
            </c:strRef>
          </c:tx>
          <c:spPr>
            <a:solidFill>
              <a:srgbClr val="118DFF"/>
            </a:solidFill>
            <a:ln w="25400" cap="flat">
              <a:solidFill>
                <a:srgbClr val="118D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18DFF"/>
              </a:solidFill>
              <a:ln w="9525" cap="flat">
                <a:solidFill>
                  <a:srgbClr val="118DFF"/>
                </a:solidFill>
                <a:prstDash val="solid"/>
                <a:round/>
              </a:ln>
              <a:effectLst/>
            </c:spPr>
          </c:marker>
          <c:cat>
            <c:multiLvlStrRef>
              <c:f>Sheet1!$A$2:$A$21</c:f>
              <c:multiLvlStrCache>
                <c:ptCount val="20"/>
                <c:lvl>
                  <c:pt idx="0">
                    <c:v>1964</c:v>
                  </c:pt>
                  <c:pt idx="1">
                    <c:v>1968</c:v>
                  </c:pt>
                  <c:pt idx="2">
                    <c:v>1972</c:v>
                  </c:pt>
                  <c:pt idx="3">
                    <c:v>1976</c:v>
                  </c:pt>
                  <c:pt idx="4">
                    <c:v>1980</c:v>
                  </c:pt>
                  <c:pt idx="5">
                    <c:v>1984</c:v>
                  </c:pt>
                  <c:pt idx="6">
                    <c:v>1988</c:v>
                  </c:pt>
                  <c:pt idx="7">
                    <c:v>1992</c:v>
                  </c:pt>
                  <c:pt idx="8">
                    <c:v>1994</c:v>
                  </c:pt>
                  <c:pt idx="9">
                    <c:v>1996</c:v>
                  </c:pt>
                  <c:pt idx="10">
                    <c:v>1998</c:v>
                  </c:pt>
                  <c:pt idx="11">
                    <c:v>2000</c:v>
                  </c:pt>
                  <c:pt idx="12">
                    <c:v>2002</c:v>
                  </c:pt>
                  <c:pt idx="13">
                    <c:v>2004</c:v>
                  </c:pt>
                  <c:pt idx="14">
                    <c:v>2006</c:v>
                  </c:pt>
                  <c:pt idx="15">
                    <c:v>2008</c:v>
                  </c:pt>
                  <c:pt idx="16">
                    <c:v>2010</c:v>
                  </c:pt>
                  <c:pt idx="17">
                    <c:v>2012</c:v>
                  </c:pt>
                  <c:pt idx="18">
                    <c:v>2014</c:v>
                  </c:pt>
                  <c:pt idx="19">
                    <c:v>2016</c:v>
                  </c:pt>
                </c:lvl>
              </c:multiLvlStrCache>
            </c:multiLvlStrRef>
          </c:cat>
          <c:val>
            <c:numRef>
              <c:f>Sheet1!$B$2:$B$21</c:f>
              <c:numCache>
                <c:formatCode>General</c:formatCode>
                <c:ptCount val="20"/>
                <c:pt idx="0">
                  <c:v>159.76</c:v>
                </c:pt>
                <c:pt idx="1">
                  <c:v>169.515</c:v>
                </c:pt>
                <c:pt idx="2">
                  <c:v>168.3</c:v>
                </c:pt>
                <c:pt idx="3">
                  <c:v>163.325</c:v>
                </c:pt>
                <c:pt idx="4">
                  <c:v>165.275</c:v>
                </c:pt>
                <c:pt idx="5">
                  <c:v>167.595</c:v>
                </c:pt>
                <c:pt idx="6">
                  <c:v>165.32</c:v>
                </c:pt>
                <c:pt idx="7">
                  <c:v>141.465</c:v>
                </c:pt>
                <c:pt idx="8">
                  <c:v>161.705</c:v>
                </c:pt>
                <c:pt idx="9">
                  <c:v>151.5</c:v>
                </c:pt>
                <c:pt idx="10">
                  <c:v>169.34</c:v>
                </c:pt>
                <c:pt idx="11">
                  <c:v>174.045</c:v>
                </c:pt>
                <c:pt idx="12">
                  <c:v>172.065</c:v>
                </c:pt>
                <c:pt idx="13">
                  <c:v>175.455</c:v>
                </c:pt>
                <c:pt idx="14">
                  <c:v>173.245</c:v>
                </c:pt>
                <c:pt idx="15">
                  <c:v>174.03</c:v>
                </c:pt>
                <c:pt idx="16">
                  <c:v>174.045</c:v>
                </c:pt>
                <c:pt idx="17">
                  <c:v>173.825</c:v>
                </c:pt>
                <c:pt idx="18">
                  <c:v>173.115</c:v>
                </c:pt>
                <c:pt idx="19">
                  <c:v>173.515</c:v>
                </c:pt>
              </c:numCache>
            </c:numRef>
          </c:val>
          <c:smooth val="0"/>
        </c:ser>
        <c:ser>
          <c:idx val="1"/>
          <c:order val="1"/>
          <c:tx>
            <c:strRef>
              <c:f>Sheet1!$C$1</c:f>
              <c:strCache>
                <c:ptCount val="1"/>
                <c:pt idx="0">
                  <c:v>Average of avg_weight</c:v>
                </c:pt>
              </c:strCache>
            </c:strRef>
          </c:tx>
          <c:spPr>
            <a:solidFill>
              <a:srgbClr val="10239E"/>
            </a:solidFill>
            <a:ln w="25400" cap="flat">
              <a:solidFill>
                <a:srgbClr val="10239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0239E"/>
              </a:solidFill>
              <a:ln w="9525" cap="flat">
                <a:solidFill>
                  <a:srgbClr val="10239E"/>
                </a:solidFill>
                <a:prstDash val="solid"/>
                <a:round/>
              </a:ln>
              <a:effectLst/>
            </c:spPr>
          </c:marker>
          <c:cat>
            <c:multiLvlStrRef>
              <c:f>Sheet1!$A$2:$A$21</c:f>
              <c:multiLvlStrCache>
                <c:ptCount val="20"/>
                <c:lvl>
                  <c:pt idx="0">
                    <c:v>1964</c:v>
                  </c:pt>
                  <c:pt idx="1">
                    <c:v>1968</c:v>
                  </c:pt>
                  <c:pt idx="2">
                    <c:v>1972</c:v>
                  </c:pt>
                  <c:pt idx="3">
                    <c:v>1976</c:v>
                  </c:pt>
                  <c:pt idx="4">
                    <c:v>1980</c:v>
                  </c:pt>
                  <c:pt idx="5">
                    <c:v>1984</c:v>
                  </c:pt>
                  <c:pt idx="6">
                    <c:v>1988</c:v>
                  </c:pt>
                  <c:pt idx="7">
                    <c:v>1992</c:v>
                  </c:pt>
                  <c:pt idx="8">
                    <c:v>1994</c:v>
                  </c:pt>
                  <c:pt idx="9">
                    <c:v>1996</c:v>
                  </c:pt>
                  <c:pt idx="10">
                    <c:v>1998</c:v>
                  </c:pt>
                  <c:pt idx="11">
                    <c:v>2000</c:v>
                  </c:pt>
                  <c:pt idx="12">
                    <c:v>2002</c:v>
                  </c:pt>
                  <c:pt idx="13">
                    <c:v>2004</c:v>
                  </c:pt>
                  <c:pt idx="14">
                    <c:v>2006</c:v>
                  </c:pt>
                  <c:pt idx="15">
                    <c:v>2008</c:v>
                  </c:pt>
                  <c:pt idx="16">
                    <c:v>2010</c:v>
                  </c:pt>
                  <c:pt idx="17">
                    <c:v>2012</c:v>
                  </c:pt>
                  <c:pt idx="18">
                    <c:v>2014</c:v>
                  </c:pt>
                  <c:pt idx="19">
                    <c:v>2016</c:v>
                  </c:pt>
                </c:lvl>
              </c:multiLvlStrCache>
            </c:multiLvlStrRef>
          </c:cat>
          <c:val>
            <c:numRef>
              <c:f>Sheet1!$C$2:$C$21</c:f>
              <c:numCache>
                <c:formatCode>General</c:formatCode>
                <c:ptCount val="20"/>
                <c:pt idx="0">
                  <c:v>62.04</c:v>
                </c:pt>
                <c:pt idx="1">
                  <c:v>65.83</c:v>
                </c:pt>
                <c:pt idx="2">
                  <c:v>64.605</c:v>
                </c:pt>
                <c:pt idx="3">
                  <c:v>64.025</c:v>
                </c:pt>
                <c:pt idx="4">
                  <c:v>65.13</c:v>
                </c:pt>
                <c:pt idx="5">
                  <c:v>65.27</c:v>
                </c:pt>
                <c:pt idx="6">
                  <c:v>65.17</c:v>
                </c:pt>
                <c:pt idx="7">
                  <c:v>56.105</c:v>
                </c:pt>
                <c:pt idx="8">
                  <c:v>64.36</c:v>
                </c:pt>
                <c:pt idx="9">
                  <c:v>60.66</c:v>
                </c:pt>
                <c:pt idx="10">
                  <c:v>68.295</c:v>
                </c:pt>
                <c:pt idx="11">
                  <c:v>69.87</c:v>
                </c:pt>
                <c:pt idx="12">
                  <c:v>69.555</c:v>
                </c:pt>
                <c:pt idx="13">
                  <c:v>70.935</c:v>
                </c:pt>
                <c:pt idx="14">
                  <c:v>69.8</c:v>
                </c:pt>
                <c:pt idx="15">
                  <c:v>70.365</c:v>
                </c:pt>
                <c:pt idx="16">
                  <c:v>70.31</c:v>
                </c:pt>
                <c:pt idx="17">
                  <c:v>69.43</c:v>
                </c:pt>
                <c:pt idx="18">
                  <c:v>66.875</c:v>
                </c:pt>
                <c:pt idx="19">
                  <c:v>69.805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Top Regional Dominance in Olympic Sports</a:t>
            </a:r>
          </a:p>
        </c:rich>
      </c:tx>
      <c:layout/>
      <c:overlay val="0"/>
    </c:title>
    <c:autoTitleDeleted val="0"/>
    <c:plotArea>
      <c:layout/>
      <c:barChart>
        <c:barDir val="bar"/>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Sheet1!$A$2:$A$11</c:f>
              <c:multiLvlStrCache>
                <c:ptCount val="10"/>
                <c:lvl>
                  <c:pt idx="0">
                    <c:v>USA</c:v>
                  </c:pt>
                  <c:pt idx="1">
                    <c:v>UK</c:v>
                  </c:pt>
                  <c:pt idx="2">
                    <c:v>Sweden</c:v>
                  </c:pt>
                  <c:pt idx="3">
                    <c:v>Soviet Union</c:v>
                  </c:pt>
                  <c:pt idx="4">
                    <c:v>Russia</c:v>
                  </c:pt>
                  <c:pt idx="5">
                    <c:v>Italy</c:v>
                  </c:pt>
                  <c:pt idx="6">
                    <c:v>Hungary</c:v>
                  </c:pt>
                  <c:pt idx="7">
                    <c:v>Germany</c:v>
                  </c:pt>
                  <c:pt idx="8">
                    <c:v>France</c:v>
                  </c:pt>
                  <c:pt idx="9">
                    <c:v>Australia</c:v>
                  </c:pt>
                </c:lvl>
              </c:multiLvlStrCache>
            </c:multiLvlStrRef>
          </c:cat>
          <c:val>
            <c:numRef>
              <c:f>Sheet1!$B$2:$B$11</c:f>
              <c:numCache>
                <c:formatCode>General</c:formatCode>
                <c:ptCount val="10"/>
                <c:pt idx="0">
                  <c:v>4969</c:v>
                </c:pt>
                <c:pt idx="1">
                  <c:v>1483</c:v>
                </c:pt>
                <c:pt idx="2">
                  <c:v>1227</c:v>
                </c:pt>
                <c:pt idx="3">
                  <c:v>2378</c:v>
                </c:pt>
                <c:pt idx="4">
                  <c:v>905</c:v>
                </c:pt>
                <c:pt idx="5">
                  <c:v>1064</c:v>
                </c:pt>
                <c:pt idx="6">
                  <c:v>957</c:v>
                </c:pt>
                <c:pt idx="7">
                  <c:v>1875</c:v>
                </c:pt>
                <c:pt idx="8">
                  <c:v>1213</c:v>
                </c:pt>
                <c:pt idx="9">
                  <c:v>1078</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Athletes vs Medals by Region</a:t>
            </a:r>
          </a:p>
        </c:rich>
      </c:tx>
      <c:layout/>
      <c:overlay val="0"/>
    </c:title>
    <c:autoTitleDeleted val="0"/>
    <c:plotArea>
      <c:layout/>
      <c:barChart>
        <c:barDir val="col"/>
        <c:grouping val="clustered"/>
        <c:varyColors val="0"/>
        <c:ser>
          <c:idx val="0"/>
          <c:order val="0"/>
          <c:tx>
            <c:strRef>
              <c:f>Sheet1!$B$1</c:f>
              <c:strCache>
                <c:ptCount val="1"/>
                <c:pt idx="0">
                  <c:v>Sum of total_medals</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Australia</c:v>
                  </c:pt>
                  <c:pt idx="1">
                    <c:v>Canada</c:v>
                  </c:pt>
                  <c:pt idx="2">
                    <c:v>China</c:v>
                  </c:pt>
                  <c:pt idx="3">
                    <c:v>East Germany</c:v>
                  </c:pt>
                  <c:pt idx="4">
                    <c:v>France</c:v>
                  </c:pt>
                  <c:pt idx="5">
                    <c:v>Germany</c:v>
                  </c:pt>
                  <c:pt idx="6">
                    <c:v>Hungary</c:v>
                  </c:pt>
                  <c:pt idx="7">
                    <c:v>Italy</c:v>
                  </c:pt>
                  <c:pt idx="8">
                    <c:v>Netherlands</c:v>
                  </c:pt>
                  <c:pt idx="9">
                    <c:v>Norway</c:v>
                  </c:pt>
                  <c:pt idx="10">
                    <c:v>Russia</c:v>
                  </c:pt>
                  <c:pt idx="11">
                    <c:v>Soviet Union</c:v>
                  </c:pt>
                  <c:pt idx="12">
                    <c:v>Sweden</c:v>
                  </c:pt>
                  <c:pt idx="13">
                    <c:v>UK</c:v>
                  </c:pt>
                  <c:pt idx="14">
                    <c:v>USA</c:v>
                  </c:pt>
                </c:lvl>
              </c:multiLvlStrCache>
            </c:multiLvlStrRef>
          </c:cat>
          <c:val>
            <c:numRef>
              <c:f>Sheet1!$B$2:$B$16</c:f>
              <c:numCache>
                <c:formatCode>General</c:formatCode>
                <c:ptCount val="15"/>
                <c:pt idx="0">
                  <c:v>1333</c:v>
                </c:pt>
                <c:pt idx="1">
                  <c:v>1324</c:v>
                </c:pt>
                <c:pt idx="2">
                  <c:v>991</c:v>
                </c:pt>
                <c:pt idx="3">
                  <c:v>1137</c:v>
                </c:pt>
                <c:pt idx="4">
                  <c:v>1686</c:v>
                </c:pt>
                <c:pt idx="5">
                  <c:v>2395</c:v>
                </c:pt>
                <c:pt idx="6">
                  <c:v>1140</c:v>
                </c:pt>
                <c:pt idx="7">
                  <c:v>1603</c:v>
                </c:pt>
                <c:pt idx="8">
                  <c:v>1034</c:v>
                </c:pt>
                <c:pt idx="9">
                  <c:v>1034</c:v>
                </c:pt>
                <c:pt idx="10">
                  <c:v>1321</c:v>
                </c:pt>
                <c:pt idx="11">
                  <c:v>2658</c:v>
                </c:pt>
                <c:pt idx="12">
                  <c:v>1535</c:v>
                </c:pt>
                <c:pt idx="13">
                  <c:v>1971</c:v>
                </c:pt>
                <c:pt idx="14">
                  <c:v>5414</c:v>
                </c:pt>
              </c:numCache>
            </c:numRef>
          </c:val>
        </c:ser>
        <c:ser>
          <c:idx val="1"/>
          <c:order val="1"/>
          <c:tx>
            <c:strRef>
              <c:f>Sheet1!$C$1</c:f>
              <c:strCache>
                <c:ptCount val="1"/>
                <c:pt idx="0">
                  <c:v>Sum of total_athletes</c:v>
                </c:pt>
              </c:strCache>
            </c:strRef>
          </c:tx>
          <c:spPr>
            <a:solidFill>
              <a:srgbClr val="102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Sheet1!$A$2:$A$16</c:f>
              <c:multiLvlStrCache>
                <c:ptCount val="15"/>
                <c:lvl>
                  <c:pt idx="0">
                    <c:v>Australia</c:v>
                  </c:pt>
                  <c:pt idx="1">
                    <c:v>Canada</c:v>
                  </c:pt>
                  <c:pt idx="2">
                    <c:v>China</c:v>
                  </c:pt>
                  <c:pt idx="3">
                    <c:v>East Germany</c:v>
                  </c:pt>
                  <c:pt idx="4">
                    <c:v>France</c:v>
                  </c:pt>
                  <c:pt idx="5">
                    <c:v>Germany</c:v>
                  </c:pt>
                  <c:pt idx="6">
                    <c:v>Hungary</c:v>
                  </c:pt>
                  <c:pt idx="7">
                    <c:v>Italy</c:v>
                  </c:pt>
                  <c:pt idx="8">
                    <c:v>Netherlands</c:v>
                  </c:pt>
                  <c:pt idx="9">
                    <c:v>Norway</c:v>
                  </c:pt>
                  <c:pt idx="10">
                    <c:v>Russia</c:v>
                  </c:pt>
                  <c:pt idx="11">
                    <c:v>Soviet Union</c:v>
                  </c:pt>
                  <c:pt idx="12">
                    <c:v>Sweden</c:v>
                  </c:pt>
                  <c:pt idx="13">
                    <c:v>UK</c:v>
                  </c:pt>
                  <c:pt idx="14">
                    <c:v>USA</c:v>
                  </c:pt>
                </c:lvl>
              </c:multiLvlStrCache>
            </c:multiLvlStrRef>
          </c:cat>
          <c:val>
            <c:numRef>
              <c:f>Sheet1!$C$2:$C$16</c:f>
              <c:numCache>
                <c:formatCode>General</c:formatCode>
                <c:ptCount val="15"/>
                <c:pt idx="0">
                  <c:v>3747</c:v>
                </c:pt>
                <c:pt idx="1">
                  <c:v>4657</c:v>
                </c:pt>
                <c:pt idx="2">
                  <c:v>2641</c:v>
                </c:pt>
                <c:pt idx="3">
                  <c:v>1360</c:v>
                </c:pt>
                <c:pt idx="4">
                  <c:v>5198</c:v>
                </c:pt>
                <c:pt idx="5">
                  <c:v>4763</c:v>
                </c:pt>
                <c:pt idx="6">
                  <c:v>2671</c:v>
                </c:pt>
                <c:pt idx="7">
                  <c:v>4654</c:v>
                </c:pt>
                <c:pt idx="8">
                  <c:v>2926</c:v>
                </c:pt>
                <c:pt idx="9">
                  <c:v>2216</c:v>
                </c:pt>
                <c:pt idx="10">
                  <c:v>2372</c:v>
                </c:pt>
                <c:pt idx="11">
                  <c:v>2856</c:v>
                </c:pt>
                <c:pt idx="12">
                  <c:v>3781</c:v>
                </c:pt>
                <c:pt idx="13">
                  <c:v>5783</c:v>
                </c:pt>
                <c:pt idx="14">
                  <c:v>9225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Consistency of Olympic Medal Performance Across Editions by Region</a:t>
            </a:r>
          </a:p>
        </c:rich>
      </c:tx>
      <c:layout/>
      <c:overlay val="0"/>
    </c:title>
    <c:autoTitleDeleted val="0"/>
    <c:plotArea>
      <c:layout/>
      <c:barChart>
        <c:barDir val="bar"/>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Sheet1!$A$2:$A$11</c:f>
              <c:multiLvlStrCache>
                <c:ptCount val="10"/>
                <c:lvl>
                  <c:pt idx="0">
                    <c:v>USA</c:v>
                  </c:pt>
                  <c:pt idx="1">
                    <c:v>UK</c:v>
                  </c:pt>
                  <c:pt idx="2">
                    <c:v>Switzerland</c:v>
                  </c:pt>
                  <c:pt idx="3">
                    <c:v>Sweden</c:v>
                  </c:pt>
                  <c:pt idx="4">
                    <c:v>Norway</c:v>
                  </c:pt>
                  <c:pt idx="5">
                    <c:v>Italy</c:v>
                  </c:pt>
                  <c:pt idx="6">
                    <c:v>France</c:v>
                  </c:pt>
                  <c:pt idx="7">
                    <c:v>Canada</c:v>
                  </c:pt>
                  <c:pt idx="8">
                    <c:v>Austria</c:v>
                  </c:pt>
                  <c:pt idx="9">
                    <c:v>Australia</c:v>
                  </c:pt>
                </c:lvl>
              </c:multiLvlStrCache>
            </c:multiLvlStrRef>
          </c:cat>
          <c:val>
            <c:numRef>
              <c:f>Sheet1!$B$2:$B$11</c:f>
              <c:numCache>
                <c:formatCode>General</c:formatCode>
                <c:ptCount val="10"/>
                <c:pt idx="0">
                  <c:v>5414</c:v>
                </c:pt>
                <c:pt idx="1">
                  <c:v>1971</c:v>
                </c:pt>
                <c:pt idx="2">
                  <c:v>662</c:v>
                </c:pt>
                <c:pt idx="3">
                  <c:v>1535</c:v>
                </c:pt>
                <c:pt idx="4">
                  <c:v>1034</c:v>
                </c:pt>
                <c:pt idx="5">
                  <c:v>1603</c:v>
                </c:pt>
                <c:pt idx="6">
                  <c:v>1686</c:v>
                </c:pt>
                <c:pt idx="7">
                  <c:v>1324</c:v>
                </c:pt>
                <c:pt idx="8">
                  <c:v>458</c:v>
                </c:pt>
                <c:pt idx="9">
                  <c:v>1333</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Concentration of Medalists in Specific Events by Dominant Region</a:t>
            </a:r>
          </a:p>
        </c:rich>
      </c:tx>
      <c:layout/>
      <c:overlay val="0"/>
    </c:title>
    <c:autoTitleDeleted val="0"/>
    <c:plotArea>
      <c:layout/>
      <c:barChart>
        <c:barDir val="col"/>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Sheet1!$A$2:$A$12</c:f>
              <c:multiLvlStrCache>
                <c:ptCount val="11"/>
                <c:lvl>
                  <c:pt idx="0">
                    <c:v>Australia</c:v>
                  </c:pt>
                  <c:pt idx="1">
                    <c:v>Canada</c:v>
                  </c:pt>
                  <c:pt idx="2">
                    <c:v>Czechoslovakia</c:v>
                  </c:pt>
                  <c:pt idx="3">
                    <c:v>Finland</c:v>
                  </c:pt>
                  <c:pt idx="4">
                    <c:v>Germany</c:v>
                  </c:pt>
                  <c:pt idx="5">
                    <c:v>Hungary</c:v>
                  </c:pt>
                  <c:pt idx="6">
                    <c:v>India</c:v>
                  </c:pt>
                  <c:pt idx="7">
                    <c:v>Netherlands</c:v>
                  </c:pt>
                  <c:pt idx="8">
                    <c:v>Soviet Union</c:v>
                  </c:pt>
                  <c:pt idx="9">
                    <c:v>Sweden</c:v>
                  </c:pt>
                  <c:pt idx="10">
                    <c:v>USA</c:v>
                  </c:pt>
                </c:lvl>
              </c:multiLvlStrCache>
            </c:multiLvlStrRef>
          </c:cat>
          <c:val>
            <c:numRef>
              <c:f>Sheet1!$B$2:$B$12</c:f>
              <c:numCache>
                <c:formatCode>General</c:formatCode>
                <c:ptCount val="11"/>
                <c:pt idx="0">
                  <c:v>140</c:v>
                </c:pt>
                <c:pt idx="1">
                  <c:v>246</c:v>
                </c:pt>
                <c:pt idx="2">
                  <c:v>146</c:v>
                </c:pt>
                <c:pt idx="3">
                  <c:v>135</c:v>
                </c:pt>
                <c:pt idx="4">
                  <c:v>141</c:v>
                </c:pt>
                <c:pt idx="5">
                  <c:v>172</c:v>
                </c:pt>
                <c:pt idx="6">
                  <c:v>163</c:v>
                </c:pt>
                <c:pt idx="7">
                  <c:v>255</c:v>
                </c:pt>
                <c:pt idx="8">
                  <c:v>176</c:v>
                </c:pt>
                <c:pt idx="9">
                  <c:v>177</c:v>
                </c:pt>
                <c:pt idx="10">
                  <c:v>645</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Surprising Medals by Region</a:t>
            </a:r>
          </a:p>
        </c:rich>
      </c:tx>
      <c:layout/>
      <c:overlay val="0"/>
    </c:title>
    <c:autoTitleDeleted val="0"/>
    <c:plotArea>
      <c:layout/>
      <c:barChart>
        <c:barDir val="bar"/>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Sheet1!$A$2:$A$11</c:f>
              <c:multiLvlStrCache>
                <c:ptCount val="10"/>
                <c:lvl>
                  <c:pt idx="0">
                    <c:v>Soviet Union</c:v>
                  </c:pt>
                  <c:pt idx="1">
                    <c:v>Sweden</c:v>
                  </c:pt>
                  <c:pt idx="2">
                    <c:v>Canada</c:v>
                  </c:pt>
                  <c:pt idx="3">
                    <c:v>East Germany</c:v>
                  </c:pt>
                  <c:pt idx="4">
                    <c:v>Hungary</c:v>
                  </c:pt>
                  <c:pt idx="5">
                    <c:v>Norway</c:v>
                  </c:pt>
                  <c:pt idx="6">
                    <c:v>Netherlands</c:v>
                  </c:pt>
                  <c:pt idx="7">
                    <c:v>Japan</c:v>
                  </c:pt>
                  <c:pt idx="8">
                    <c:v>Unified Team</c:v>
                  </c:pt>
                  <c:pt idx="9">
                    <c:v>South Korea</c:v>
                  </c:pt>
                </c:lvl>
              </c:multiLvlStrCache>
            </c:multiLvlStrRef>
          </c:cat>
          <c:val>
            <c:numRef>
              <c:f>Sheet1!$B$2:$B$11</c:f>
              <c:numCache>
                <c:formatCode>General</c:formatCode>
                <c:ptCount val="10"/>
                <c:pt idx="0">
                  <c:v>1122</c:v>
                </c:pt>
                <c:pt idx="1">
                  <c:v>473</c:v>
                </c:pt>
                <c:pt idx="2">
                  <c:v>459</c:v>
                </c:pt>
                <c:pt idx="3">
                  <c:v>430</c:v>
                </c:pt>
                <c:pt idx="4">
                  <c:v>424</c:v>
                </c:pt>
                <c:pt idx="5">
                  <c:v>366</c:v>
                </c:pt>
                <c:pt idx="6">
                  <c:v>280</c:v>
                </c:pt>
                <c:pt idx="7">
                  <c:v>248</c:v>
                </c:pt>
                <c:pt idx="8">
                  <c:v>230</c:v>
                </c:pt>
                <c:pt idx="9">
                  <c:v>224</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Top Regions with Significant Growth in Olympic Participation</a:t>
            </a:r>
          </a:p>
        </c:rich>
      </c:tx>
      <c:layout/>
      <c:overlay val="0"/>
    </c:title>
    <c:autoTitleDeleted val="0"/>
    <c:plotArea>
      <c:layout/>
      <c:barChart>
        <c:barDir val="bar"/>
        <c:grouping val="clustered"/>
        <c:varyColors val="0"/>
        <c:ser>
          <c:idx val="0"/>
          <c:order val="0"/>
          <c:tx>
            <c:strRef>
              <c:f>Sheet1!$B$1</c:f>
              <c:strCache>
                <c:ptCount val="1"/>
                <c:pt idx="0">
                  <c:v>Total</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Sheet1!$A$2:$A$11</c:f>
              <c:multiLvlStrCache>
                <c:ptCount val="10"/>
                <c:lvl>
                  <c:pt idx="0">
                    <c:v>Russia</c:v>
                  </c:pt>
                  <c:pt idx="1">
                    <c:v>China</c:v>
                  </c:pt>
                  <c:pt idx="2">
                    <c:v>Australia</c:v>
                  </c:pt>
                  <c:pt idx="3">
                    <c:v>South Korea</c:v>
                  </c:pt>
                  <c:pt idx="4">
                    <c:v>Ukraine</c:v>
                  </c:pt>
                  <c:pt idx="5">
                    <c:v>Japan</c:v>
                  </c:pt>
                  <c:pt idx="6">
                    <c:v>Canada</c:v>
                  </c:pt>
                  <c:pt idx="7">
                    <c:v>Brazil</c:v>
                  </c:pt>
                  <c:pt idx="8">
                    <c:v>Spain</c:v>
                  </c:pt>
                  <c:pt idx="9">
                    <c:v>Belarus</c:v>
                  </c:pt>
                </c:lvl>
              </c:multiLvlStrCache>
            </c:multiLvlStrRef>
          </c:cat>
          <c:val>
            <c:numRef>
              <c:f>Sheet1!$B$2:$B$11</c:f>
              <c:numCache>
                <c:formatCode>General</c:formatCode>
                <c:ptCount val="10"/>
                <c:pt idx="0">
                  <c:v>1789</c:v>
                </c:pt>
                <c:pt idx="1">
                  <c:v>1650</c:v>
                </c:pt>
                <c:pt idx="2">
                  <c:v>1164</c:v>
                </c:pt>
                <c:pt idx="3">
                  <c:v>995</c:v>
                </c:pt>
                <c:pt idx="4">
                  <c:v>935</c:v>
                </c:pt>
                <c:pt idx="5">
                  <c:v>725</c:v>
                </c:pt>
                <c:pt idx="6">
                  <c:v>664</c:v>
                </c:pt>
                <c:pt idx="7">
                  <c:v>654</c:v>
                </c:pt>
                <c:pt idx="8">
                  <c:v>633</c:v>
                </c:pt>
                <c:pt idx="9">
                  <c:v>626</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Impact of Geographical Factors: Summer vs. Winter Olympic Medal Distribution</a:t>
            </a:r>
          </a:p>
        </c:rich>
      </c:tx>
      <c:layout/>
      <c:overlay val="0"/>
    </c:title>
    <c:autoTitleDeleted val="0"/>
    <c:plotArea>
      <c:layout/>
      <c:barChart>
        <c:barDir val="bar"/>
        <c:grouping val="clustered"/>
        <c:varyColors val="0"/>
        <c:ser>
          <c:idx val="0"/>
          <c:order val="0"/>
          <c:tx>
            <c:strRef>
              <c:f>Sheet1!$B$1</c:f>
              <c:strCache>
                <c:ptCount val="1"/>
                <c:pt idx="0">
                  <c:v>Summer</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USA</c:v>
                  </c:pt>
                  <c:pt idx="1">
                    <c:v>UK</c:v>
                  </c:pt>
                  <c:pt idx="2">
                    <c:v>Sweden</c:v>
                  </c:pt>
                  <c:pt idx="3">
                    <c:v>Soviet Union</c:v>
                  </c:pt>
                  <c:pt idx="4">
                    <c:v>Russia</c:v>
                  </c:pt>
                  <c:pt idx="5">
                    <c:v>Italy</c:v>
                  </c:pt>
                  <c:pt idx="6">
                    <c:v>Germany</c:v>
                  </c:pt>
                  <c:pt idx="7">
                    <c:v>France</c:v>
                  </c:pt>
                  <c:pt idx="8">
                    <c:v>Canada</c:v>
                  </c:pt>
                  <c:pt idx="9">
                    <c:v>Australia</c:v>
                  </c:pt>
                </c:lvl>
              </c:multiLvlStrCache>
            </c:multiLvlStrRef>
          </c:cat>
          <c:val>
            <c:numRef>
              <c:f>Sheet1!$B$2:$B$11</c:f>
              <c:numCache>
                <c:formatCode>General</c:formatCode>
                <c:ptCount val="10"/>
                <c:pt idx="0">
                  <c:v>4812</c:v>
                </c:pt>
                <c:pt idx="1">
                  <c:v>1889</c:v>
                </c:pt>
                <c:pt idx="2">
                  <c:v>1107</c:v>
                </c:pt>
                <c:pt idx="3">
                  <c:v>2189</c:v>
                </c:pt>
                <c:pt idx="4">
                  <c:v>1004</c:v>
                </c:pt>
                <c:pt idx="5">
                  <c:v>1412</c:v>
                </c:pt>
                <c:pt idx="6">
                  <c:v>1972</c:v>
                </c:pt>
                <c:pt idx="7">
                  <c:v>1532</c:v>
                </c:pt>
                <c:pt idx="8">
                  <c:v>714</c:v>
                </c:pt>
                <c:pt idx="9">
                  <c:v>1317</c:v>
                </c:pt>
              </c:numCache>
            </c:numRef>
          </c:val>
        </c:ser>
        <c:ser>
          <c:idx val="1"/>
          <c:order val="1"/>
          <c:tx>
            <c:strRef>
              <c:f>Sheet1!$C$1</c:f>
              <c:strCache>
                <c:ptCount val="1"/>
                <c:pt idx="0">
                  <c:v>Winter</c:v>
                </c:pt>
              </c:strCache>
            </c:strRef>
          </c:tx>
          <c:spPr>
            <a:solidFill>
              <a:srgbClr val="102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USA</c:v>
                  </c:pt>
                  <c:pt idx="1">
                    <c:v>UK</c:v>
                  </c:pt>
                  <c:pt idx="2">
                    <c:v>Sweden</c:v>
                  </c:pt>
                  <c:pt idx="3">
                    <c:v>Soviet Union</c:v>
                  </c:pt>
                  <c:pt idx="4">
                    <c:v>Russia</c:v>
                  </c:pt>
                  <c:pt idx="5">
                    <c:v>Italy</c:v>
                  </c:pt>
                  <c:pt idx="6">
                    <c:v>Germany</c:v>
                  </c:pt>
                  <c:pt idx="7">
                    <c:v>France</c:v>
                  </c:pt>
                  <c:pt idx="8">
                    <c:v>Canada</c:v>
                  </c:pt>
                  <c:pt idx="9">
                    <c:v>Australia</c:v>
                  </c:pt>
                </c:lvl>
              </c:multiLvlStrCache>
            </c:multiLvlStrRef>
          </c:cat>
          <c:val>
            <c:numRef>
              <c:f>Sheet1!$C$2:$C$11</c:f>
              <c:numCache>
                <c:formatCode>General</c:formatCode>
                <c:ptCount val="10"/>
                <c:pt idx="0">
                  <c:v>602</c:v>
                </c:pt>
                <c:pt idx="1">
                  <c:v>82</c:v>
                </c:pt>
                <c:pt idx="2">
                  <c:v>428</c:v>
                </c:pt>
                <c:pt idx="3">
                  <c:v>469</c:v>
                </c:pt>
                <c:pt idx="4">
                  <c:v>317</c:v>
                </c:pt>
                <c:pt idx="5">
                  <c:v>191</c:v>
                </c:pt>
                <c:pt idx="6">
                  <c:v>423</c:v>
                </c:pt>
                <c:pt idx="7">
                  <c:v>154</c:v>
                </c:pt>
                <c:pt idx="8">
                  <c:v>610</c:v>
                </c:pt>
                <c:pt idx="9">
                  <c:v>16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Regions with the Highest Impact on the Global Olympic Medal Tally</a:t>
            </a:r>
          </a:p>
        </c:rich>
      </c:tx>
      <c:layout/>
      <c:overlay val="0"/>
    </c:title>
    <c:autoTitleDeleted val="0"/>
    <c:plotArea>
      <c:layout/>
      <c:barChart>
        <c:barDir val="col"/>
        <c:grouping val="clustered"/>
        <c:varyColors val="0"/>
        <c:ser>
          <c:idx val="0"/>
          <c:order val="0"/>
          <c:tx>
            <c:strRef>
              <c:f>Sheet1!$B$1</c:f>
              <c:strCache>
                <c:ptCount val="1"/>
                <c:pt idx="0">
                  <c:v>Sum of gold_count</c:v>
                </c:pt>
              </c:strCache>
            </c:strRef>
          </c:tx>
          <c:spPr>
            <a:solidFill>
              <a:srgbClr val="118D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Australia</c:v>
                  </c:pt>
                  <c:pt idx="1">
                    <c:v>Canada</c:v>
                  </c:pt>
                  <c:pt idx="2">
                    <c:v>France</c:v>
                  </c:pt>
                  <c:pt idx="3">
                    <c:v>Germany</c:v>
                  </c:pt>
                  <c:pt idx="4">
                    <c:v>Italy</c:v>
                  </c:pt>
                  <c:pt idx="5">
                    <c:v>Russia</c:v>
                  </c:pt>
                  <c:pt idx="6">
                    <c:v>Soviet Union</c:v>
                  </c:pt>
                  <c:pt idx="7">
                    <c:v>Sweden</c:v>
                  </c:pt>
                  <c:pt idx="8">
                    <c:v>UK</c:v>
                  </c:pt>
                  <c:pt idx="9">
                    <c:v>USA</c:v>
                  </c:pt>
                </c:lvl>
              </c:multiLvlStrCache>
            </c:multiLvlStrRef>
          </c:cat>
          <c:val>
            <c:numRef>
              <c:f>Sheet1!$B$2:$B$11</c:f>
              <c:numCache>
                <c:formatCode>General</c:formatCode>
                <c:ptCount val="10"/>
                <c:pt idx="0">
                  <c:v>348</c:v>
                </c:pt>
                <c:pt idx="1">
                  <c:v>461</c:v>
                </c:pt>
                <c:pt idx="2">
                  <c:v>492</c:v>
                </c:pt>
                <c:pt idx="3">
                  <c:v>843</c:v>
                </c:pt>
                <c:pt idx="4">
                  <c:v>568</c:v>
                </c:pt>
                <c:pt idx="5">
                  <c:v>466</c:v>
                </c:pt>
                <c:pt idx="6">
                  <c:v>1135</c:v>
                </c:pt>
                <c:pt idx="7">
                  <c:v>477</c:v>
                </c:pt>
                <c:pt idx="8">
                  <c:v>658</c:v>
                </c:pt>
                <c:pt idx="9">
                  <c:v>2533</c:v>
                </c:pt>
              </c:numCache>
            </c:numRef>
          </c:val>
        </c:ser>
        <c:ser>
          <c:idx val="1"/>
          <c:order val="1"/>
          <c:tx>
            <c:strRef>
              <c:f>Sheet1!$C$1</c:f>
              <c:strCache>
                <c:ptCount val="1"/>
                <c:pt idx="0">
                  <c:v>Sum of silver_count</c:v>
                </c:pt>
              </c:strCache>
            </c:strRef>
          </c:tx>
          <c:spPr>
            <a:solidFill>
              <a:srgbClr val="102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Australia</c:v>
                  </c:pt>
                  <c:pt idx="1">
                    <c:v>Canada</c:v>
                  </c:pt>
                  <c:pt idx="2">
                    <c:v>France</c:v>
                  </c:pt>
                  <c:pt idx="3">
                    <c:v>Germany</c:v>
                  </c:pt>
                  <c:pt idx="4">
                    <c:v>Italy</c:v>
                  </c:pt>
                  <c:pt idx="5">
                    <c:v>Russia</c:v>
                  </c:pt>
                  <c:pt idx="6">
                    <c:v>Soviet Union</c:v>
                  </c:pt>
                  <c:pt idx="7">
                    <c:v>Sweden</c:v>
                  </c:pt>
                  <c:pt idx="8">
                    <c:v>UK</c:v>
                  </c:pt>
                  <c:pt idx="9">
                    <c:v>USA</c:v>
                  </c:pt>
                </c:lvl>
              </c:multiLvlStrCache>
            </c:multiLvlStrRef>
          </c:cat>
          <c:val>
            <c:numRef>
              <c:f>Sheet1!$C$2:$C$11</c:f>
              <c:numCache>
                <c:formatCode>General</c:formatCode>
                <c:ptCount val="10"/>
                <c:pt idx="0">
                  <c:v>459</c:v>
                </c:pt>
                <c:pt idx="1">
                  <c:v>430</c:v>
                </c:pt>
                <c:pt idx="2">
                  <c:v>563</c:v>
                </c:pt>
                <c:pt idx="3">
                  <c:v>742</c:v>
                </c:pt>
                <c:pt idx="4">
                  <c:v>528</c:v>
                </c:pt>
                <c:pt idx="5">
                  <c:v>409</c:v>
                </c:pt>
                <c:pt idx="6">
                  <c:v>783</c:v>
                </c:pt>
                <c:pt idx="7">
                  <c:v>522</c:v>
                </c:pt>
                <c:pt idx="8">
                  <c:v>687</c:v>
                </c:pt>
                <c:pt idx="9">
                  <c:v>1580</c:v>
                </c:pt>
              </c:numCache>
            </c:numRef>
          </c:val>
        </c:ser>
        <c:ser>
          <c:idx val="2"/>
          <c:order val="2"/>
          <c:tx>
            <c:strRef>
              <c:f>Sheet1!$D$1</c:f>
              <c:strCache>
                <c:ptCount val="1"/>
                <c:pt idx="0">
                  <c:v>Sum of bronze_count</c:v>
                </c:pt>
              </c:strCache>
            </c:strRef>
          </c:tx>
          <c:spPr>
            <a:solidFill>
              <a:srgbClr val="E66C3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Australia</c:v>
                  </c:pt>
                  <c:pt idx="1">
                    <c:v>Canada</c:v>
                  </c:pt>
                  <c:pt idx="2">
                    <c:v>France</c:v>
                  </c:pt>
                  <c:pt idx="3">
                    <c:v>Germany</c:v>
                  </c:pt>
                  <c:pt idx="4">
                    <c:v>Italy</c:v>
                  </c:pt>
                  <c:pt idx="5">
                    <c:v>Russia</c:v>
                  </c:pt>
                  <c:pt idx="6">
                    <c:v>Soviet Union</c:v>
                  </c:pt>
                  <c:pt idx="7">
                    <c:v>Sweden</c:v>
                  </c:pt>
                  <c:pt idx="8">
                    <c:v>UK</c:v>
                  </c:pt>
                  <c:pt idx="9">
                    <c:v>USA</c:v>
                  </c:pt>
                </c:lvl>
              </c:multiLvlStrCache>
            </c:multiLvlStrRef>
          </c:cat>
          <c:val>
            <c:numRef>
              <c:f>Sheet1!$D$2:$D$11</c:f>
              <c:numCache>
                <c:formatCode>General</c:formatCode>
                <c:ptCount val="10"/>
                <c:pt idx="0">
                  <c:v>526</c:v>
                </c:pt>
                <c:pt idx="1">
                  <c:v>433</c:v>
                </c:pt>
                <c:pt idx="2">
                  <c:v>631</c:v>
                </c:pt>
                <c:pt idx="3">
                  <c:v>810</c:v>
                </c:pt>
                <c:pt idx="4">
                  <c:v>507</c:v>
                </c:pt>
                <c:pt idx="5">
                  <c:v>446</c:v>
                </c:pt>
                <c:pt idx="6">
                  <c:v>740</c:v>
                </c:pt>
                <c:pt idx="7">
                  <c:v>536</c:v>
                </c:pt>
                <c:pt idx="8">
                  <c:v>626</c:v>
                </c:pt>
                <c:pt idx="9">
                  <c:v>1301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Total Medals by Sport (Top 10)</a:t>
            </a:r>
          </a:p>
        </c:rich>
      </c:tx>
      <c:layout/>
      <c:overlay val="0"/>
    </c:title>
    <c:autoTitleDeleted val="0"/>
    <c:plotArea>
      <c:layout/>
      <c:barChart>
        <c:barDir val="bar"/>
        <c:grouping val="clustered"/>
        <c:varyColors val="0"/>
        <c:ser>
          <c:idx val="0"/>
          <c:order val="0"/>
          <c:tx>
            <c:strRef>
              <c:f>Sheet1!$B$1</c:f>
              <c:strCache>
                <c:ptCount val="1"/>
                <c:pt idx="0">
                  <c:v>Total medals</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Sheet1!$A$2:$A$11</c:f>
              <c:multiLvlStrCache>
                <c:ptCount val="10"/>
                <c:lvl>
                  <c:pt idx="0">
                    <c:v>Cycling</c:v>
                  </c:pt>
                  <c:pt idx="1">
                    <c:v>Wrestling</c:v>
                  </c:pt>
                  <c:pt idx="2">
                    <c:v>Hockey</c:v>
                  </c:pt>
                  <c:pt idx="3">
                    <c:v>Ice Hockey</c:v>
                  </c:pt>
                  <c:pt idx="4">
                    <c:v>Football</c:v>
                  </c:pt>
                  <c:pt idx="5">
                    <c:v>Fencing</c:v>
                  </c:pt>
                  <c:pt idx="6">
                    <c:v>Gymnastics</c:v>
                  </c:pt>
                  <c:pt idx="7">
                    <c:v>Rowing</c:v>
                  </c:pt>
                  <c:pt idx="8">
                    <c:v>Swimming</c:v>
                  </c:pt>
                  <c:pt idx="9">
                    <c:v>Athletics</c:v>
                  </c:pt>
                </c:lvl>
              </c:multiLvlStrCache>
            </c:multiLvlStrRef>
          </c:cat>
          <c:val>
            <c:numRef>
              <c:f>Sheet1!$B$2:$B$11</c:f>
              <c:numCache>
                <c:formatCode>General</c:formatCode>
                <c:ptCount val="10"/>
                <c:pt idx="0">
                  <c:v>1235</c:v>
                </c:pt>
                <c:pt idx="1">
                  <c:v>1260</c:v>
                </c:pt>
                <c:pt idx="2">
                  <c:v>1494</c:v>
                </c:pt>
                <c:pt idx="3">
                  <c:v>1514</c:v>
                </c:pt>
                <c:pt idx="4">
                  <c:v>1527</c:v>
                </c:pt>
                <c:pt idx="5">
                  <c:v>1720</c:v>
                </c:pt>
                <c:pt idx="6">
                  <c:v>2186</c:v>
                </c:pt>
                <c:pt idx="7">
                  <c:v>2801</c:v>
                </c:pt>
                <c:pt idx="8">
                  <c:v>2978</c:v>
                </c:pt>
                <c:pt idx="9">
                  <c:v>3892</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Medals by Type, Top 10 Regions</a:t>
            </a:r>
          </a:p>
        </c:rich>
      </c:tx>
      <c:layout/>
      <c:overlay val="0"/>
    </c:title>
    <c:autoTitleDeleted val="0"/>
    <c:plotArea>
      <c:layout/>
      <c:barChart>
        <c:barDir val="bar"/>
        <c:grouping val="stacked"/>
        <c:varyColors val="0"/>
        <c:ser>
          <c:idx val="0"/>
          <c:order val="0"/>
          <c:tx>
            <c:strRef>
              <c:f>Sheet1!$B$1</c:f>
              <c:strCache>
                <c:ptCount val="1"/>
                <c:pt idx="0">
                  <c:v>Gold</c:v>
                </c:pt>
              </c:strCache>
            </c:strRef>
          </c:tx>
          <c:spPr>
            <a:solidFill>
              <a:srgbClr val="F2B600"/>
            </a:solidFill>
            <a:effectLst/>
          </c:spPr>
          <c:invertIfNegative val="0"/>
          <c:dLbls>
            <c:numFmt formatCode="#,##0" sourceLinked="0"/>
            <c:txPr>
              <a:bodyPr/>
              <a:lstStyle/>
              <a:p>
                <a:pPr>
                  <a:defRPr b="0" i="0" strike="noStrike" sz="1000" u="none">
                    <a:solidFill>
                      <a:srgbClr val="334155"/>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Russia</c:v>
                  </c:pt>
                  <c:pt idx="1">
                    <c:v>Canada</c:v>
                  </c:pt>
                  <c:pt idx="2">
                    <c:v>Australia</c:v>
                  </c:pt>
                  <c:pt idx="3">
                    <c:v>Sweden</c:v>
                  </c:pt>
                  <c:pt idx="4">
                    <c:v>Italy</c:v>
                  </c:pt>
                  <c:pt idx="5">
                    <c:v>France</c:v>
                  </c:pt>
                  <c:pt idx="6">
                    <c:v>UK</c:v>
                  </c:pt>
                  <c:pt idx="7">
                    <c:v>Germany</c:v>
                  </c:pt>
                  <c:pt idx="8">
                    <c:v>Soviet Union</c:v>
                  </c:pt>
                  <c:pt idx="9">
                    <c:v>USA</c:v>
                  </c:pt>
                </c:lvl>
              </c:multiLvlStrCache>
            </c:multiLvlStrRef>
          </c:cat>
          <c:val>
            <c:numRef>
              <c:f>Sheet1!$B$2:$B$11</c:f>
              <c:numCache>
                <c:formatCode>General</c:formatCode>
                <c:ptCount val="10"/>
                <c:pt idx="0">
                  <c:v>466</c:v>
                </c:pt>
                <c:pt idx="1">
                  <c:v>461</c:v>
                </c:pt>
                <c:pt idx="2">
                  <c:v>348</c:v>
                </c:pt>
                <c:pt idx="3">
                  <c:v>477</c:v>
                </c:pt>
                <c:pt idx="4">
                  <c:v>568</c:v>
                </c:pt>
                <c:pt idx="5">
                  <c:v>492</c:v>
                </c:pt>
                <c:pt idx="6">
                  <c:v>658</c:v>
                </c:pt>
                <c:pt idx="7">
                  <c:v>843</c:v>
                </c:pt>
                <c:pt idx="8">
                  <c:v>1135</c:v>
                </c:pt>
                <c:pt idx="9">
                  <c:v>2533</c:v>
                </c:pt>
              </c:numCache>
            </c:numRef>
          </c:val>
        </c:ser>
        <c:ser>
          <c:idx val="1"/>
          <c:order val="1"/>
          <c:tx>
            <c:strRef>
              <c:f>Sheet1!$C$1</c:f>
              <c:strCache>
                <c:ptCount val="1"/>
                <c:pt idx="0">
                  <c:v>Silver</c:v>
                </c:pt>
              </c:strCache>
            </c:strRef>
          </c:tx>
          <c:spPr>
            <a:solidFill>
              <a:srgbClr val="A0A8B5"/>
            </a:solidFill>
            <a:effectLst/>
          </c:spPr>
          <c:invertIfNegative val="0"/>
          <c:dLbls>
            <c:numFmt formatCode="#,##0" sourceLinked="0"/>
            <c:txPr>
              <a:bodyPr/>
              <a:lstStyle/>
              <a:p>
                <a:pPr>
                  <a:defRPr b="0" i="0" strike="noStrike" sz="1000" u="none">
                    <a:solidFill>
                      <a:srgbClr val="334155"/>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Russia</c:v>
                  </c:pt>
                  <c:pt idx="1">
                    <c:v>Canada</c:v>
                  </c:pt>
                  <c:pt idx="2">
                    <c:v>Australia</c:v>
                  </c:pt>
                  <c:pt idx="3">
                    <c:v>Sweden</c:v>
                  </c:pt>
                  <c:pt idx="4">
                    <c:v>Italy</c:v>
                  </c:pt>
                  <c:pt idx="5">
                    <c:v>France</c:v>
                  </c:pt>
                  <c:pt idx="6">
                    <c:v>UK</c:v>
                  </c:pt>
                  <c:pt idx="7">
                    <c:v>Germany</c:v>
                  </c:pt>
                  <c:pt idx="8">
                    <c:v>Soviet Union</c:v>
                  </c:pt>
                  <c:pt idx="9">
                    <c:v>USA</c:v>
                  </c:pt>
                </c:lvl>
              </c:multiLvlStrCache>
            </c:multiLvlStrRef>
          </c:cat>
          <c:val>
            <c:numRef>
              <c:f>Sheet1!$C$2:$C$11</c:f>
              <c:numCache>
                <c:formatCode>General</c:formatCode>
                <c:ptCount val="10"/>
                <c:pt idx="0">
                  <c:v>409</c:v>
                </c:pt>
                <c:pt idx="1">
                  <c:v>430</c:v>
                </c:pt>
                <c:pt idx="2">
                  <c:v>459</c:v>
                </c:pt>
                <c:pt idx="3">
                  <c:v>522</c:v>
                </c:pt>
                <c:pt idx="4">
                  <c:v>528</c:v>
                </c:pt>
                <c:pt idx="5">
                  <c:v>563</c:v>
                </c:pt>
                <c:pt idx="6">
                  <c:v>687</c:v>
                </c:pt>
                <c:pt idx="7">
                  <c:v>742</c:v>
                </c:pt>
                <c:pt idx="8">
                  <c:v>783</c:v>
                </c:pt>
                <c:pt idx="9">
                  <c:v>1580</c:v>
                </c:pt>
              </c:numCache>
            </c:numRef>
          </c:val>
        </c:ser>
        <c:ser>
          <c:idx val="2"/>
          <c:order val="2"/>
          <c:tx>
            <c:strRef>
              <c:f>Sheet1!$D$1</c:f>
              <c:strCache>
                <c:ptCount val="1"/>
                <c:pt idx="0">
                  <c:v>Bronze</c:v>
                </c:pt>
              </c:strCache>
            </c:strRef>
          </c:tx>
          <c:spPr>
            <a:solidFill>
              <a:srgbClr val="CD7F32"/>
            </a:solidFill>
            <a:effectLst/>
          </c:spPr>
          <c:invertIfNegative val="0"/>
          <c:dLbls>
            <c:numFmt formatCode="#,##0" sourceLinked="0"/>
            <c:txPr>
              <a:bodyPr/>
              <a:lstStyle/>
              <a:p>
                <a:pPr>
                  <a:defRPr b="0" i="0" strike="noStrike" sz="1000" u="none">
                    <a:solidFill>
                      <a:srgbClr val="334155"/>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Russia</c:v>
                  </c:pt>
                  <c:pt idx="1">
                    <c:v>Canada</c:v>
                  </c:pt>
                  <c:pt idx="2">
                    <c:v>Australia</c:v>
                  </c:pt>
                  <c:pt idx="3">
                    <c:v>Sweden</c:v>
                  </c:pt>
                  <c:pt idx="4">
                    <c:v>Italy</c:v>
                  </c:pt>
                  <c:pt idx="5">
                    <c:v>France</c:v>
                  </c:pt>
                  <c:pt idx="6">
                    <c:v>UK</c:v>
                  </c:pt>
                  <c:pt idx="7">
                    <c:v>Germany</c:v>
                  </c:pt>
                  <c:pt idx="8">
                    <c:v>Soviet Union</c:v>
                  </c:pt>
                  <c:pt idx="9">
                    <c:v>USA</c:v>
                  </c:pt>
                </c:lvl>
              </c:multiLvlStrCache>
            </c:multiLvlStrRef>
          </c:cat>
          <c:val>
            <c:numRef>
              <c:f>Sheet1!$D$2:$D$11</c:f>
              <c:numCache>
                <c:formatCode>General</c:formatCode>
                <c:ptCount val="10"/>
                <c:pt idx="0">
                  <c:v>446</c:v>
                </c:pt>
                <c:pt idx="1">
                  <c:v>433</c:v>
                </c:pt>
                <c:pt idx="2">
                  <c:v>526</c:v>
                </c:pt>
                <c:pt idx="3">
                  <c:v>536</c:v>
                </c:pt>
                <c:pt idx="4">
                  <c:v>507</c:v>
                </c:pt>
                <c:pt idx="5">
                  <c:v>631</c:v>
                </c:pt>
                <c:pt idx="6">
                  <c:v>626</c:v>
                </c:pt>
                <c:pt idx="7">
                  <c:v>810</c:v>
                </c:pt>
                <c:pt idx="8">
                  <c:v>740</c:v>
                </c:pt>
                <c:pt idx="9">
                  <c:v>1301</c:v>
                </c:pt>
              </c:numCache>
            </c:numRef>
          </c:val>
        </c:ser>
        <c:dLbls>
          <c:numFmt formatCode="#,##0" sourceLinked="0"/>
          <c:txPr>
            <a:bodyPr/>
            <a:lstStyle/>
            <a:p>
              <a:pPr>
                <a:defRPr b="0" i="0" strike="noStrike" sz="1000" u="none">
                  <a:solidFill>
                    <a:srgbClr val="334155"/>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1F4B"/>
                </a:solidFill>
                <a:latin typeface="+mn-lt"/>
              </a:defRPr>
            </a:pPr>
            <a:r>
              <a:rPr sz="1200" b="0" i="0" u="none" strike="noStrike">
                <a:solidFill>
                  <a:srgbClr val="0B1F4B"/>
                </a:solidFill>
                <a:latin typeface="+mn-lt"/>
              </a:rPr>
              <a:t>Medal conversion rate (%)</a:t>
            </a:r>
          </a:p>
        </c:rich>
      </c:tx>
      <c:layout/>
      <c:overlay val="0"/>
    </c:title>
    <c:autoTitleDeleted val="0"/>
    <c:plotArea>
      <c:layout/>
      <c:barChart>
        <c:barDir val="bar"/>
        <c:grouping val="clustered"/>
        <c:varyColors val="0"/>
        <c:ser>
          <c:idx val="0"/>
          <c:order val="0"/>
          <c:tx>
            <c:strRef>
              <c:f>Sheet1!$B$1</c:f>
              <c:strCache>
                <c:ptCount val="1"/>
                <c:pt idx="0">
                  <c:v>Conversion %</c:v>
                </c:pt>
              </c:strCache>
            </c:strRef>
          </c:tx>
          <c:spPr>
            <a:solidFill>
              <a:srgbClr val="118DFF"/>
            </a:solidFill>
            <a:effectLst/>
          </c:spPr>
          <c:invertIfNegative val="0"/>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France</c:v>
                  </c:pt>
                  <c:pt idx="1">
                    <c:v>UK</c:v>
                  </c:pt>
                  <c:pt idx="2">
                    <c:v>Germany</c:v>
                  </c:pt>
                  <c:pt idx="3">
                    <c:v>Soviet Union</c:v>
                  </c:pt>
                  <c:pt idx="4">
                    <c:v>USA</c:v>
                  </c:pt>
                </c:lvl>
              </c:multiLvlStrCache>
            </c:multiLvlStrRef>
          </c:cat>
          <c:val>
            <c:numRef>
              <c:f>Sheet1!$B$2:$B$6</c:f>
              <c:numCache>
                <c:formatCode>General</c:formatCode>
                <c:ptCount val="5"/>
                <c:pt idx="0">
                  <c:v>32.44</c:v>
                </c:pt>
                <c:pt idx="1">
                  <c:v>34.08</c:v>
                </c:pt>
                <c:pt idx="2">
                  <c:v>50.28</c:v>
                </c:pt>
                <c:pt idx="3">
                  <c:v>93.07</c:v>
                </c:pt>
                <c:pt idx="4">
                  <c:v>58.69</c:v>
                </c:pt>
              </c:numCache>
            </c:numRef>
          </c:val>
        </c:ser>
        <c:dLbls>
          <c:numFmt formatCode="#,##0" sourceLinked="0"/>
          <c:txPr>
            <a:bodyPr/>
            <a:lstStyle/>
            <a:p>
              <a:pPr>
                <a:defRPr b="0" i="0" strike="noStrike" sz="1000" u="none">
                  <a:solidFill>
                    <a:srgbClr val="334155"/>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trends or patterns in the frequency of hosting Olympic Games?
Mutually Exclusive: Every Olympic edition is categorized strictly as either Summer or Winter with zero overlap.
Collectively Exhaustive: The combined 51 games (29 Summer + 22 Winter) cover 100% of all Olympic editions recorded in the dataset (1896–2016).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How has the duration of Olympic Games changed over time?
Mutually Exclusive: Categorizes event expansion (disciplines) and athlete participation (demographics) as distinct metrics across time.
Collectively Exhaustive: Tracks 100% of Olympic editions from 1896 to 2016 to capture the full evolutionary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notable events or occurrences associated with specific Olympic Games?
Mutually Exclusive: Separates major geopolitical disruptions (1980 Moscow boycott, 1984 Los Angeles counter-boycott) from general participation growth across Olympic editions.
Collectively Exhaustive: Captures 100% of historical Olympic host editions to evaluate national representation completeness.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emerging sports that have been recently added to the Olympics?
Mutually Exclusive: Isolates sports added in recent Olympic editions (&gt;2000) without double-counting long-standing historical disciplines.
Collectively Exhaustive: Scans the complete dataset of all Olympic sports across every official Games to capture 100% of newly introduced disciplines.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How has the popularity of certain sports changed over the years?
Mutually Exclusive: Categorizes participation counts into non-overlapping core sports (Athletics, Cycling, Football, Gymnastics, Swimming) for each Olympic year.
Collectively Exhaustive: Accounts for 100% of distinct participating athletes within these selected sports across all historical Games from 1896 to 2016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sports that are specific to a particular region or culture?
Mutually Exclusive: Categorizes total medal counts into distinct, non-overlapping geographic regions (region_name) for each individual selected sport (sport_name).
Collectively Exhaustive: Evaluates 100% of historical medal wins exceeding the 10-medal threshold across selected official Olympic sports to isolate concentrated regional dominance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sports that have a higher number of events for one gender compared to others?
Mutually Exclusive: Categorizes discrete sub-events into non-overlapping gender classifications (Male Events, Female Events, Mixed Events) based on official event designations.
Collectively Exhaustive: Accounts for 100% of sub-events across all sports in the dataset where an event count disparity exists ($\vert{}Male - Female\vert{} &gt;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new events that have been introduced in recent editions of the Olympics?
Mutually Exclusive: Categorizes newly debuted events into non-overlapping introduction years (introduction_year: 2012, 2014, 2016) and sport classifications (sport_name).
Collectively Exhaustive: Captures 100% of newly introduced Olympic sub-events in recent Games editions (&gt; 2012) to trace event modernization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events that have been discontinued or removed from the Olympics?
Mutually Exclusive: Categorizes individual discontinued sub-events into non-overlapping parent sports (sport_name) based on their final Olympic appearance (last_appeared &lt; 2004).
Collectively Exhaustive: Evaluates 100% of historical Olympic sub-events that have been removed or restructured in modern Olympic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notable trends in the height and weight of participants over time?
Mutually Exclusive: Aggregates physical metrics (Average of avg_height and Average of avg_weight) into distinct, non-overlapping Olympic Games editions (games_year).
Collectively Exhaustive: Evaluates 100% of historical participant records with recorded physical measurement data across all tracked Games editions in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dominant countries or regions in specific sports or events?
Mutually Exclusive: Categorizes aggregate Olympic medal wins into distinct, non-overlapping geographic entities (region_name) mapped to specific sport disciplines.
Collectively Exhaustive: Evaluates 100% of historical medal records meeting the major dominance threshold (&gt; 50 total medals) across official Olympic sports to capture regional performance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What factors contribute to the success or performance of participants from different countries?
Mutually Exclusive: Categorizes total participant volume (total_athletes) and medal tallies (total_medals) into non-overlapping national/regional entities (region_name).
Collectively Exhaustive: Evaluates 100% of major Olympic participating regions meeting the minimum threshold (&gt; 100 distinct athletes) to assess performance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countries that consistently perform well in multiple Olympic editions?
Mutually Exclusive: Categorizes long-term performance consistency by tracking distinct Olympic Games editions (editions_with_medals) across non-overlapping geographic entities (region_name).
Collectively Exhaustive: Evaluates 100% of top-performing Olympic nations meeting the high-longevity threshold (&gt; 15 separate medal-winning Olympic editions).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sports or events that have a higher number of medalists from a specific region?
Mutually Exclusive: Categorizes aggregate medalist counts (Sum of total_medalists) into non-overlapping geographic regions (region_name) mapped to specific high-dominance Olympic events.
Collectively Exhaustive: Evaluates 100% of historical event-region combinations meeting the concentration threshold (&gt; 20 medalists) across all Olympic editions to measure event specialization.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What are some notable instances of unexpected or surprising medal wins?
Mutually Exclusive: Categorizes individual unexpected/underdog medal wins into distinct, non-overlapping regional entities (region_name) after excluding traditional multi-sport powerhouses.
Collectively Exhaustive: Captures 100% of historical Olympic medal records achieved by emerging, specialized, and non-traditional sporting nations across all Olympic Games editions.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regions that have experienced significant growth or decline in Olympic participation?
Mutually Exclusive: Categorizes participation volume net growth (participation_growth) by evaluating distinct, non-overlapping geographic regions (region_name) across two distinct historical epochs (1900 vs.  2000).
Collectively Exhaustive: Evaluates 100% of national participating entities meeting the growth criteria to measure longitudinal delegation expansion.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How do cultural or geographical factors influence the performance of regions in specific sports?
Mutually Exclusive: Segregates historical Olympic medal outcomes (total_medals) into non-overlapping seasonal climate conditions (season: Summer vs. Winter) across distinct geographic regions (region_name).
Collectively Exhaustive: Captures 100% of regional medal-winning performances meeting the significance threshold ($\ge 10$ medals) across all historical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Are there any regions that have had a notable impact on the overall medal tally?
Mutually Exclusive: Categorizes total regional medal counts into distinct, non-overlapping medal tiers (Sum of gold_count, Sum of silver_count, Sum of bronze_count) across non-overlapping geographic entities (region_name).
Collectively Exhaustive: Evaluates 100% of top-performing historical Olympic nations meeting the medal threshold to evaluate total global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1F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4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Olympic Sports Analysis  |  Final Project Report</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863840" y="822960"/>
            <a:ext cx="3291840" cy="3291840"/>
          </a:xfrm>
          <a:prstGeom prst="ellipse">
            <a:avLst/>
          </a:prstGeom>
          <a:solidFill>
            <a:srgbClr val="118DFF">
              <a:alpha val="0"/>
            </a:srgbClr>
          </a:solidFill>
          <a:ln w="50800">
            <a:solidFill>
              <a:srgbClr val="118DFF"/>
            </a:solidFill>
            <a:prstDash val="solid"/>
          </a:ln>
        </p:spPr>
      </p:sp>
      <p:sp>
        <p:nvSpPr>
          <p:cNvPr id="3" name="Shape 1"/>
          <p:cNvSpPr/>
          <p:nvPr/>
        </p:nvSpPr>
        <p:spPr>
          <a:xfrm>
            <a:off x="9235440" y="2011680"/>
            <a:ext cx="2743200" cy="2743200"/>
          </a:xfrm>
          <a:prstGeom prst="ellipse">
            <a:avLst/>
          </a:prstGeom>
          <a:solidFill>
            <a:srgbClr val="E66C37">
              <a:alpha val="0"/>
            </a:srgbClr>
          </a:solidFill>
          <a:ln w="50800">
            <a:solidFill>
              <a:srgbClr val="E66C37"/>
            </a:solidFill>
            <a:prstDash val="solid"/>
          </a:ln>
        </p:spPr>
      </p:sp>
      <p:sp>
        <p:nvSpPr>
          <p:cNvPr id="4" name="Shape 2"/>
          <p:cNvSpPr/>
          <p:nvPr/>
        </p:nvSpPr>
        <p:spPr>
          <a:xfrm>
            <a:off x="8138160" y="3566160"/>
            <a:ext cx="2377440" cy="2377440"/>
          </a:xfrm>
          <a:prstGeom prst="ellipse">
            <a:avLst/>
          </a:prstGeom>
          <a:solidFill>
            <a:srgbClr val="F2B600">
              <a:alpha val="0"/>
            </a:srgbClr>
          </a:solidFill>
          <a:ln w="50800">
            <a:solidFill>
              <a:srgbClr val="F2B600"/>
            </a:solidFill>
            <a:prstDash val="solid"/>
          </a:ln>
        </p:spPr>
      </p:sp>
      <p:sp>
        <p:nvSpPr>
          <p:cNvPr id="5" name="Shape 3"/>
          <p:cNvSpPr/>
          <p:nvPr/>
        </p:nvSpPr>
        <p:spPr>
          <a:xfrm>
            <a:off x="10241280" y="4480560"/>
            <a:ext cx="2011680" cy="2011680"/>
          </a:xfrm>
          <a:prstGeom prst="ellipse">
            <a:avLst/>
          </a:prstGeom>
          <a:solidFill>
            <a:srgbClr val="2BB673">
              <a:alpha val="0"/>
            </a:srgbClr>
          </a:solidFill>
          <a:ln w="50800">
            <a:solidFill>
              <a:srgbClr val="2BB673"/>
            </a:solidFill>
            <a:prstDash val="solid"/>
          </a:ln>
        </p:spPr>
      </p:sp>
      <p:sp>
        <p:nvSpPr>
          <p:cNvPr id="6" name="Text 4"/>
          <p:cNvSpPr txBox="1"/>
          <p:nvPr/>
        </p:nvSpPr>
        <p:spPr>
          <a:xfrm>
            <a:off x="731520" y="1554480"/>
            <a:ext cx="6400800" cy="320040"/>
          </a:xfrm>
          <a:prstGeom prst="rect">
            <a:avLst/>
          </a:prstGeom>
          <a:noFill/>
          <a:ln/>
        </p:spPr>
        <p:txBody>
          <a:bodyPr wrap="square" lIns="0" tIns="0" rIns="0" bIns="0" rtlCol="0" anchor="t"/>
          <a:lstStyle/>
          <a:p>
            <a:pPr indent="0" marL="0">
              <a:buNone/>
            </a:pPr>
            <a:r>
              <a:rPr lang="en-US" sz="1400" b="1" spc="300" kern="0" dirty="0">
                <a:solidFill>
                  <a:srgbClr val="7FC1FF"/>
                </a:solidFill>
                <a:latin typeface="Calibri" pitchFamily="34" charset="0"/>
                <a:ea typeface="Calibri" pitchFamily="34" charset="-122"/>
                <a:cs typeface="Calibri" pitchFamily="34" charset="-120"/>
              </a:rPr>
              <a:t>FINAL PROJECT REPORT</a:t>
            </a:r>
            <a:endParaRPr lang="en-US" sz="1400" dirty="0"/>
          </a:p>
        </p:txBody>
      </p:sp>
      <p:sp>
        <p:nvSpPr>
          <p:cNvPr id="7" name="Text 5"/>
          <p:cNvSpPr txBox="1"/>
          <p:nvPr/>
        </p:nvSpPr>
        <p:spPr>
          <a:xfrm>
            <a:off x="731520" y="2011680"/>
            <a:ext cx="7315200" cy="146304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Olympic Sports Analysis</a:t>
            </a:r>
            <a:endParaRPr lang="en-US" sz="5400" dirty="0"/>
          </a:p>
        </p:txBody>
      </p:sp>
      <p:sp>
        <p:nvSpPr>
          <p:cNvPr id="8" name="Text 6"/>
          <p:cNvSpPr txBox="1"/>
          <p:nvPr/>
        </p:nvSpPr>
        <p:spPr>
          <a:xfrm>
            <a:off x="731520" y="4069080"/>
            <a:ext cx="6949440" cy="73152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SQL EDA  ·  Power BI &amp; DAX Model  ·  Interactive Dashboard  ·  MECE Framework</a:t>
            </a:r>
            <a:endParaRPr lang="en-US" sz="1800" dirty="0"/>
          </a:p>
        </p:txBody>
      </p:sp>
      <p:sp>
        <p:nvSpPr>
          <p:cNvPr id="9" name="Text 7"/>
          <p:cNvSpPr txBox="1"/>
          <p:nvPr/>
        </p:nvSpPr>
        <p:spPr>
          <a:xfrm>
            <a:off x="731520" y="5852160"/>
            <a:ext cx="8229600" cy="32004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51 Games  |  66 Sports  |  757 Events  |  129K Participations  |  1896–2016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OVERVIEW</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Project at a Glance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was built and the dataset it covers</a:t>
            </a:r>
            <a:endParaRPr lang="en-US" sz="1400" dirty="0"/>
          </a:p>
        </p:txBody>
      </p:sp>
      <p:sp>
        <p:nvSpPr>
          <p:cNvPr id="5" name="Shape 3"/>
          <p:cNvSpPr/>
          <p:nvPr/>
        </p:nvSpPr>
        <p:spPr>
          <a:xfrm>
            <a:off x="457200" y="1691640"/>
            <a:ext cx="777240" cy="777240"/>
          </a:xfrm>
          <a:prstGeom prst="ellipse">
            <a:avLst/>
          </a:prstGeom>
          <a:solidFill>
            <a:schemeClr val="accent2"/>
          </a:solidFill>
          <a:ln w="12700">
            <a:solidFill>
              <a:schemeClr val="accent2"/>
            </a:solidFill>
            <a:prstDash val="solid"/>
          </a:ln>
        </p:spPr>
      </p:sp>
      <p:sp>
        <p:nvSpPr>
          <p:cNvPr id="6" name="Text 4"/>
          <p:cNvSpPr txBox="1"/>
          <p:nvPr/>
        </p:nvSpPr>
        <p:spPr>
          <a:xfrm>
            <a:off x="457200" y="169164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18</a:t>
            </a:r>
            <a:endParaRPr lang="en-US" sz="2200" dirty="0"/>
          </a:p>
        </p:txBody>
      </p:sp>
      <p:sp>
        <p:nvSpPr>
          <p:cNvPr id="7" name="Text 5"/>
          <p:cNvSpPr txBox="1"/>
          <p:nvPr/>
        </p:nvSpPr>
        <p:spPr>
          <a:xfrm>
            <a:off x="1463040" y="1709928"/>
            <a:ext cx="4023360" cy="320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SQL EDA queries</a:t>
            </a:r>
            <a:endParaRPr lang="en-US" sz="1800" dirty="0"/>
          </a:p>
        </p:txBody>
      </p:sp>
      <p:sp>
        <p:nvSpPr>
          <p:cNvPr id="8" name="Text 6"/>
          <p:cNvSpPr txBox="1"/>
          <p:nvPr/>
        </p:nvSpPr>
        <p:spPr>
          <a:xfrm>
            <a:off x="1463040" y="2057400"/>
            <a:ext cx="4023360" cy="4572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Solved in SQL with Excel pivot charts, each with a MECE breakdown</a:t>
            </a:r>
            <a:endParaRPr lang="en-US" sz="1400" dirty="0"/>
          </a:p>
        </p:txBody>
      </p:sp>
      <p:sp>
        <p:nvSpPr>
          <p:cNvPr id="9" name="Shape 7"/>
          <p:cNvSpPr/>
          <p:nvPr/>
        </p:nvSpPr>
        <p:spPr>
          <a:xfrm>
            <a:off x="457200" y="2834640"/>
            <a:ext cx="777240" cy="777240"/>
          </a:xfrm>
          <a:prstGeom prst="ellipse">
            <a:avLst/>
          </a:prstGeom>
          <a:solidFill>
            <a:schemeClr val="accent2"/>
          </a:solidFill>
          <a:ln w="12700">
            <a:solidFill>
              <a:schemeClr val="accent2"/>
            </a:solidFill>
            <a:prstDash val="solid"/>
          </a:ln>
        </p:spPr>
      </p:sp>
      <p:sp>
        <p:nvSpPr>
          <p:cNvPr id="10" name="Text 8"/>
          <p:cNvSpPr txBox="1"/>
          <p:nvPr/>
        </p:nvSpPr>
        <p:spPr>
          <a:xfrm>
            <a:off x="457200" y="283464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18</a:t>
            </a:r>
            <a:endParaRPr lang="en-US" sz="2200" dirty="0"/>
          </a:p>
        </p:txBody>
      </p:sp>
      <p:sp>
        <p:nvSpPr>
          <p:cNvPr id="11" name="Text 9"/>
          <p:cNvSpPr txBox="1"/>
          <p:nvPr/>
        </p:nvSpPr>
        <p:spPr>
          <a:xfrm>
            <a:off x="1463040" y="2852928"/>
            <a:ext cx="4023360" cy="320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Power BI questions</a:t>
            </a:r>
            <a:endParaRPr lang="en-US" sz="1800" dirty="0"/>
          </a:p>
        </p:txBody>
      </p:sp>
      <p:sp>
        <p:nvSpPr>
          <p:cNvPr id="12" name="Text 10"/>
          <p:cNvSpPr txBox="1"/>
          <p:nvPr/>
        </p:nvSpPr>
        <p:spPr>
          <a:xfrm>
            <a:off x="1463040" y="3200400"/>
            <a:ext cx="4023360" cy="4572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Visuals backed by a DAX measure layer on a relational model</a:t>
            </a:r>
            <a:endParaRPr lang="en-US" sz="1400" dirty="0"/>
          </a:p>
        </p:txBody>
      </p:sp>
      <p:sp>
        <p:nvSpPr>
          <p:cNvPr id="13" name="Shape 11"/>
          <p:cNvSpPr/>
          <p:nvPr/>
        </p:nvSpPr>
        <p:spPr>
          <a:xfrm>
            <a:off x="457200" y="3977640"/>
            <a:ext cx="777240" cy="777240"/>
          </a:xfrm>
          <a:prstGeom prst="ellipse">
            <a:avLst/>
          </a:prstGeom>
          <a:solidFill>
            <a:schemeClr val="accent2"/>
          </a:solidFill>
          <a:ln w="12700">
            <a:solidFill>
              <a:schemeClr val="accent2"/>
            </a:solidFill>
            <a:prstDash val="solid"/>
          </a:ln>
        </p:spPr>
      </p:sp>
      <p:sp>
        <p:nvSpPr>
          <p:cNvPr id="14" name="Text 12"/>
          <p:cNvSpPr txBox="1"/>
          <p:nvPr/>
        </p:nvSpPr>
        <p:spPr>
          <a:xfrm>
            <a:off x="457200" y="397764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15" name="Text 13"/>
          <p:cNvSpPr txBox="1"/>
          <p:nvPr/>
        </p:nvSpPr>
        <p:spPr>
          <a:xfrm>
            <a:off x="1463040" y="3995928"/>
            <a:ext cx="4023360" cy="320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Dashboard pages</a:t>
            </a:r>
            <a:endParaRPr lang="en-US" sz="1800" dirty="0"/>
          </a:p>
        </p:txBody>
      </p:sp>
      <p:sp>
        <p:nvSpPr>
          <p:cNvPr id="16" name="Text 14"/>
          <p:cNvSpPr txBox="1"/>
          <p:nvPr/>
        </p:nvSpPr>
        <p:spPr>
          <a:xfrm>
            <a:off x="1463040" y="4343400"/>
            <a:ext cx="4023360" cy="4572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Overview, Sports &amp; Events, Participants, Medals, Regional</a:t>
            </a:r>
            <a:endParaRPr lang="en-US" sz="1400" dirty="0"/>
          </a:p>
        </p:txBody>
      </p:sp>
      <p:sp>
        <p:nvSpPr>
          <p:cNvPr id="17" name="Shape 15"/>
          <p:cNvSpPr/>
          <p:nvPr/>
        </p:nvSpPr>
        <p:spPr>
          <a:xfrm>
            <a:off x="457200" y="5120640"/>
            <a:ext cx="777240" cy="777240"/>
          </a:xfrm>
          <a:prstGeom prst="ellipse">
            <a:avLst/>
          </a:prstGeom>
          <a:solidFill>
            <a:schemeClr val="accent2"/>
          </a:solidFill>
          <a:ln w="12700">
            <a:solidFill>
              <a:schemeClr val="accent2"/>
            </a:solidFill>
            <a:prstDash val="solid"/>
          </a:ln>
        </p:spPr>
      </p:sp>
      <p:sp>
        <p:nvSpPr>
          <p:cNvPr id="18" name="Text 16"/>
          <p:cNvSpPr txBox="1"/>
          <p:nvPr/>
        </p:nvSpPr>
        <p:spPr>
          <a:xfrm>
            <a:off x="457200" y="512064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9" name="Text 17"/>
          <p:cNvSpPr txBox="1"/>
          <p:nvPr/>
        </p:nvSpPr>
        <p:spPr>
          <a:xfrm>
            <a:off x="1463040" y="5138928"/>
            <a:ext cx="4023360" cy="320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MECE pillars</a:t>
            </a:r>
            <a:endParaRPr lang="en-US" sz="1800" dirty="0"/>
          </a:p>
        </p:txBody>
      </p:sp>
      <p:sp>
        <p:nvSpPr>
          <p:cNvPr id="20" name="Text 18"/>
          <p:cNvSpPr txBox="1"/>
          <p:nvPr/>
        </p:nvSpPr>
        <p:spPr>
          <a:xfrm>
            <a:off x="1463040" y="5486400"/>
            <a:ext cx="4023360" cy="45720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Non-overlapping framework covering 100% of the data</a:t>
            </a:r>
            <a:endParaRPr lang="en-US" sz="1400" dirty="0"/>
          </a:p>
        </p:txBody>
      </p:sp>
      <p:sp>
        <p:nvSpPr>
          <p:cNvPr id="21" name="Shape 19"/>
          <p:cNvSpPr/>
          <p:nvPr/>
        </p:nvSpPr>
        <p:spPr>
          <a:xfrm>
            <a:off x="5943600" y="1691640"/>
            <a:ext cx="1783080" cy="1965960"/>
          </a:xfrm>
          <a:prstGeom prst="roundRect">
            <a:avLst>
              <a:gd name="adj" fmla="val 4103"/>
            </a:avLst>
          </a:prstGeom>
          <a:solidFill>
            <a:schemeClr val="bg2"/>
          </a:solidFill>
          <a:ln w="12700">
            <a:solidFill>
              <a:schemeClr val="bg2"/>
            </a:solidFill>
            <a:prstDash val="solid"/>
          </a:ln>
        </p:spPr>
      </p:sp>
      <p:sp>
        <p:nvSpPr>
          <p:cNvPr id="22" name="Text 20"/>
          <p:cNvSpPr txBox="1"/>
          <p:nvPr/>
        </p:nvSpPr>
        <p:spPr>
          <a:xfrm>
            <a:off x="6035040" y="2148840"/>
            <a:ext cx="1600200" cy="731520"/>
          </a:xfrm>
          <a:prstGeom prst="rect">
            <a:avLst/>
          </a:prstGeom>
          <a:noFill/>
          <a:ln/>
        </p:spPr>
        <p:txBody>
          <a:bodyPr wrap="square" lIns="0" tIns="0" rIns="0" bIns="0" rtlCol="0" anchor="ctr"/>
          <a:lstStyle/>
          <a:p>
            <a:pPr algn="ctr" indent="0" marL="0">
              <a:buNone/>
            </a:pPr>
            <a:r>
              <a:rPr lang="en-US" sz="3600" b="1" dirty="0">
                <a:solidFill>
                  <a:schemeClr val="accent2"/>
                </a:solidFill>
                <a:latin typeface="Cambria" pitchFamily="34" charset="0"/>
                <a:ea typeface="Cambria" pitchFamily="34" charset="-122"/>
                <a:cs typeface="Cambria" pitchFamily="34" charset="-120"/>
              </a:rPr>
              <a:t>51</a:t>
            </a:r>
            <a:endParaRPr lang="en-US" sz="3600" dirty="0"/>
          </a:p>
        </p:txBody>
      </p:sp>
      <p:sp>
        <p:nvSpPr>
          <p:cNvPr id="23" name="Text 21"/>
          <p:cNvSpPr txBox="1"/>
          <p:nvPr/>
        </p:nvSpPr>
        <p:spPr>
          <a:xfrm>
            <a:off x="6035040" y="2971800"/>
            <a:ext cx="1600200" cy="4572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Olympic Games</a:t>
            </a:r>
            <a:endParaRPr lang="en-US" sz="1400" dirty="0"/>
          </a:p>
        </p:txBody>
      </p:sp>
      <p:sp>
        <p:nvSpPr>
          <p:cNvPr id="24" name="Shape 22"/>
          <p:cNvSpPr/>
          <p:nvPr/>
        </p:nvSpPr>
        <p:spPr>
          <a:xfrm>
            <a:off x="7882128" y="1691640"/>
            <a:ext cx="1783080" cy="1965960"/>
          </a:xfrm>
          <a:prstGeom prst="roundRect">
            <a:avLst>
              <a:gd name="adj" fmla="val 4103"/>
            </a:avLst>
          </a:prstGeom>
          <a:solidFill>
            <a:schemeClr val="bg2"/>
          </a:solidFill>
          <a:ln w="12700">
            <a:solidFill>
              <a:schemeClr val="bg2"/>
            </a:solidFill>
            <a:prstDash val="solid"/>
          </a:ln>
        </p:spPr>
      </p:sp>
      <p:sp>
        <p:nvSpPr>
          <p:cNvPr id="25" name="Text 23"/>
          <p:cNvSpPr txBox="1"/>
          <p:nvPr/>
        </p:nvSpPr>
        <p:spPr>
          <a:xfrm>
            <a:off x="7973568" y="2148840"/>
            <a:ext cx="1600200" cy="731520"/>
          </a:xfrm>
          <a:prstGeom prst="rect">
            <a:avLst/>
          </a:prstGeom>
          <a:noFill/>
          <a:ln/>
        </p:spPr>
        <p:txBody>
          <a:bodyPr wrap="square" lIns="0" tIns="0" rIns="0" bIns="0" rtlCol="0" anchor="ctr"/>
          <a:lstStyle/>
          <a:p>
            <a:pPr algn="ctr" indent="0" marL="0">
              <a:buNone/>
            </a:pPr>
            <a:r>
              <a:rPr lang="en-US" sz="3600" b="1" dirty="0">
                <a:solidFill>
                  <a:schemeClr val="accent2"/>
                </a:solidFill>
                <a:latin typeface="Cambria" pitchFamily="34" charset="0"/>
                <a:ea typeface="Cambria" pitchFamily="34" charset="-122"/>
                <a:cs typeface="Cambria" pitchFamily="34" charset="-120"/>
              </a:rPr>
              <a:t>66</a:t>
            </a:r>
            <a:endParaRPr lang="en-US" sz="3600" dirty="0"/>
          </a:p>
        </p:txBody>
      </p:sp>
      <p:sp>
        <p:nvSpPr>
          <p:cNvPr id="26" name="Text 24"/>
          <p:cNvSpPr txBox="1"/>
          <p:nvPr/>
        </p:nvSpPr>
        <p:spPr>
          <a:xfrm>
            <a:off x="7973568" y="2971800"/>
            <a:ext cx="1600200" cy="4572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Sports</a:t>
            </a:r>
            <a:endParaRPr lang="en-US" sz="1400" dirty="0"/>
          </a:p>
        </p:txBody>
      </p:sp>
      <p:sp>
        <p:nvSpPr>
          <p:cNvPr id="27" name="Shape 25"/>
          <p:cNvSpPr/>
          <p:nvPr/>
        </p:nvSpPr>
        <p:spPr>
          <a:xfrm>
            <a:off x="9820656" y="1691640"/>
            <a:ext cx="1783080" cy="1965960"/>
          </a:xfrm>
          <a:prstGeom prst="roundRect">
            <a:avLst>
              <a:gd name="adj" fmla="val 4103"/>
            </a:avLst>
          </a:prstGeom>
          <a:solidFill>
            <a:schemeClr val="bg2"/>
          </a:solidFill>
          <a:ln w="12700">
            <a:solidFill>
              <a:schemeClr val="bg2"/>
            </a:solidFill>
            <a:prstDash val="solid"/>
          </a:ln>
        </p:spPr>
      </p:sp>
      <p:sp>
        <p:nvSpPr>
          <p:cNvPr id="28" name="Text 26"/>
          <p:cNvSpPr txBox="1"/>
          <p:nvPr/>
        </p:nvSpPr>
        <p:spPr>
          <a:xfrm>
            <a:off x="9912096" y="2148840"/>
            <a:ext cx="1600200" cy="731520"/>
          </a:xfrm>
          <a:prstGeom prst="rect">
            <a:avLst/>
          </a:prstGeom>
          <a:noFill/>
          <a:ln/>
        </p:spPr>
        <p:txBody>
          <a:bodyPr wrap="square" lIns="0" tIns="0" rIns="0" bIns="0" rtlCol="0" anchor="ctr"/>
          <a:lstStyle/>
          <a:p>
            <a:pPr algn="ctr" indent="0" marL="0">
              <a:buNone/>
            </a:pPr>
            <a:r>
              <a:rPr lang="en-US" sz="3600" b="1" dirty="0">
                <a:solidFill>
                  <a:schemeClr val="accent2"/>
                </a:solidFill>
                <a:latin typeface="Cambria" pitchFamily="34" charset="0"/>
                <a:ea typeface="Cambria" pitchFamily="34" charset="-122"/>
                <a:cs typeface="Cambria" pitchFamily="34" charset="-120"/>
              </a:rPr>
              <a:t>757</a:t>
            </a:r>
            <a:endParaRPr lang="en-US" sz="3600" dirty="0"/>
          </a:p>
        </p:txBody>
      </p:sp>
      <p:sp>
        <p:nvSpPr>
          <p:cNvPr id="29" name="Text 27"/>
          <p:cNvSpPr txBox="1"/>
          <p:nvPr/>
        </p:nvSpPr>
        <p:spPr>
          <a:xfrm>
            <a:off x="9912096" y="2971800"/>
            <a:ext cx="1600200" cy="4572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Events</a:t>
            </a:r>
            <a:endParaRPr lang="en-US" sz="1400" dirty="0"/>
          </a:p>
        </p:txBody>
      </p:sp>
      <p:sp>
        <p:nvSpPr>
          <p:cNvPr id="30" name="Shape 28"/>
          <p:cNvSpPr/>
          <p:nvPr/>
        </p:nvSpPr>
        <p:spPr>
          <a:xfrm>
            <a:off x="5943600" y="3931920"/>
            <a:ext cx="1783080" cy="1965960"/>
          </a:xfrm>
          <a:prstGeom prst="roundRect">
            <a:avLst>
              <a:gd name="adj" fmla="val 4103"/>
            </a:avLst>
          </a:prstGeom>
          <a:solidFill>
            <a:schemeClr val="bg2"/>
          </a:solidFill>
          <a:ln w="12700">
            <a:solidFill>
              <a:schemeClr val="bg2"/>
            </a:solidFill>
            <a:prstDash val="solid"/>
          </a:ln>
        </p:spPr>
      </p:sp>
      <p:sp>
        <p:nvSpPr>
          <p:cNvPr id="31" name="Text 29"/>
          <p:cNvSpPr txBox="1"/>
          <p:nvPr/>
        </p:nvSpPr>
        <p:spPr>
          <a:xfrm>
            <a:off x="6035040" y="4389120"/>
            <a:ext cx="1600200" cy="731520"/>
          </a:xfrm>
          <a:prstGeom prst="rect">
            <a:avLst/>
          </a:prstGeom>
          <a:noFill/>
          <a:ln/>
        </p:spPr>
        <p:txBody>
          <a:bodyPr wrap="square" lIns="0" tIns="0" rIns="0" bIns="0" rtlCol="0" anchor="ctr"/>
          <a:lstStyle/>
          <a:p>
            <a:pPr algn="ctr" indent="0" marL="0">
              <a:buNone/>
            </a:pPr>
            <a:r>
              <a:rPr lang="en-US" sz="3600" b="1" dirty="0">
                <a:solidFill>
                  <a:schemeClr val="accent2"/>
                </a:solidFill>
                <a:latin typeface="Cambria" pitchFamily="34" charset="0"/>
                <a:ea typeface="Cambria" pitchFamily="34" charset="-122"/>
                <a:cs typeface="Cambria" pitchFamily="34" charset="-120"/>
              </a:rPr>
              <a:t>129K</a:t>
            </a:r>
            <a:endParaRPr lang="en-US" sz="3600" dirty="0"/>
          </a:p>
        </p:txBody>
      </p:sp>
      <p:sp>
        <p:nvSpPr>
          <p:cNvPr id="32" name="Text 30"/>
          <p:cNvSpPr txBox="1"/>
          <p:nvPr/>
        </p:nvSpPr>
        <p:spPr>
          <a:xfrm>
            <a:off x="6035040" y="5212080"/>
            <a:ext cx="1600200" cy="4572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Participations</a:t>
            </a:r>
            <a:endParaRPr lang="en-US" sz="1400" dirty="0"/>
          </a:p>
        </p:txBody>
      </p:sp>
      <p:sp>
        <p:nvSpPr>
          <p:cNvPr id="33" name="Shape 31"/>
          <p:cNvSpPr/>
          <p:nvPr/>
        </p:nvSpPr>
        <p:spPr>
          <a:xfrm>
            <a:off x="7882128" y="3931920"/>
            <a:ext cx="1783080" cy="1965960"/>
          </a:xfrm>
          <a:prstGeom prst="roundRect">
            <a:avLst>
              <a:gd name="adj" fmla="val 4103"/>
            </a:avLst>
          </a:prstGeom>
          <a:solidFill>
            <a:schemeClr val="bg2"/>
          </a:solidFill>
          <a:ln w="12700">
            <a:solidFill>
              <a:schemeClr val="bg2"/>
            </a:solidFill>
            <a:prstDash val="solid"/>
          </a:ln>
        </p:spPr>
      </p:sp>
      <p:sp>
        <p:nvSpPr>
          <p:cNvPr id="34" name="Text 32"/>
          <p:cNvSpPr txBox="1"/>
          <p:nvPr/>
        </p:nvSpPr>
        <p:spPr>
          <a:xfrm>
            <a:off x="7973568" y="4389120"/>
            <a:ext cx="1600200" cy="731520"/>
          </a:xfrm>
          <a:prstGeom prst="rect">
            <a:avLst/>
          </a:prstGeom>
          <a:noFill/>
          <a:ln/>
        </p:spPr>
        <p:txBody>
          <a:bodyPr wrap="square" lIns="0" tIns="0" rIns="0" bIns="0" rtlCol="0" anchor="ctr"/>
          <a:lstStyle/>
          <a:p>
            <a:pPr algn="ctr" indent="0" marL="0">
              <a:buNone/>
            </a:pPr>
            <a:r>
              <a:rPr lang="en-US" sz="3600" b="1" dirty="0">
                <a:solidFill>
                  <a:schemeClr val="accent2"/>
                </a:solidFill>
                <a:latin typeface="Cambria" pitchFamily="34" charset="0"/>
                <a:ea typeface="Cambria" pitchFamily="34" charset="-122"/>
                <a:cs typeface="Cambria" pitchFamily="34" charset="-120"/>
              </a:rPr>
              <a:t>39K</a:t>
            </a:r>
            <a:endParaRPr lang="en-US" sz="3600" dirty="0"/>
          </a:p>
        </p:txBody>
      </p:sp>
      <p:sp>
        <p:nvSpPr>
          <p:cNvPr id="35" name="Text 33"/>
          <p:cNvSpPr txBox="1"/>
          <p:nvPr/>
        </p:nvSpPr>
        <p:spPr>
          <a:xfrm>
            <a:off x="7973568" y="5212080"/>
            <a:ext cx="1600200" cy="4572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Medals Awarded</a:t>
            </a:r>
            <a:endParaRPr lang="en-US" sz="1400" dirty="0"/>
          </a:p>
        </p:txBody>
      </p:sp>
      <p:sp>
        <p:nvSpPr>
          <p:cNvPr id="36" name="Shape 34"/>
          <p:cNvSpPr/>
          <p:nvPr/>
        </p:nvSpPr>
        <p:spPr>
          <a:xfrm>
            <a:off x="9820656" y="3931920"/>
            <a:ext cx="1783080" cy="1965960"/>
          </a:xfrm>
          <a:prstGeom prst="roundRect">
            <a:avLst>
              <a:gd name="adj" fmla="val 4103"/>
            </a:avLst>
          </a:prstGeom>
          <a:solidFill>
            <a:schemeClr val="bg2"/>
          </a:solidFill>
          <a:ln w="12700">
            <a:solidFill>
              <a:schemeClr val="bg2"/>
            </a:solidFill>
            <a:prstDash val="solid"/>
          </a:ln>
        </p:spPr>
      </p:sp>
      <p:sp>
        <p:nvSpPr>
          <p:cNvPr id="37" name="Text 35"/>
          <p:cNvSpPr txBox="1"/>
          <p:nvPr/>
        </p:nvSpPr>
        <p:spPr>
          <a:xfrm>
            <a:off x="9912096" y="4389120"/>
            <a:ext cx="1600200" cy="731520"/>
          </a:xfrm>
          <a:prstGeom prst="rect">
            <a:avLst/>
          </a:prstGeom>
          <a:noFill/>
          <a:ln/>
        </p:spPr>
        <p:txBody>
          <a:bodyPr wrap="square" lIns="0" tIns="0" rIns="0" bIns="0" rtlCol="0" anchor="ctr"/>
          <a:lstStyle/>
          <a:p>
            <a:pPr algn="ctr" indent="0" marL="0">
              <a:buNone/>
            </a:pPr>
            <a:r>
              <a:rPr lang="en-US" sz="3600" b="1" dirty="0">
                <a:solidFill>
                  <a:schemeClr val="accent2"/>
                </a:solidFill>
                <a:latin typeface="Cambria" pitchFamily="34" charset="0"/>
                <a:ea typeface="Cambria" pitchFamily="34" charset="-122"/>
                <a:cs typeface="Cambria" pitchFamily="34" charset="-120"/>
              </a:rPr>
              <a:t>228</a:t>
            </a:r>
            <a:endParaRPr lang="en-US" sz="3600" dirty="0"/>
          </a:p>
        </p:txBody>
      </p:sp>
      <p:sp>
        <p:nvSpPr>
          <p:cNvPr id="38" name="Text 36"/>
          <p:cNvSpPr txBox="1"/>
          <p:nvPr/>
        </p:nvSpPr>
        <p:spPr>
          <a:xfrm>
            <a:off x="9912096" y="5212080"/>
            <a:ext cx="1600200" cy="457200"/>
          </a:xfrm>
          <a:prstGeom prst="rect">
            <a:avLst/>
          </a:prstGeom>
          <a:noFill/>
          <a:ln/>
        </p:spPr>
        <p:txBody>
          <a:bodyPr wrap="square" lIns="0" tIns="0" rIns="0" bIns="0" rtlCol="0" anchor="t"/>
          <a:lstStyle/>
          <a:p>
            <a:pPr algn="ctr" indent="0" marL="0">
              <a:buNone/>
            </a:pPr>
            <a:r>
              <a:rPr lang="en-US" sz="1400" dirty="0">
                <a:solidFill>
                  <a:schemeClr val="tx1"/>
                </a:solidFill>
                <a:latin typeface="Calibri" pitchFamily="34" charset="0"/>
                <a:ea typeface="Calibri" pitchFamily="34" charset="-122"/>
                <a:cs typeface="Calibri" pitchFamily="34" charset="-120"/>
              </a:rPr>
              <a:t>Regional NOCs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METHODOLOGY</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MECE Analytical Framework</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Four non-overlapping pillars give 100% coverage of the dataset</a:t>
            </a:r>
            <a:endParaRPr lang="en-US" sz="1400" dirty="0"/>
          </a:p>
        </p:txBody>
      </p:sp>
      <p:sp>
        <p:nvSpPr>
          <p:cNvPr id="5" name="Shape 3"/>
          <p:cNvSpPr/>
          <p:nvPr/>
        </p:nvSpPr>
        <p:spPr>
          <a:xfrm>
            <a:off x="457200" y="1691640"/>
            <a:ext cx="2651760" cy="3291840"/>
          </a:xfrm>
          <a:prstGeom prst="roundRect">
            <a:avLst>
              <a:gd name="adj" fmla="val 2759"/>
            </a:avLst>
          </a:prstGeom>
          <a:solidFill>
            <a:schemeClr val="bg2"/>
          </a:solidFill>
          <a:ln w="12700">
            <a:solidFill>
              <a:schemeClr val="bg2"/>
            </a:solidFill>
            <a:prstDash val="solid"/>
          </a:ln>
        </p:spPr>
      </p:sp>
      <p:sp>
        <p:nvSpPr>
          <p:cNvPr id="6" name="Shape 4"/>
          <p:cNvSpPr/>
          <p:nvPr/>
        </p:nvSpPr>
        <p:spPr>
          <a:xfrm>
            <a:off x="685800" y="1920240"/>
            <a:ext cx="731520" cy="731520"/>
          </a:xfrm>
          <a:prstGeom prst="ellipse">
            <a:avLst/>
          </a:prstGeom>
          <a:solidFill>
            <a:schemeClr val="accent1"/>
          </a:solidFill>
          <a:ln w="12700">
            <a:solidFill>
              <a:schemeClr val="bg1"/>
            </a:solidFill>
            <a:prstDash val="solid"/>
          </a:ln>
        </p:spPr>
      </p:sp>
      <p:sp>
        <p:nvSpPr>
          <p:cNvPr id="7" name="Text 5"/>
          <p:cNvSpPr txBox="1"/>
          <p:nvPr/>
        </p:nvSpPr>
        <p:spPr>
          <a:xfrm>
            <a:off x="685800" y="192024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I</a:t>
            </a:r>
            <a:endParaRPr lang="en-US" sz="2200" dirty="0"/>
          </a:p>
        </p:txBody>
      </p:sp>
      <p:sp>
        <p:nvSpPr>
          <p:cNvPr id="8" name="Text 6"/>
          <p:cNvSpPr txBox="1"/>
          <p:nvPr/>
        </p:nvSpPr>
        <p:spPr>
          <a:xfrm>
            <a:off x="685800" y="2880360"/>
            <a:ext cx="2194560" cy="8686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Games Architecture &amp; Temporal Evolution</a:t>
            </a:r>
            <a:endParaRPr lang="en-US" sz="1800" dirty="0"/>
          </a:p>
        </p:txBody>
      </p:sp>
      <p:sp>
        <p:nvSpPr>
          <p:cNvPr id="9" name="Text 7"/>
          <p:cNvSpPr txBox="1"/>
          <p:nvPr/>
        </p:nvSpPr>
        <p:spPr>
          <a:xfrm>
            <a:off x="685800" y="3840480"/>
            <a:ext cx="21945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Summer vs Winter split, hosting periodicity across decades, top host cities</a:t>
            </a:r>
            <a:endParaRPr lang="en-US" sz="1400" dirty="0"/>
          </a:p>
        </p:txBody>
      </p:sp>
      <p:sp>
        <p:nvSpPr>
          <p:cNvPr id="10" name="Shape 8"/>
          <p:cNvSpPr/>
          <p:nvPr/>
        </p:nvSpPr>
        <p:spPr>
          <a:xfrm>
            <a:off x="3319272" y="1691640"/>
            <a:ext cx="2651760" cy="3291840"/>
          </a:xfrm>
          <a:prstGeom prst="roundRect">
            <a:avLst>
              <a:gd name="adj" fmla="val 2759"/>
            </a:avLst>
          </a:prstGeom>
          <a:solidFill>
            <a:schemeClr val="bg2"/>
          </a:solidFill>
          <a:ln w="12700">
            <a:solidFill>
              <a:schemeClr val="bg2"/>
            </a:solidFill>
            <a:prstDash val="solid"/>
          </a:ln>
        </p:spPr>
      </p:sp>
      <p:sp>
        <p:nvSpPr>
          <p:cNvPr id="11" name="Shape 9"/>
          <p:cNvSpPr/>
          <p:nvPr/>
        </p:nvSpPr>
        <p:spPr>
          <a:xfrm>
            <a:off x="3547872" y="1920240"/>
            <a:ext cx="731520" cy="731520"/>
          </a:xfrm>
          <a:prstGeom prst="ellipse">
            <a:avLst/>
          </a:prstGeom>
          <a:solidFill>
            <a:schemeClr val="accent2"/>
          </a:solidFill>
          <a:ln w="12700">
            <a:solidFill>
              <a:schemeClr val="bg1"/>
            </a:solidFill>
            <a:prstDash val="solid"/>
          </a:ln>
        </p:spPr>
      </p:sp>
      <p:sp>
        <p:nvSpPr>
          <p:cNvPr id="12" name="Text 10"/>
          <p:cNvSpPr txBox="1"/>
          <p:nvPr/>
        </p:nvSpPr>
        <p:spPr>
          <a:xfrm>
            <a:off x="3547872" y="192024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II</a:t>
            </a:r>
            <a:endParaRPr lang="en-US" sz="2200" dirty="0"/>
          </a:p>
        </p:txBody>
      </p:sp>
      <p:sp>
        <p:nvSpPr>
          <p:cNvPr id="13" name="Text 11"/>
          <p:cNvSpPr txBox="1"/>
          <p:nvPr/>
        </p:nvSpPr>
        <p:spPr>
          <a:xfrm>
            <a:off x="3547872" y="2880360"/>
            <a:ext cx="2194560" cy="8686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Sports &amp; Event Portfolio</a:t>
            </a:r>
            <a:endParaRPr lang="en-US" sz="1800" dirty="0"/>
          </a:p>
        </p:txBody>
      </p:sp>
      <p:sp>
        <p:nvSpPr>
          <p:cNvPr id="14" name="Text 12"/>
          <p:cNvSpPr txBox="1"/>
          <p:nvPr/>
        </p:nvSpPr>
        <p:spPr>
          <a:xfrm>
            <a:off x="3547872" y="3840480"/>
            <a:ext cx="21945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66 sports, 757 events, event growth over time, gender category split</a:t>
            </a:r>
            <a:endParaRPr lang="en-US" sz="1400" dirty="0"/>
          </a:p>
        </p:txBody>
      </p:sp>
      <p:sp>
        <p:nvSpPr>
          <p:cNvPr id="15" name="Shape 13"/>
          <p:cNvSpPr/>
          <p:nvPr/>
        </p:nvSpPr>
        <p:spPr>
          <a:xfrm>
            <a:off x="6181344" y="1691640"/>
            <a:ext cx="2651760" cy="3291840"/>
          </a:xfrm>
          <a:prstGeom prst="roundRect">
            <a:avLst>
              <a:gd name="adj" fmla="val 2759"/>
            </a:avLst>
          </a:prstGeom>
          <a:solidFill>
            <a:schemeClr val="bg2"/>
          </a:solidFill>
          <a:ln w="12700">
            <a:solidFill>
              <a:schemeClr val="bg2"/>
            </a:solidFill>
            <a:prstDash val="solid"/>
          </a:ln>
        </p:spPr>
      </p:sp>
      <p:sp>
        <p:nvSpPr>
          <p:cNvPr id="16" name="Shape 14"/>
          <p:cNvSpPr/>
          <p:nvPr/>
        </p:nvSpPr>
        <p:spPr>
          <a:xfrm>
            <a:off x="6409944" y="1920240"/>
            <a:ext cx="731520" cy="731520"/>
          </a:xfrm>
          <a:prstGeom prst="ellipse">
            <a:avLst/>
          </a:prstGeom>
          <a:solidFill>
            <a:schemeClr val="accent3"/>
          </a:solidFill>
          <a:ln w="12700">
            <a:solidFill>
              <a:schemeClr val="bg1"/>
            </a:solidFill>
            <a:prstDash val="solid"/>
          </a:ln>
        </p:spPr>
      </p:sp>
      <p:sp>
        <p:nvSpPr>
          <p:cNvPr id="17" name="Text 15"/>
          <p:cNvSpPr txBox="1"/>
          <p:nvPr/>
        </p:nvSpPr>
        <p:spPr>
          <a:xfrm>
            <a:off x="6409944" y="192024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III</a:t>
            </a:r>
            <a:endParaRPr lang="en-US" sz="2200" dirty="0"/>
          </a:p>
        </p:txBody>
      </p:sp>
      <p:sp>
        <p:nvSpPr>
          <p:cNvPr id="18" name="Text 16"/>
          <p:cNvSpPr txBox="1"/>
          <p:nvPr/>
        </p:nvSpPr>
        <p:spPr>
          <a:xfrm>
            <a:off x="6409944" y="2880360"/>
            <a:ext cx="2194560" cy="8686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Demographics &amp; Participation</a:t>
            </a:r>
            <a:endParaRPr lang="en-US" sz="1800" dirty="0"/>
          </a:p>
        </p:txBody>
      </p:sp>
      <p:sp>
        <p:nvSpPr>
          <p:cNvPr id="19" name="Text 17"/>
          <p:cNvSpPr txBox="1"/>
          <p:nvPr/>
        </p:nvSpPr>
        <p:spPr>
          <a:xfrm>
            <a:off x="6409944" y="3840480"/>
            <a:ext cx="21945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129K participations, gender balance, age brackets, participation trends</a:t>
            </a:r>
            <a:endParaRPr lang="en-US" sz="1400" dirty="0"/>
          </a:p>
        </p:txBody>
      </p:sp>
      <p:sp>
        <p:nvSpPr>
          <p:cNvPr id="20" name="Shape 18"/>
          <p:cNvSpPr/>
          <p:nvPr/>
        </p:nvSpPr>
        <p:spPr>
          <a:xfrm>
            <a:off x="9043416" y="1691640"/>
            <a:ext cx="2651760" cy="3291840"/>
          </a:xfrm>
          <a:prstGeom prst="roundRect">
            <a:avLst>
              <a:gd name="adj" fmla="val 2759"/>
            </a:avLst>
          </a:prstGeom>
          <a:solidFill>
            <a:schemeClr val="bg2"/>
          </a:solidFill>
          <a:ln w="12700">
            <a:solidFill>
              <a:schemeClr val="bg2"/>
            </a:solidFill>
            <a:prstDash val="solid"/>
          </a:ln>
        </p:spPr>
      </p:sp>
      <p:sp>
        <p:nvSpPr>
          <p:cNvPr id="21" name="Shape 19"/>
          <p:cNvSpPr/>
          <p:nvPr/>
        </p:nvSpPr>
        <p:spPr>
          <a:xfrm>
            <a:off x="9272016" y="1920240"/>
            <a:ext cx="731520" cy="731520"/>
          </a:xfrm>
          <a:prstGeom prst="ellipse">
            <a:avLst/>
          </a:prstGeom>
          <a:solidFill>
            <a:schemeClr val="accent6"/>
          </a:solidFill>
          <a:ln w="12700">
            <a:solidFill>
              <a:schemeClr val="bg1"/>
            </a:solidFill>
            <a:prstDash val="solid"/>
          </a:ln>
        </p:spPr>
      </p:sp>
      <p:sp>
        <p:nvSpPr>
          <p:cNvPr id="22" name="Text 20"/>
          <p:cNvSpPr txBox="1"/>
          <p:nvPr/>
        </p:nvSpPr>
        <p:spPr>
          <a:xfrm>
            <a:off x="9272016" y="192024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IV</a:t>
            </a:r>
            <a:endParaRPr lang="en-US" sz="2200" dirty="0"/>
          </a:p>
        </p:txBody>
      </p:sp>
      <p:sp>
        <p:nvSpPr>
          <p:cNvPr id="23" name="Text 21"/>
          <p:cNvSpPr txBox="1"/>
          <p:nvPr/>
        </p:nvSpPr>
        <p:spPr>
          <a:xfrm>
            <a:off x="9272016" y="2880360"/>
            <a:ext cx="2194560" cy="86868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Geopolitics &amp; Medal Economics</a:t>
            </a:r>
            <a:endParaRPr lang="en-US" sz="1800" dirty="0"/>
          </a:p>
        </p:txBody>
      </p:sp>
      <p:sp>
        <p:nvSpPr>
          <p:cNvPr id="24" name="Text 22"/>
          <p:cNvSpPr txBox="1"/>
          <p:nvPr/>
        </p:nvSpPr>
        <p:spPr>
          <a:xfrm>
            <a:off x="9272016" y="3840480"/>
            <a:ext cx="2194560" cy="12801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228 NOCs, top nations, medal distribution across 39K medals</a:t>
            </a:r>
            <a:endParaRPr lang="en-US" sz="1400" dirty="0"/>
          </a:p>
        </p:txBody>
      </p:sp>
      <p:sp>
        <p:nvSpPr>
          <p:cNvPr id="25" name="Text 23"/>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Mutually exclusive: every record sits in exactly one pillar.  Collectively exhaustive: together the pillars cover all 51 Games (1896–2016).</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DATA MODEL</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Data Model &amp; DAX Layer</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Relational model in Power BI Desktop</a:t>
            </a:r>
            <a:endParaRPr lang="en-US" sz="1400" dirty="0"/>
          </a:p>
        </p:txBody>
      </p:sp>
      <p:pic>
        <p:nvPicPr>
          <p:cNvPr id="5" name="Image 0" descr="/tmp/w/er.jpg">    </p:cNvPr>
          <p:cNvPicPr>
            <a:picLocks noChangeAspect="1"/>
          </p:cNvPicPr>
          <p:nvPr/>
        </p:nvPicPr>
        <p:blipFill>
          <a:blip r:embed="rId1"/>
          <a:stretch>
            <a:fillRect/>
          </a:stretch>
        </p:blipFill>
        <p:spPr>
          <a:xfrm>
            <a:off x="457200" y="1554480"/>
            <a:ext cx="7955280" cy="4069080"/>
          </a:xfrm>
          <a:prstGeom prst="rect">
            <a:avLst/>
          </a:prstGeom>
        </p:spPr>
      </p:pic>
      <p:sp>
        <p:nvSpPr>
          <p:cNvPr id="6" name="Shape 3"/>
          <p:cNvSpPr/>
          <p:nvPr/>
        </p:nvSpPr>
        <p:spPr>
          <a:xfrm>
            <a:off x="8686800" y="1554480"/>
            <a:ext cx="3044952" cy="4069080"/>
          </a:xfrm>
          <a:prstGeom prst="roundRect">
            <a:avLst>
              <a:gd name="adj" fmla="val 2402"/>
            </a:avLst>
          </a:prstGeom>
          <a:solidFill>
            <a:schemeClr val="bg2"/>
          </a:solidFill>
          <a:ln w="12700">
            <a:solidFill>
              <a:schemeClr val="bg2"/>
            </a:solidFill>
            <a:prstDash val="solid"/>
          </a:ln>
        </p:spPr>
      </p:sp>
      <p:sp>
        <p:nvSpPr>
          <p:cNvPr id="7" name="Text 4"/>
          <p:cNvSpPr txBox="1"/>
          <p:nvPr/>
        </p:nvSpPr>
        <p:spPr>
          <a:xfrm>
            <a:off x="8915400" y="1737360"/>
            <a:ext cx="265176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MODEL NOTES</a:t>
            </a:r>
            <a:endParaRPr lang="en-US" sz="1200" dirty="0"/>
          </a:p>
        </p:txBody>
      </p:sp>
      <p:sp>
        <p:nvSpPr>
          <p:cNvPr id="8" name="Text 5"/>
          <p:cNvSpPr txBox="1"/>
          <p:nvPr/>
        </p:nvSpPr>
        <p:spPr>
          <a:xfrm>
            <a:off x="8915400" y="2103120"/>
            <a:ext cx="2606040" cy="3383280"/>
          </a:xfrm>
          <a:prstGeom prst="rect">
            <a:avLst/>
          </a:prstGeom>
          <a:noFill/>
          <a:ln/>
        </p:spPr>
        <p:txBody>
          <a:bodyPr wrap="square" lIns="0" tIns="0" rIns="0" bIns="0" rtlCol="0" anchor="t"/>
          <a:lstStyle/>
          <a:p>
            <a:pPr indent="0" marL="0">
              <a:spcAft>
                <a:spcPts val="200"/>
              </a:spcAft>
              <a:buNone/>
            </a:pPr>
            <a:r>
              <a:rPr lang="en-US" sz="1400" b="1" dirty="0">
                <a:solidFill>
                  <a:schemeClr val="tx1"/>
                </a:solidFill>
                <a:latin typeface="Calibri" pitchFamily="34" charset="0"/>
                <a:ea typeface="Calibri" pitchFamily="34" charset="-122"/>
                <a:cs typeface="Calibri" pitchFamily="34" charset="-120"/>
              </a:rPr>
              <a:t>11 related tables</a:t>
            </a:r>
            <a:endParaRPr lang="en-US" sz="1400" dirty="0"/>
          </a:p>
          <a:p>
            <a:pPr indent="0" marL="0">
              <a:spcAft>
                <a:spcPts val="1000"/>
              </a:spcAft>
              <a:buNone/>
            </a:pPr>
            <a:r>
              <a:rPr lang="en-US" sz="1400" dirty="0">
                <a:solidFill>
                  <a:schemeClr val="tx1"/>
                </a:solidFill>
                <a:latin typeface="Calibri" pitchFamily="34" charset="0"/>
                <a:ea typeface="Calibri" pitchFamily="34" charset="-122"/>
                <a:cs typeface="Calibri" pitchFamily="34" charset="-120"/>
              </a:rPr>
              <a:t>person, games, event, sport, medal, city, noc_region and bridge tables</a:t>
            </a:r>
            <a:endParaRPr lang="en-US" sz="1400" dirty="0"/>
          </a:p>
          <a:p>
            <a:pPr indent="0" marL="0">
              <a:spcAft>
                <a:spcPts val="200"/>
              </a:spcAft>
              <a:buNone/>
            </a:pPr>
            <a:r>
              <a:rPr lang="en-US" sz="1400" b="1" dirty="0">
                <a:solidFill>
                  <a:schemeClr val="tx1"/>
                </a:solidFill>
                <a:latin typeface="Calibri" pitchFamily="34" charset="0"/>
                <a:ea typeface="Calibri" pitchFamily="34" charset="-122"/>
                <a:cs typeface="Calibri" pitchFamily="34" charset="-120"/>
              </a:rPr>
              <a:t>One-to-many relationships</a:t>
            </a:r>
            <a:endParaRPr lang="en-US" sz="1400" dirty="0"/>
          </a:p>
          <a:p>
            <a:pPr indent="0" marL="0">
              <a:spcAft>
                <a:spcPts val="1000"/>
              </a:spcAft>
              <a:buNone/>
            </a:pPr>
            <a:r>
              <a:rPr lang="en-US" sz="1400" dirty="0">
                <a:solidFill>
                  <a:schemeClr val="tx1"/>
                </a:solidFill>
                <a:latin typeface="Calibri" pitchFamily="34" charset="0"/>
                <a:ea typeface="Calibri" pitchFamily="34" charset="-122"/>
                <a:cs typeface="Calibri" pitchFamily="34" charset="-120"/>
              </a:rPr>
              <a:t>games_competitor and competitor_event link athletes to games, events and medals</a:t>
            </a:r>
            <a:endParaRPr lang="en-US" sz="1400" dirty="0"/>
          </a:p>
          <a:p>
            <a:pPr indent="0" marL="0">
              <a:spcAft>
                <a:spcPts val="200"/>
              </a:spcAft>
              <a:buNone/>
            </a:pPr>
            <a:r>
              <a:rPr lang="en-US" sz="1400" b="1" dirty="0">
                <a:solidFill>
                  <a:schemeClr val="tx1"/>
                </a:solidFill>
                <a:latin typeface="Calibri" pitchFamily="34" charset="0"/>
                <a:ea typeface="Calibri" pitchFamily="34" charset="-122"/>
                <a:cs typeface="Calibri" pitchFamily="34" charset="-120"/>
              </a:rPr>
              <a:t>DAX measures</a:t>
            </a:r>
            <a:endParaRPr lang="en-US" sz="1400" dirty="0"/>
          </a:p>
          <a:p>
            <a:pPr indent="0" marL="0">
              <a:spcAft>
                <a:spcPts val="200"/>
              </a:spcAft>
              <a:buNone/>
            </a:pPr>
            <a:r>
              <a:rPr lang="en-US" sz="1400" dirty="0">
                <a:solidFill>
                  <a:schemeClr val="tx1"/>
                </a:solidFill>
                <a:latin typeface="Calibri" pitchFamily="34" charset="0"/>
                <a:ea typeface="Calibri" pitchFamily="34" charset="-122"/>
                <a:cs typeface="Calibri" pitchFamily="34" charset="-120"/>
              </a:rPr>
              <a:t>Total Games, Gold Medals count, Participants Count and more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1828800"/>
            <a:ext cx="2743200" cy="1097280"/>
          </a:xfrm>
          <a:prstGeom prst="rect">
            <a:avLst/>
          </a:prstGeom>
          <a:noFill/>
          <a:ln/>
        </p:spPr>
        <p:txBody>
          <a:bodyPr wrap="square" lIns="0" tIns="0" rIns="0" bIns="0" rtlCol="0" anchor="t"/>
          <a:lstStyle/>
          <a:p>
            <a:pPr indent="0" marL="0">
              <a:buNone/>
            </a:pPr>
            <a:r>
              <a:rPr lang="en-US" sz="7200" b="1" dirty="0">
                <a:solidFill>
                  <a:srgbClr val="118DFF"/>
                </a:solidFill>
                <a:latin typeface="Cambria" pitchFamily="34" charset="0"/>
                <a:ea typeface="Cambria" pitchFamily="34" charset="-122"/>
                <a:cs typeface="Cambria" pitchFamily="34" charset="-120"/>
              </a:rPr>
              <a:t>01</a:t>
            </a:r>
            <a:endParaRPr lang="en-US" sz="7200" dirty="0"/>
          </a:p>
        </p:txBody>
      </p:sp>
      <p:sp>
        <p:nvSpPr>
          <p:cNvPr id="3" name="Text 1"/>
          <p:cNvSpPr txBox="1"/>
          <p:nvPr/>
        </p:nvSpPr>
        <p:spPr>
          <a:xfrm>
            <a:off x="731520" y="301752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SQL Exploratory Data Analysis</a:t>
            </a:r>
            <a:endParaRPr lang="en-US" sz="4000" dirty="0"/>
          </a:p>
        </p:txBody>
      </p:sp>
      <p:sp>
        <p:nvSpPr>
          <p:cNvPr id="4" name="Text 2"/>
          <p:cNvSpPr txBox="1"/>
          <p:nvPr/>
        </p:nvSpPr>
        <p:spPr>
          <a:xfrm>
            <a:off x="731520" y="3931920"/>
            <a:ext cx="9144000" cy="82296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18 solved questions: query, native Excel chart, key takeaway and MECE breakdown</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Summer vs Winter Olympic Editions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trends or patterns in the frequency of hosting Olympic Games?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season,</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id) AS games_count,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MIN(games_year) AS start_year,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MAX(games_year) AS latest_year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games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season;</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Summer Olympic editions exceed Winter editions by 7 games (29 vs 22) because the Summer Games were established 28 years earlier (1896 vs 1924). Until 1992, both seasons occurred concurrently every 4 years; post-1992, the International Olympic Committee (IOC) transitioned to an alternating 2-year staggered schedule.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Q2</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Scale &amp; Participation Growth Over Time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has the duration of Olympic Games changed over time?</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g.games_year,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g.season,</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ce.event_id) AS total_events,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gc.person_id) AS total_athletes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games g</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g.id = gc.games_id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g.games_year, g.season</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g.games_year;</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Both event counts and athlete participation have grown exponentially over time (from 72 athletes in 1896 to over 10,000 in recent Summer Games). While early Olympic Games spanned several months, modern editions have standardized to a compressed ~16-day schedule with significantly higher athlete density.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Q3</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Participating Countries &amp; Historical Anomalies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notable events or occurrences associated with specific Olympic Games?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g.games_year,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g.season,</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g.games_name,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COUNT(DISTINCT pr.region_id) AS participating_countries,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COUNT(DISTINCT gc.person_id) AS total_athletes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games g</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g.id = gc.games_id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g.games_year, g.season, g.games_name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participating_countries ASC;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Significant dips in participating country counts highlight major political and historical anomalies—most notably the 1980 Moscow Games boycott (where country participation dropped significantly) and the 1984 Los Angeles counter-boycott.</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Q4</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Emerging Sports Introduced Since 2000</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emerging sports that have been recently added to the Olympics?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MIN(g.games_year) AS first_appearance_year,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MAX(g.games_year) AS last_appearance_year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MIN(g.games_year) &gt;= 2000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first_appearance_year DESC;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Key Takeaway : Recent Olympic Games have actively expanded their athletic program by introducing high-engagement, modern disciplines—such as Taekwondo, Triathlon, and Rugby Sevens—to engage broader global audiences and adapt to contemporary sporting trends.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Q5</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Popularity Trends Across Core Sports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has the popularity of certain sports changed over the years?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g.games_year,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gc.person_id) AS athlete_count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s.sport_name IN ('Athletics', 'Gymnastics', 'Swimming', 'Cycling', 'Football')</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g.games_year,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g.games_year, s.sport_name;</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Track and field (Athletics) and Swimming have demonstrated continuous exponential growth in athlete participation over the decades, reflecting expanding global representation and the addition of modern sub-events.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Q6</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Regional &amp; Cultural Dominance by Sport</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sports that are specific to a particular region or culture?</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COUNT(m.id) &gt; 10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s.sport_name, total_medals DESC;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Specific Olympic sports demonstrate strong regional and cultural specialization, with North American nations like Canada (358 medals) and the USA (396 medals), as well as European nations like Sweden (233 medals) and Austria (114 medals), capturing disproportionate shares of medals in specialized disciplines due to infrastructure, climate, and historical participation advantages.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Q7</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Gender Event Distribution by Sport</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sports that have a higher number of events for one gender compared to others?</a:t>
            </a:r>
            <a:endParaRPr lang="en-US" sz="1400" dirty="0"/>
          </a:p>
        </p:txBody>
      </p:sp>
      <p:sp>
        <p:nvSpPr>
          <p:cNvPr id="5" name="Shape 3"/>
          <p:cNvSpPr/>
          <p:nvPr/>
        </p:nvSpPr>
        <p:spPr>
          <a:xfrm>
            <a:off x="457200" y="1554480"/>
            <a:ext cx="640080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603504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'%Men%' AND e.event_name NOT LIKE '%Women%' THEN e.id END) AS male_events,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'%Women%' THEN e.id END) AS female_events,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'%Mixed%' THEN e.id END) AS mixed_events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ABS(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'%Men%' AND e.event_name NOT LIKE '%Women%' THEN e.id END) -</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'%Women%' THEN e.id END)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&gt; 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ABS(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'%Men%' AND e.event_name NOT LIKE '%Women%' THEN e.id END) -</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e.event_name LIKE '%Women%' THEN e.id END)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DESC;</a:t>
            </a:r>
            <a:endParaRPr lang="en-US" sz="1000" dirty="0"/>
          </a:p>
        </p:txBody>
      </p:sp>
      <p:graphicFrame>
        <p:nvGraphicFramePr>
          <p:cNvPr id="7" name="Chart 0" descr=""/>
          <p:cNvGraphicFramePr/>
          <p:nvPr/>
        </p:nvGraphicFramePr>
        <p:xfrm>
          <a:off x="7040880" y="1508760"/>
          <a:ext cx="469087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Historical and combat-oriented disciplines display substantial gender imbalances—most notably Athletics (56 male vs. 26 female events) and Shooting (62 male vs. 29 female events)—reflecting historical inclusion timelines, whereas sports like Sailing feature distinct mixed-gender event representations.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Q8</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New Events Introduced in 2012–2016</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new events that have been introduced in recent editions of the Olympics?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MIN(g.games_year) AS introduction_year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event 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 e.event_name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MIN(g.games_year) &gt;= 2012</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introduction_year DESC;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Recent Olympic Games show steady modernization and expansion, highlighted by notable debuts across major disciplines in 2012 (Boxing, Canoeing, Cycling), new action sports additions in 2014 (Freestyle Skiing, Luge, Figure Skating), and the introduction of new team formats like Rugby Sevens in 2016</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Q9</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Sports with Discontinued Events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events that have been discontinued or removed from the Olympics?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MIN(g.games_year) AS first_appeared,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MAX(g.games_year) AS last_appeared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FROM event 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 e.event_name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MAX(g.games_year) &lt; 2004</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last_appeared DESC, s.sport_name;</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Discontinued events are concentrated in sports undergoing major discipline restructurings—such as Snowboarding, Art Competitions, and Synchronized Swimming—reflecting the IOC’s continuous effort to phase out outdated sub-events, adjust distance/weight classes, and modernize the global Olympic program.</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Q10</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Athlete Height &amp; Weight Trends (1960–2016)</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notable trends in the height and weight of participants over time?</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g.games_year,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p.gender,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ROUND(AVG(p.height), 2) AS avg_height,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ROUND(AVG(p.weight), 2) AS avg_weight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p.height IS NOT NULL AND p.weight IS NOT NULL</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g.games_year, p.gender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g.games_year ASC, p.gender ASC;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Over the modern Olympic era (1960–2016), overall participant physical metrics demonstrate a steady, plateauing upward trend—with average height hovering around 170–175 cm and average weight around 65–70 kg—reflecting broader advances in global athletic nutrition, sports science, and targeted athlete selection.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Q11</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Regional Dominance in Olympic Sports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dominant countries or regions in specific sports or events?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COUNT(m.id) &gt;= 50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total_medals DESC;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Regional dominance in the Olympics is heavily concentrated among major sporting powerhouses—most notably led by the USA (dominating Swimming and Athletics with over 1,000 medals each), alongside strong specialization in Italy (Fencing), Canada (Ice Hockey), and Australia (Swimming).</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Q12</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Medal Success: Athletes vs Medals by Region</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factors contribute to the success or performance of participants from different countries?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p.id) AS total_athletes,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ROUND((COUNT(m.id)::DECIMAL / NULLIF(COUNT(DISTINCT p.id), 0)) * 100, 2) AS medal_conversion_pct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p.id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LEFT JOIN competitor_event ce ON gc.id = ce.competitor_id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LEFT JOIN medal m ON ce.medal_id = m.id AND m.medal_name IN ('Gold', 'Silver', 'Bronze')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COUNT(DISTINCT p.id) &gt;= 100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total_medals DESC</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LIMIT 15;</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Primary success factors include delegation size, sports infrastructure, and conversion efficiency—nations like the USA (9,225 athletes, 5,414 medals) and Soviet Union (2,856 athletes, 2,658 medals with a 93%+ conversion rate) demonstrate that sending larger delegations combined with targeted high-performance funding yields the highest medal returns.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Q13</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Consistency of Medal Performance by Region</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countries that consistently perform well in multiple Olympic editions?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g.games_year) AS editions_with_medals,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p.id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COUNT(DISTINCT g.games_year) &gt;= 15</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editions_with_medals DESC, total_medals DESC</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LIMIT 10;</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Historic powerhouses—led by the USA (35 editions, 5,414 medals), UK (35 editions, 1,971 medals), Australia (35 editions), France (34 editions), and Canada (34 editions)—demonstrate exceptional multi-generational stability by securing medals across nearly every modern Olympic Games edition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Q14</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Medalist Concentration in Specific Events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sports or events that have a higher number of medalists from a specific region?</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COUNT(m.id) AS total_medalists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event 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s.sport_name, e.event_name,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COUNT(m.id) &gt;= 20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total_medalists DESC</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LIMIT 15;</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High concentrations of medalists occur in heavily specialized team and individual disciplines—led by the USA (645 medalists across dominant team events), Netherlands (255 medalists in speed skating/cycling), Canada (246 in ice hockey), and India (163 in field hockey)—demonstrating how targeted national sports programs create sustained event monopolies.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Q15</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Unexpected &amp; Surprising Medal Wins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are some notable instances of unexpected or surprising medal wins?</a:t>
            </a:r>
            <a:endParaRPr lang="en-US" sz="1400" dirty="0"/>
          </a:p>
        </p:txBody>
      </p:sp>
      <p:sp>
        <p:nvSpPr>
          <p:cNvPr id="5" name="Shape 3"/>
          <p:cNvSpPr/>
          <p:nvPr/>
        </p:nvSpPr>
        <p:spPr>
          <a:xfrm>
            <a:off x="457200" y="1554480"/>
            <a:ext cx="640080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603504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p.full_name,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g.games_year,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m.medal_name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p.id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event e ON ce.event_id = e.id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m.medal_name = 'Gold' AND nr.region_name NOT IN ('USA', 'Russia', 'Germany', 'China', 'UK', 'France', 'Australia', 'Italy')</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g.games_year DESC;</a:t>
            </a:r>
            <a:endParaRPr lang="en-US" sz="1000" dirty="0"/>
          </a:p>
        </p:txBody>
      </p:sp>
      <p:graphicFrame>
        <p:nvGraphicFramePr>
          <p:cNvPr id="7" name="Chart 0" descr=""/>
          <p:cNvGraphicFramePr/>
          <p:nvPr/>
        </p:nvGraphicFramePr>
        <p:xfrm>
          <a:off x="7040880" y="1508760"/>
          <a:ext cx="469087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Surprising and non-powerhouse Olympic medal successes are heavily driven by specialized athletic focus—demonstrated by high medal counts in nations like Sweden (473 medals), Canada (459 medals), Hungary (424 medals), and South Korea (224 medals), alongside individual breakthrough gold medal performances from smaller delegations in targeted disciplines like Wrestling, Weightlifting, and Football.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Q16</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Regions with Significant Participation Growth</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regions that have experienced significant growth or decline in Olympic participation?</a:t>
            </a:r>
            <a:endParaRPr lang="en-US" sz="1400" dirty="0"/>
          </a:p>
        </p:txBody>
      </p:sp>
      <p:sp>
        <p:nvSpPr>
          <p:cNvPr id="5" name="Shape 3"/>
          <p:cNvSpPr/>
          <p:nvPr/>
        </p:nvSpPr>
        <p:spPr>
          <a:xfrm>
            <a:off x="457200" y="1554480"/>
            <a:ext cx="640080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603504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g.games_year &lt;= 1960 THEN gc.person_id END) AS early_period_athletes,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g.games_year &gt;= 2000 THEN gc.person_id END) AS modern_period_athletes,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g.games_year &gt;= 2000 THEN gc.person_id END) -</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COUNT(DISTINCT CASE WHEN g.games_year &lt;= 1960 THEN gc.person_id END)) AS participation_growth</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noc_region nr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nr.id = pr.region_id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pr.person_id = gc.person_id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COUNT(DISTINCT CASE WHEN g.games_year &lt;= 1960 THEN gc.person_id END) &gt; 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OR COUNT(DISTINCT CASE WHEN g.games_year &gt;= 2000 THEN gc.person_id END) &gt; 50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participation_growth DESC</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LIMIT 15;</a:t>
            </a:r>
            <a:endParaRPr lang="en-US" sz="1000" dirty="0"/>
          </a:p>
        </p:txBody>
      </p:sp>
      <p:graphicFrame>
        <p:nvGraphicFramePr>
          <p:cNvPr id="7" name="Chart 0" descr=""/>
          <p:cNvGraphicFramePr/>
          <p:nvPr/>
        </p:nvGraphicFramePr>
        <p:xfrm>
          <a:off x="7040880" y="1508760"/>
          <a:ext cx="469087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Modern Olympic participation has expanded dramatically due to global sports development and post-1990 geopolitical reconfigurations—led by major delegation growth in Russia (+1,789), China (+1,650), Australia (+1,164), and South Korea (+995).</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Q17</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Geography: Summer vs Winter Medal Split</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do cultural or geographical factors influence the performance of regions in specific sports?</a:t>
            </a:r>
            <a:endParaRPr lang="en-US" sz="1400" dirty="0"/>
          </a:p>
        </p:txBody>
      </p:sp>
      <p:sp>
        <p:nvSpPr>
          <p:cNvPr id="5" name="Shape 3"/>
          <p:cNvSpPr/>
          <p:nvPr/>
        </p:nvSpPr>
        <p:spPr>
          <a:xfrm>
            <a:off x="457200" y="1554480"/>
            <a:ext cx="521208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484632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g.season,</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games g</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g.id = gc.games_id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g.season,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COUNT(m.id) &gt;= 10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g.season, total_medals DESC;</a:t>
            </a:r>
            <a:endParaRPr lang="en-US" sz="1000" dirty="0"/>
          </a:p>
        </p:txBody>
      </p:sp>
      <p:graphicFrame>
        <p:nvGraphicFramePr>
          <p:cNvPr id="7" name="Chart 0" descr=""/>
          <p:cNvGraphicFramePr/>
          <p:nvPr/>
        </p:nvGraphicFramePr>
        <p:xfrm>
          <a:off x="5852160" y="1508760"/>
          <a:ext cx="587959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Geographical and climatic conditions heavily dictate regional success—cold-climate alpine nations (Norway, Austria, Canada, Switzerland) dominate Winter Games due to natural environmental infrastructure, while warmer, high-population regions excel predominantly in Summer Games disciplines.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SQL EDA  ·  Q18</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Regions Driving the Global Medal Tally</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Are there any regions that have had a notable impact on the overall medal tally?</a:t>
            </a:r>
            <a:endParaRPr lang="en-US" sz="1400" dirty="0"/>
          </a:p>
        </p:txBody>
      </p:sp>
      <p:sp>
        <p:nvSpPr>
          <p:cNvPr id="5" name="Shape 3"/>
          <p:cNvSpPr/>
          <p:nvPr/>
        </p:nvSpPr>
        <p:spPr>
          <a:xfrm>
            <a:off x="457200" y="1554480"/>
            <a:ext cx="6400800" cy="3383280"/>
          </a:xfrm>
          <a:prstGeom prst="roundRect">
            <a:avLst>
              <a:gd name="adj" fmla="val 2162"/>
            </a:avLst>
          </a:prstGeom>
          <a:solidFill>
            <a:schemeClr val="tx2"/>
          </a:solidFill>
          <a:ln w="12700">
            <a:solidFill>
              <a:schemeClr val="tx2"/>
            </a:solidFill>
            <a:prstDash val="solid"/>
          </a:ln>
        </p:spPr>
      </p:sp>
      <p:sp>
        <p:nvSpPr>
          <p:cNvPr id="6" name="Text 4"/>
          <p:cNvSpPr txBox="1"/>
          <p:nvPr/>
        </p:nvSpPr>
        <p:spPr>
          <a:xfrm>
            <a:off x="640080" y="1691640"/>
            <a:ext cx="6035040" cy="3154680"/>
          </a:xfrm>
          <a:prstGeom prst="rect">
            <a:avLst/>
          </a:prstGeom>
          <a:noFill/>
          <a:ln/>
        </p:spPr>
        <p:txBody>
          <a:bodyPr wrap="square" lIns="0" tIns="0" rIns="0" bIns="0" rtlCol="0" anchor="t"/>
          <a:lstStyle/>
          <a:p>
            <a:pPr indent="0" marL="0">
              <a:buNone/>
            </a:pPr>
            <a:r>
              <a:rPr lang="en-US" sz="1000" dirty="0">
                <a:solidFill>
                  <a:srgbClr val="E2ECFF"/>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COUNT(CASE WHEN m.medal_name = 'Gold' THEN 1 END) AS gold_count,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COUNT(CASE WHEN m.medal_name = 'Silver' THEN 1 END) AS silver_count,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COUNT(CASE WHEN m.medal_name = 'Bronze' THEN 1 END) AS bronze_count,</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COUNT(CASE WHEN m.medal_name IN ('Gold', 'Silver', 'Bronze') THEN 1 END) AS total_medals,</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    DENSE_RANK() OVER (ORDER BY COUNT(CASE WHEN m.medal_name = 'Gold' THEN 1 END) DESC) AS gold_rank</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FROM noc_region nr</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person_region pr ON nr.id = pr.region_id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games_competitor gc ON pr.person_id = gc.person_id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HAVING COUNT(CASE WHEN m.medal_name IN ('Gold', 'Silver', 'Bronze') THEN 1 END) &gt; 0</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ORDER BY total_medals DESC</a:t>
            </a:r>
            <a:endParaRPr lang="en-US" sz="1000" dirty="0"/>
          </a:p>
          <a:p>
            <a:pPr indent="0" marL="0">
              <a:buNone/>
            </a:pPr>
            <a:r>
              <a:rPr lang="en-US" sz="1000" dirty="0">
                <a:solidFill>
                  <a:srgbClr val="E2ECFF"/>
                </a:solidFill>
                <a:latin typeface="Courier New" pitchFamily="34" charset="0"/>
                <a:ea typeface="Courier New" pitchFamily="34" charset="-122"/>
                <a:cs typeface="Courier New" pitchFamily="34" charset="-120"/>
              </a:rPr>
              <a:t>LIMIT 10;</a:t>
            </a:r>
            <a:endParaRPr lang="en-US" sz="1000" dirty="0"/>
          </a:p>
        </p:txBody>
      </p:sp>
      <p:graphicFrame>
        <p:nvGraphicFramePr>
          <p:cNvPr id="7" name="Chart 0" descr=""/>
          <p:cNvGraphicFramePr/>
          <p:nvPr/>
        </p:nvGraphicFramePr>
        <p:xfrm>
          <a:off x="7040880" y="1508760"/>
          <a:ext cx="4690872" cy="34747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457200" y="5074920"/>
            <a:ext cx="11274552" cy="1280160"/>
          </a:xfrm>
          <a:prstGeom prst="roundRect">
            <a:avLst>
              <a:gd name="adj" fmla="val 5714"/>
            </a:avLst>
          </a:prstGeom>
          <a:solidFill>
            <a:schemeClr val="bg2"/>
          </a:solidFill>
          <a:ln w="12700">
            <a:solidFill>
              <a:schemeClr val="bg2"/>
            </a:solidFill>
            <a:prstDash val="solid"/>
          </a:ln>
        </p:spPr>
      </p:sp>
      <p:sp>
        <p:nvSpPr>
          <p:cNvPr id="9" name="Text 6"/>
          <p:cNvSpPr txBox="1"/>
          <p:nvPr/>
        </p:nvSpPr>
        <p:spPr>
          <a:xfrm>
            <a:off x="685800" y="5166360"/>
            <a:ext cx="2743200" cy="228600"/>
          </a:xfrm>
          <a:prstGeom prst="rect">
            <a:avLst/>
          </a:prstGeom>
          <a:noFill/>
          <a:ln/>
        </p:spPr>
        <p:txBody>
          <a:bodyPr wrap="square" lIns="0" tIns="0" rIns="0" bIns="0" rtlCol="0" anchor="t"/>
          <a:lstStyle/>
          <a:p>
            <a:pPr indent="0" marL="0">
              <a:buNone/>
            </a:pPr>
            <a:r>
              <a:rPr lang="en-US" sz="1100" b="1" spc="200" kern="0" dirty="0">
                <a:solidFill>
                  <a:schemeClr val="accent3"/>
                </a:solidFill>
                <a:latin typeface="Calibri" pitchFamily="34" charset="0"/>
                <a:ea typeface="Calibri" pitchFamily="34" charset="-122"/>
                <a:cs typeface="Calibri" pitchFamily="34" charset="-120"/>
              </a:rPr>
              <a:t>KEY TAKEAWAY</a:t>
            </a:r>
            <a:endParaRPr lang="en-US" sz="1100" dirty="0"/>
          </a:p>
        </p:txBody>
      </p:sp>
      <p:sp>
        <p:nvSpPr>
          <p:cNvPr id="10" name="Text 7"/>
          <p:cNvSpPr txBox="1"/>
          <p:nvPr/>
        </p:nvSpPr>
        <p:spPr>
          <a:xfrm>
            <a:off x="685800" y="5422392"/>
            <a:ext cx="1083564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small group of elite sporting powerhouses overwhelmingly drives the overall Olympic medal tally—led by the USA (5,414 total medals; 2,533 Gold) and the Soviet Union (2,658 total medals; 1,135 Gold), followed by Germany (843 Gold) and the UK (658 Gold), demonstrating how concentrated, multi-generational sporting investments define global medal dominance.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828800"/>
            <a:ext cx="2743200" cy="1097280"/>
          </a:xfrm>
          <a:prstGeom prst="rect">
            <a:avLst/>
          </a:prstGeom>
          <a:noFill/>
          <a:ln/>
        </p:spPr>
        <p:txBody>
          <a:bodyPr wrap="square" lIns="0" tIns="0" rIns="0" bIns="0" rtlCol="0" anchor="t"/>
          <a:lstStyle/>
          <a:p>
            <a:pPr indent="0" marL="0">
              <a:buNone/>
            </a:pPr>
            <a:r>
              <a:rPr lang="en-US" sz="7200" b="1" dirty="0">
                <a:solidFill>
                  <a:srgbClr val="118DFF"/>
                </a:solidFill>
                <a:latin typeface="Cambria" pitchFamily="34" charset="0"/>
                <a:ea typeface="Cambria" pitchFamily="34" charset="-122"/>
                <a:cs typeface="Cambria" pitchFamily="34" charset="-120"/>
              </a:rPr>
              <a:t>02</a:t>
            </a:r>
            <a:endParaRPr lang="en-US" sz="7200" dirty="0"/>
          </a:p>
        </p:txBody>
      </p:sp>
      <p:sp>
        <p:nvSpPr>
          <p:cNvPr id="3" name="Text 1"/>
          <p:cNvSpPr txBox="1"/>
          <p:nvPr/>
        </p:nvSpPr>
        <p:spPr>
          <a:xfrm>
            <a:off x="731520" y="301752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Power BI Analysis</a:t>
            </a:r>
            <a:endParaRPr lang="en-US" sz="4000" dirty="0"/>
          </a:p>
        </p:txBody>
      </p:sp>
      <p:sp>
        <p:nvSpPr>
          <p:cNvPr id="4" name="Text 2"/>
          <p:cNvSpPr txBox="1"/>
          <p:nvPr/>
        </p:nvSpPr>
        <p:spPr>
          <a:xfrm>
            <a:off x="731520" y="3931920"/>
            <a:ext cx="9144000" cy="82296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18 solved questions: exact visuals from the Power BI report with key insights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Games by Season</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many Olympic Games have been held in each season?</a:t>
            </a:r>
            <a:endParaRPr lang="en-US" sz="1400" dirty="0"/>
          </a:p>
        </p:txBody>
      </p:sp>
      <p:pic>
        <p:nvPicPr>
          <p:cNvPr id="5" name="Image 0" descr="/tmp/w/crop/q01.png">    </p:cNvPr>
          <p:cNvPicPr>
            <a:picLocks noChangeAspect="1"/>
          </p:cNvPicPr>
          <p:nvPr/>
        </p:nvPicPr>
        <p:blipFill>
          <a:blip r:embed="rId1"/>
          <a:stretch>
            <a:fillRect/>
          </a:stretch>
        </p:blipFill>
        <p:spPr>
          <a:xfrm>
            <a:off x="457200" y="2122988"/>
            <a:ext cx="8138160" cy="3617863"/>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29 Summer Games (56.86%) and 22 Winter Games (43.14%) make up the 51 editions.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Q2</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Games by Decade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is the distribution of games across decades?</a:t>
            </a:r>
            <a:endParaRPr lang="en-US" sz="1400" dirty="0"/>
          </a:p>
        </p:txBody>
      </p:sp>
      <p:pic>
        <p:nvPicPr>
          <p:cNvPr id="5" name="Image 0" descr="/tmp/w/crop/q02.png">    </p:cNvPr>
          <p:cNvPicPr>
            <a:picLocks noChangeAspect="1"/>
          </p:cNvPicPr>
          <p:nvPr/>
        </p:nvPicPr>
        <p:blipFill>
          <a:blip r:embed="rId1"/>
          <a:stretch>
            <a:fillRect/>
          </a:stretch>
        </p:blipFill>
        <p:spPr>
          <a:xfrm>
            <a:off x="457200" y="1740694"/>
            <a:ext cx="8138160" cy="4382451"/>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The 1900s had the most Games (4, all Summer). From the 1920s onward most decades hold 2–3 of each season.</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Q3</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Top Host Cities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Which cities have hosted the most Olympic Games?</a:t>
            </a:r>
            <a:endParaRPr lang="en-US" sz="1400" dirty="0"/>
          </a:p>
        </p:txBody>
      </p:sp>
      <p:pic>
        <p:nvPicPr>
          <p:cNvPr id="5" name="Image 0" descr="/tmp/w/crop/q03.png">    </p:cNvPr>
          <p:cNvPicPr>
            <a:picLocks noChangeAspect="1"/>
          </p:cNvPicPr>
          <p:nvPr/>
        </p:nvPicPr>
        <p:blipFill>
          <a:blip r:embed="rId1"/>
          <a:stretch>
            <a:fillRect/>
          </a:stretch>
        </p:blipFill>
        <p:spPr>
          <a:xfrm>
            <a:off x="457200" y="1807376"/>
            <a:ext cx="8138160" cy="4249088"/>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Athina and London lead with 3 Games each; six cities have hosted twice, including Paris and Los Angeles.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Q4</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Sports by Season</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is the distribution of sports between Summer and Winter?</a:t>
            </a:r>
            <a:endParaRPr lang="en-US" sz="1400" dirty="0"/>
          </a:p>
        </p:txBody>
      </p:sp>
      <p:pic>
        <p:nvPicPr>
          <p:cNvPr id="5" name="Image 0" descr="/tmp/w/crop/q04.png">    </p:cNvPr>
          <p:cNvPicPr>
            <a:picLocks noChangeAspect="1"/>
          </p:cNvPicPr>
          <p:nvPr/>
        </p:nvPicPr>
        <p:blipFill>
          <a:blip r:embed="rId1"/>
          <a:stretch>
            <a:fillRect/>
          </a:stretch>
        </p:blipFill>
        <p:spPr>
          <a:xfrm>
            <a:off x="485408" y="1554480"/>
            <a:ext cx="8081744" cy="4754880"/>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Summer features 52 sports against 17 for Winter.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Q5</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Sports with the Most Events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Which sports have the highest number of events?</a:t>
            </a:r>
            <a:endParaRPr lang="en-US" sz="1400" dirty="0"/>
          </a:p>
        </p:txBody>
      </p:sp>
      <p:pic>
        <p:nvPicPr>
          <p:cNvPr id="5" name="Image 0" descr="/tmp/w/crop/q05.png">    </p:cNvPr>
          <p:cNvPicPr>
            <a:picLocks noChangeAspect="1"/>
          </p:cNvPicPr>
          <p:nvPr/>
        </p:nvPicPr>
        <p:blipFill>
          <a:blip r:embed="rId1"/>
          <a:stretch>
            <a:fillRect/>
          </a:stretch>
        </p:blipFill>
        <p:spPr>
          <a:xfrm>
            <a:off x="457200" y="1678940"/>
            <a:ext cx="8138160" cy="4505960"/>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Athletics and Shooting each have 83 events, ahead of Swimming (54), Cycling (44) and Sailing (37).</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Q6</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Participation by Sport Over Time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has participation in each sport evolved over time?</a:t>
            </a:r>
            <a:endParaRPr lang="en-US" sz="1400" dirty="0"/>
          </a:p>
        </p:txBody>
      </p:sp>
      <p:pic>
        <p:nvPicPr>
          <p:cNvPr id="5" name="Image 0" descr="/tmp/w/crop/q06.png">    </p:cNvPr>
          <p:cNvPicPr>
            <a:picLocks noChangeAspect="1"/>
          </p:cNvPicPr>
          <p:nvPr/>
        </p:nvPicPr>
        <p:blipFill>
          <a:blip r:embed="rId1"/>
          <a:stretch>
            <a:fillRect/>
          </a:stretch>
        </p:blipFill>
        <p:spPr>
          <a:xfrm>
            <a:off x="457200" y="1653409"/>
            <a:ext cx="8138160" cy="4557021"/>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Use the sport slicer to track participation by year. Alpine Skiing rises from about 100 in 1936 to about 315 in 2014.</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Q7</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Events per Sport</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many events are there in each sport?</a:t>
            </a:r>
            <a:endParaRPr lang="en-US" sz="1400" dirty="0"/>
          </a:p>
        </p:txBody>
      </p:sp>
      <p:pic>
        <p:nvPicPr>
          <p:cNvPr id="5" name="Image 0" descr="/tmp/w/crop/q07.png">    </p:cNvPr>
          <p:cNvPicPr>
            <a:picLocks noChangeAspect="1"/>
          </p:cNvPicPr>
          <p:nvPr/>
        </p:nvPicPr>
        <p:blipFill>
          <a:blip r:embed="rId1"/>
          <a:stretch>
            <a:fillRect/>
          </a:stretch>
        </p:blipFill>
        <p:spPr>
          <a:xfrm>
            <a:off x="510840" y="1554480"/>
            <a:ext cx="8030880" cy="4754880"/>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Event counts range from 83 for Athletics and Shooting down to 2 for Basketball.</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Q8</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Events by Gender Category</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is the distribution of events by gender?</a:t>
            </a:r>
            <a:endParaRPr lang="en-US" sz="1400" dirty="0"/>
          </a:p>
        </p:txBody>
      </p:sp>
      <p:pic>
        <p:nvPicPr>
          <p:cNvPr id="5" name="Image 0" descr="/tmp/w/crop/q08.png">    </p:cNvPr>
          <p:cNvPicPr>
            <a:picLocks noChangeAspect="1"/>
          </p:cNvPicPr>
          <p:nvPr/>
        </p:nvPicPr>
        <p:blipFill>
          <a:blip r:embed="rId1"/>
          <a:stretch>
            <a:fillRect/>
          </a:stretch>
        </p:blipFill>
        <p:spPr>
          <a:xfrm>
            <a:off x="457200" y="1614582"/>
            <a:ext cx="8138160" cy="4634675"/>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Men have 458 events (60.5%), Women 211 (27.87%) and Mixed 88 (11.62%).</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Q9</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Growth of Events Over Time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has the number of events changed over time?</a:t>
            </a:r>
            <a:endParaRPr lang="en-US" sz="1400" dirty="0"/>
          </a:p>
        </p:txBody>
      </p:sp>
      <p:pic>
        <p:nvPicPr>
          <p:cNvPr id="5" name="Image 0" descr="/tmp/w/crop/q09.png">    </p:cNvPr>
          <p:cNvPicPr>
            <a:picLocks noChangeAspect="1"/>
          </p:cNvPicPr>
          <p:nvPr/>
        </p:nvPicPr>
        <p:blipFill>
          <a:blip r:embed="rId1"/>
          <a:stretch>
            <a:fillRect/>
          </a:stretch>
        </p:blipFill>
        <p:spPr>
          <a:xfrm>
            <a:off x="457200" y="1760408"/>
            <a:ext cx="8138160" cy="4343025"/>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Summer events grew from about 42 in 1896 to about 306 in 2016; Winter from about 17 to about 98.</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Q10</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Participants by Gender</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is the distribution of participants by gender?</a:t>
            </a:r>
            <a:endParaRPr lang="en-US" sz="1400" dirty="0"/>
          </a:p>
        </p:txBody>
      </p:sp>
      <p:pic>
        <p:nvPicPr>
          <p:cNvPr id="5" name="Image 0" descr="/tmp/w/crop/q10.png">    </p:cNvPr>
          <p:cNvPicPr>
            <a:picLocks noChangeAspect="1"/>
          </p:cNvPicPr>
          <p:nvPr/>
        </p:nvPicPr>
        <p:blipFill>
          <a:blip r:embed="rId1"/>
          <a:stretch>
            <a:fillRect/>
          </a:stretch>
        </p:blipFill>
        <p:spPr>
          <a:xfrm>
            <a:off x="457200" y="1764739"/>
            <a:ext cx="8138160" cy="4334362"/>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Men account for 95K participations (73.9%) and women for 34K (26.1%).</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Q11</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Top Participating Countries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Which countries have the highest number of participants?</a:t>
            </a:r>
            <a:endParaRPr lang="en-US" sz="1400" dirty="0"/>
          </a:p>
        </p:txBody>
      </p:sp>
      <p:pic>
        <p:nvPicPr>
          <p:cNvPr id="5" name="Image 0" descr="/tmp/w/crop/q11.png">    </p:cNvPr>
          <p:cNvPicPr>
            <a:picLocks noChangeAspect="1"/>
          </p:cNvPicPr>
          <p:nvPr/>
        </p:nvPicPr>
        <p:blipFill>
          <a:blip r:embed="rId1"/>
          <a:stretch>
            <a:fillRect/>
          </a:stretch>
        </p:blipFill>
        <p:spPr>
          <a:xfrm>
            <a:off x="457200" y="1820941"/>
            <a:ext cx="8138160" cy="4221958"/>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The USA leads with 9.2K participants, followed by the UK (5.8K) and France (5.2K); Poland is tenth at 3.0K.</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Q12</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Age Distribution Over Time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does the age distribution vary across different games?</a:t>
            </a:r>
            <a:endParaRPr lang="en-US" sz="1400" dirty="0"/>
          </a:p>
        </p:txBody>
      </p:sp>
      <p:pic>
        <p:nvPicPr>
          <p:cNvPr id="5" name="Image 0" descr="/tmp/w/crop/q12.png">    </p:cNvPr>
          <p:cNvPicPr>
            <a:picLocks noChangeAspect="1"/>
          </p:cNvPicPr>
          <p:nvPr/>
        </p:nvPicPr>
        <p:blipFill>
          <a:blip r:embed="rId1"/>
          <a:stretch>
            <a:fillRect/>
          </a:stretch>
        </p:blipFill>
        <p:spPr>
          <a:xfrm>
            <a:off x="457200" y="1988785"/>
            <a:ext cx="8138160" cy="3886269"/>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Participants per Games climbed from 0.07K in 1896 to 11.18K in 2016, led by the 18–24 age group.</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Q13</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Medals Awarded per Games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many medals have been awarded in each Olympics?</a:t>
            </a:r>
            <a:endParaRPr lang="en-US" sz="1400" dirty="0"/>
          </a:p>
        </p:txBody>
      </p:sp>
      <p:pic>
        <p:nvPicPr>
          <p:cNvPr id="5" name="Image 0" descr="/tmp/w/crop/q13.png">    </p:cNvPr>
          <p:cNvPicPr>
            <a:picLocks noChangeAspect="1"/>
          </p:cNvPicPr>
          <p:nvPr/>
        </p:nvPicPr>
        <p:blipFill>
          <a:blip r:embed="rId1"/>
          <a:stretch>
            <a:fillRect/>
          </a:stretch>
        </p:blipFill>
        <p:spPr>
          <a:xfrm>
            <a:off x="457200" y="1565472"/>
            <a:ext cx="8138160" cy="4732897"/>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The 2008 Summer Games had the largest tally with 2,048 medals; the Winter peak is 595 in 2014.</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Q14</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Top Countries by Gold Medals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Which countries have the highest number of gold medals?</a:t>
            </a:r>
            <a:endParaRPr lang="en-US" sz="1400" dirty="0"/>
          </a:p>
        </p:txBody>
      </p:sp>
      <p:pic>
        <p:nvPicPr>
          <p:cNvPr id="5" name="Image 0" descr="/tmp/w/crop/q14.png">    </p:cNvPr>
          <p:cNvPicPr>
            <a:picLocks noChangeAspect="1"/>
          </p:cNvPicPr>
          <p:nvPr/>
        </p:nvPicPr>
        <p:blipFill>
          <a:blip r:embed="rId1"/>
          <a:stretch>
            <a:fillRect/>
          </a:stretch>
        </p:blipFill>
        <p:spPr>
          <a:xfrm>
            <a:off x="457200" y="1889250"/>
            <a:ext cx="8138160" cy="4085340"/>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The USA leads with 2,533 gold medals, ahead of the Soviet Union (1,135) and Germany (843).</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Q15</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Total Medals by Sport</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does the medal distribution vary across sports?</a:t>
            </a:r>
            <a:endParaRPr lang="en-US" sz="1400" dirty="0"/>
          </a:p>
        </p:txBody>
      </p:sp>
      <p:graphicFrame>
        <p:nvGraphicFramePr>
          <p:cNvPr id="5" name="Chart 0" descr=""/>
          <p:cNvGraphicFramePr/>
          <p:nvPr/>
        </p:nvGraphicFramePr>
        <p:xfrm>
          <a:off x="457200" y="1554480"/>
          <a:ext cx="8138160" cy="47548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spcAft>
                <a:spcPts val="1200"/>
              </a:spcAft>
              <a:buNone/>
            </a:pPr>
            <a:r>
              <a:rPr lang="en-US" sz="1800" dirty="0">
                <a:solidFill>
                  <a:schemeClr val="tx1"/>
                </a:solidFill>
                <a:latin typeface="Calibri" pitchFamily="34" charset="0"/>
                <a:ea typeface="Calibri" pitchFamily="34" charset="-122"/>
                <a:cs typeface="Calibri" pitchFamily="34" charset="-120"/>
              </a:rPr>
              <a:t>Athletics leads with 3,892 medals, then Swimming (2,978) and Rowing (2,801).</a:t>
            </a:r>
            <a:endParaRPr lang="en-US" sz="1800" dirty="0"/>
          </a:p>
          <a:p>
            <a:pPr indent="0" marL="0">
              <a:buNone/>
            </a:pPr>
            <a:r>
              <a:rPr lang="en-US" sz="1200" i="1" dirty="0">
                <a:solidFill>
                  <a:srgbClr val="6B7A90"/>
                </a:solidFill>
                <a:latin typeface="Calibri" pitchFamily="34" charset="0"/>
                <a:ea typeface="Calibri" pitchFamily="34" charset="-122"/>
                <a:cs typeface="Calibri" pitchFamily="34" charset="-120"/>
              </a:rPr>
              <a:t>Each bar shows total medals. The original Power BI visual repeated this total for gold, silver and bronze, so it is shown once here.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Q16</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NOC Participation Over Time</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How many regions or NOCs participate in each Games?</a:t>
            </a:r>
            <a:endParaRPr lang="en-US" sz="1400" dirty="0"/>
          </a:p>
        </p:txBody>
      </p:sp>
      <p:pic>
        <p:nvPicPr>
          <p:cNvPr id="5" name="Image 0" descr="/tmp/w/crop/q16.png">    </p:cNvPr>
          <p:cNvPicPr>
            <a:picLocks noChangeAspect="1"/>
          </p:cNvPicPr>
          <p:nvPr/>
        </p:nvPicPr>
        <p:blipFill>
          <a:blip r:embed="rId1"/>
          <a:stretch>
            <a:fillRect/>
          </a:stretch>
        </p:blipFill>
        <p:spPr>
          <a:xfrm>
            <a:off x="457200" y="1962068"/>
            <a:ext cx="8138160" cy="3939704"/>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Participating NOCs grew from 11 in 1896 to 213 in 2016, with a Summer/Winter zigzag after 1992.</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Q17</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Top Regions by Participants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Which regions have the highest number of participants?</a:t>
            </a:r>
            <a:endParaRPr lang="en-US" sz="1400" dirty="0"/>
          </a:p>
        </p:txBody>
      </p:sp>
      <p:pic>
        <p:nvPicPr>
          <p:cNvPr id="5" name="Image 0" descr="/tmp/w/crop/q17.png">    </p:cNvPr>
          <p:cNvPicPr>
            <a:picLocks noChangeAspect="1"/>
          </p:cNvPicPr>
          <p:nvPr/>
        </p:nvPicPr>
        <p:blipFill>
          <a:blip r:embed="rId1"/>
          <a:stretch>
            <a:fillRect/>
          </a:stretch>
        </p:blipFill>
        <p:spPr>
          <a:xfrm>
            <a:off x="457200" y="1910004"/>
            <a:ext cx="8138160" cy="4043832"/>
          </a:xfrm>
          <a:prstGeom prst="rect">
            <a:avLst/>
          </a:prstGeom>
        </p:spPr>
      </p:pic>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The USA (9,225), UK (5,783) and France (5,198) field the most participants.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POWER BI  ·  Q18</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Medals Across Top 10 Regions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What is the distribution of medals among regions?</a:t>
            </a:r>
            <a:endParaRPr lang="en-US" sz="1400" dirty="0"/>
          </a:p>
        </p:txBody>
      </p:sp>
      <p:graphicFrame>
        <p:nvGraphicFramePr>
          <p:cNvPr id="5" name="Chart 0" descr=""/>
          <p:cNvGraphicFramePr/>
          <p:nvPr/>
        </p:nvGraphicFramePr>
        <p:xfrm>
          <a:off x="457200" y="1554480"/>
          <a:ext cx="8138160" cy="47548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869680" y="1554480"/>
            <a:ext cx="2862072" cy="4754880"/>
          </a:xfrm>
          <a:prstGeom prst="roundRect">
            <a:avLst>
              <a:gd name="adj" fmla="val 2556"/>
            </a:avLst>
          </a:prstGeom>
          <a:solidFill>
            <a:schemeClr val="bg2"/>
          </a:solidFill>
          <a:ln w="12700">
            <a:solidFill>
              <a:schemeClr val="bg2"/>
            </a:solidFill>
            <a:prstDash val="solid"/>
          </a:ln>
        </p:spPr>
      </p:sp>
      <p:sp>
        <p:nvSpPr>
          <p:cNvPr id="7" name="Text 4"/>
          <p:cNvSpPr txBox="1"/>
          <p:nvPr/>
        </p:nvSpPr>
        <p:spPr>
          <a:xfrm>
            <a:off x="9098280" y="1755648"/>
            <a:ext cx="246888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INSIGHT</a:t>
            </a:r>
            <a:endParaRPr lang="en-US" sz="1200" dirty="0"/>
          </a:p>
        </p:txBody>
      </p:sp>
      <p:sp>
        <p:nvSpPr>
          <p:cNvPr id="8" name="Text 5"/>
          <p:cNvSpPr txBox="1"/>
          <p:nvPr/>
        </p:nvSpPr>
        <p:spPr>
          <a:xfrm>
            <a:off x="9098280" y="2148840"/>
            <a:ext cx="2423160" cy="4023360"/>
          </a:xfrm>
          <a:prstGeom prst="rect">
            <a:avLst/>
          </a:prstGeom>
          <a:noFill/>
          <a:ln/>
        </p:spPr>
        <p:txBody>
          <a:bodyPr wrap="square" lIns="0" tIns="0" rIns="0" bIns="0" rtlCol="0" anchor="t"/>
          <a:lstStyle/>
          <a:p>
            <a:pPr indent="0" marL="0">
              <a:spcAft>
                <a:spcPts val="1200"/>
              </a:spcAft>
              <a:buNone/>
            </a:pPr>
            <a:r>
              <a:rPr lang="en-US" sz="1800" dirty="0">
                <a:solidFill>
                  <a:schemeClr val="tx1"/>
                </a:solidFill>
                <a:latin typeface="Calibri" pitchFamily="34" charset="0"/>
                <a:ea typeface="Calibri" pitchFamily="34" charset="-122"/>
                <a:cs typeface="Calibri" pitchFamily="34" charset="-120"/>
              </a:rPr>
              <a:t>The USA leads with 5,414 medals (2,533 gold, 1,580 silver, 1,301 bronze), then the Soviet Union (2,658) and Germany (2,395).</a:t>
            </a:r>
            <a:endParaRPr lang="en-US" sz="1800" dirty="0"/>
          </a:p>
          <a:p>
            <a:pPr indent="0" marL="0">
              <a:buNone/>
            </a:pPr>
            <a:r>
              <a:rPr lang="en-US" sz="1200" i="1" dirty="0">
                <a:solidFill>
                  <a:srgbClr val="6B7A90"/>
                </a:solidFill>
                <a:latin typeface="Calibri" pitchFamily="34" charset="0"/>
                <a:ea typeface="Calibri" pitchFamily="34" charset="-122"/>
                <a:cs typeface="Calibri" pitchFamily="34" charset="-120"/>
              </a:rPr>
              <a:t>Rebuilt from SQL Q18. The original Power BI visual repeated each region’s total for all three medal types.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731520" y="1828800"/>
            <a:ext cx="2743200" cy="1097280"/>
          </a:xfrm>
          <a:prstGeom prst="rect">
            <a:avLst/>
          </a:prstGeom>
          <a:noFill/>
          <a:ln/>
        </p:spPr>
        <p:txBody>
          <a:bodyPr wrap="square" lIns="0" tIns="0" rIns="0" bIns="0" rtlCol="0" anchor="t"/>
          <a:lstStyle/>
          <a:p>
            <a:pPr indent="0" marL="0">
              <a:buNone/>
            </a:pPr>
            <a:r>
              <a:rPr lang="en-US" sz="7200" b="1" dirty="0">
                <a:solidFill>
                  <a:srgbClr val="118DFF"/>
                </a:solidFill>
                <a:latin typeface="Cambria" pitchFamily="34" charset="0"/>
                <a:ea typeface="Cambria" pitchFamily="34" charset="-122"/>
                <a:cs typeface="Cambria" pitchFamily="34" charset="-120"/>
              </a:rPr>
              <a:t>03</a:t>
            </a:r>
            <a:endParaRPr lang="en-US" sz="7200" dirty="0"/>
          </a:p>
        </p:txBody>
      </p:sp>
      <p:sp>
        <p:nvSpPr>
          <p:cNvPr id="3" name="Text 1"/>
          <p:cNvSpPr txBox="1"/>
          <p:nvPr/>
        </p:nvSpPr>
        <p:spPr>
          <a:xfrm>
            <a:off x="731520" y="301752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Interactive Dashboard</a:t>
            </a:r>
            <a:endParaRPr lang="en-US" sz="4000" dirty="0"/>
          </a:p>
        </p:txBody>
      </p:sp>
      <p:sp>
        <p:nvSpPr>
          <p:cNvPr id="4" name="Text 2"/>
          <p:cNvSpPr txBox="1"/>
          <p:nvPr/>
        </p:nvSpPr>
        <p:spPr>
          <a:xfrm>
            <a:off x="731520" y="3931920"/>
            <a:ext cx="9144000" cy="82296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Five-page Power BI report with global slicers: Gender, Sport Name, Season and Games Year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DASHBOARD  ·  PAGE 1</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Dashboard: Olympic Overview</a:t>
            </a:r>
            <a:endParaRPr lang="en-US" sz="2800" dirty="0"/>
          </a:p>
        </p:txBody>
      </p:sp>
      <p:pic>
        <p:nvPicPr>
          <p:cNvPr id="4" name="Image 0" descr="/tmp/w/dash/d-5.png">    </p:cNvPr>
          <p:cNvPicPr>
            <a:picLocks noChangeAspect="1"/>
          </p:cNvPicPr>
          <p:nvPr/>
        </p:nvPicPr>
        <p:blipFill>
          <a:blip r:embed="rId1"/>
          <a:stretch>
            <a:fillRect/>
          </a:stretch>
        </p:blipFill>
        <p:spPr>
          <a:xfrm>
            <a:off x="457200" y="1280160"/>
            <a:ext cx="8503920" cy="4876084"/>
          </a:xfrm>
          <a:prstGeom prst="rect">
            <a:avLst/>
          </a:prstGeom>
        </p:spPr>
      </p:pic>
      <p:sp>
        <p:nvSpPr>
          <p:cNvPr id="5" name="Shape 2"/>
          <p:cNvSpPr/>
          <p:nvPr/>
        </p:nvSpPr>
        <p:spPr>
          <a:xfrm>
            <a:off x="9235440" y="1280160"/>
            <a:ext cx="2496312" cy="4846320"/>
          </a:xfrm>
          <a:prstGeom prst="roundRect">
            <a:avLst>
              <a:gd name="adj" fmla="val 2930"/>
            </a:avLst>
          </a:prstGeom>
          <a:solidFill>
            <a:schemeClr val="bg2"/>
          </a:solidFill>
          <a:ln w="12700">
            <a:solidFill>
              <a:schemeClr val="bg2"/>
            </a:solidFill>
            <a:prstDash val="solid"/>
          </a:ln>
        </p:spPr>
      </p:sp>
      <p:sp>
        <p:nvSpPr>
          <p:cNvPr id="6" name="Text 3"/>
          <p:cNvSpPr txBox="1"/>
          <p:nvPr/>
        </p:nvSpPr>
        <p:spPr>
          <a:xfrm>
            <a:off x="9418320" y="1463040"/>
            <a:ext cx="219456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WHAT IT SHOWS</a:t>
            </a:r>
            <a:endParaRPr lang="en-US" sz="1200" dirty="0"/>
          </a:p>
        </p:txBody>
      </p:sp>
      <p:sp>
        <p:nvSpPr>
          <p:cNvPr id="7" name="Text 4"/>
          <p:cNvSpPr txBox="1"/>
          <p:nvPr/>
        </p:nvSpPr>
        <p:spPr>
          <a:xfrm>
            <a:off x="9418320" y="1874520"/>
            <a:ext cx="2148840" cy="4023360"/>
          </a:xfrm>
          <a:prstGeom prst="rect">
            <a:avLst/>
          </a:prstGeom>
          <a:noFill/>
          <a:ln/>
        </p:spPr>
        <p:txBody>
          <a:bodyPr wrap="square" lIns="0" tIns="0" rIns="0" bIns="0" rtlCol="0" anchor="t"/>
          <a:lstStyle/>
          <a:p>
            <a:pPr indent="0" marL="0">
              <a:spcAft>
                <a:spcPts val="1200"/>
              </a:spcAft>
              <a:buNone/>
            </a:pPr>
            <a:r>
              <a:rPr lang="en-US" sz="1400" dirty="0">
                <a:solidFill>
                  <a:schemeClr val="tx1"/>
                </a:solidFill>
                <a:latin typeface="Calibri" pitchFamily="34" charset="0"/>
                <a:ea typeface="Calibri" pitchFamily="34" charset="-122"/>
                <a:cs typeface="Calibri" pitchFamily="34" charset="-120"/>
              </a:rPr>
              <a:t>Headline KPIs: 51 Games, 66 Sports, 757 Events</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Games by season donut, games by decade and host-city ranking</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DASHBOARD  ·  PAGE 2</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Dashboard: Sports &amp; Events</a:t>
            </a:r>
            <a:endParaRPr lang="en-US" sz="2800" dirty="0"/>
          </a:p>
        </p:txBody>
      </p:sp>
      <p:pic>
        <p:nvPicPr>
          <p:cNvPr id="4" name="Image 0" descr="/tmp/w/dash/d-6.png">    </p:cNvPr>
          <p:cNvPicPr>
            <a:picLocks noChangeAspect="1"/>
          </p:cNvPicPr>
          <p:nvPr/>
        </p:nvPicPr>
        <p:blipFill>
          <a:blip r:embed="rId1"/>
          <a:stretch>
            <a:fillRect/>
          </a:stretch>
        </p:blipFill>
        <p:spPr>
          <a:xfrm>
            <a:off x="457200" y="1280160"/>
            <a:ext cx="8503920" cy="4876084"/>
          </a:xfrm>
          <a:prstGeom prst="rect">
            <a:avLst/>
          </a:prstGeom>
        </p:spPr>
      </p:pic>
      <p:sp>
        <p:nvSpPr>
          <p:cNvPr id="5" name="Shape 2"/>
          <p:cNvSpPr/>
          <p:nvPr/>
        </p:nvSpPr>
        <p:spPr>
          <a:xfrm>
            <a:off x="9235440" y="1280160"/>
            <a:ext cx="2496312" cy="4846320"/>
          </a:xfrm>
          <a:prstGeom prst="roundRect">
            <a:avLst>
              <a:gd name="adj" fmla="val 2930"/>
            </a:avLst>
          </a:prstGeom>
          <a:solidFill>
            <a:schemeClr val="bg2"/>
          </a:solidFill>
          <a:ln w="12700">
            <a:solidFill>
              <a:schemeClr val="bg2"/>
            </a:solidFill>
            <a:prstDash val="solid"/>
          </a:ln>
        </p:spPr>
      </p:sp>
      <p:sp>
        <p:nvSpPr>
          <p:cNvPr id="6" name="Text 3"/>
          <p:cNvSpPr txBox="1"/>
          <p:nvPr/>
        </p:nvSpPr>
        <p:spPr>
          <a:xfrm>
            <a:off x="9418320" y="1463040"/>
            <a:ext cx="219456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WHAT IT SHOWS</a:t>
            </a:r>
            <a:endParaRPr lang="en-US" sz="1200" dirty="0"/>
          </a:p>
        </p:txBody>
      </p:sp>
      <p:sp>
        <p:nvSpPr>
          <p:cNvPr id="7" name="Text 4"/>
          <p:cNvSpPr txBox="1"/>
          <p:nvPr/>
        </p:nvSpPr>
        <p:spPr>
          <a:xfrm>
            <a:off x="9418320" y="1874520"/>
            <a:ext cx="2148840" cy="4023360"/>
          </a:xfrm>
          <a:prstGeom prst="rect">
            <a:avLst/>
          </a:prstGeom>
          <a:noFill/>
          <a:ln/>
        </p:spPr>
        <p:txBody>
          <a:bodyPr wrap="square" lIns="0" tIns="0" rIns="0" bIns="0" rtlCol="0" anchor="t"/>
          <a:lstStyle/>
          <a:p>
            <a:pPr indent="0" marL="0">
              <a:spcAft>
                <a:spcPts val="1200"/>
              </a:spcAft>
              <a:buNone/>
            </a:pPr>
            <a:r>
              <a:rPr lang="en-US" sz="1400" dirty="0">
                <a:solidFill>
                  <a:schemeClr val="tx1"/>
                </a:solidFill>
                <a:latin typeface="Calibri" pitchFamily="34" charset="0"/>
                <a:ea typeface="Calibri" pitchFamily="34" charset="-122"/>
                <a:cs typeface="Calibri" pitchFamily="34" charset="-120"/>
              </a:rPr>
              <a:t>Events per sport and seasonal sport split</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Participants by sport across game years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DASHBOARD  ·  PAGE 3</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Dashboard: Participants</a:t>
            </a:r>
            <a:endParaRPr lang="en-US" sz="2800" dirty="0"/>
          </a:p>
        </p:txBody>
      </p:sp>
      <p:pic>
        <p:nvPicPr>
          <p:cNvPr id="4" name="Image 0" descr="/tmp/w/dash/d-7.png">    </p:cNvPr>
          <p:cNvPicPr>
            <a:picLocks noChangeAspect="1"/>
          </p:cNvPicPr>
          <p:nvPr/>
        </p:nvPicPr>
        <p:blipFill>
          <a:blip r:embed="rId1"/>
          <a:stretch>
            <a:fillRect/>
          </a:stretch>
        </p:blipFill>
        <p:spPr>
          <a:xfrm>
            <a:off x="457200" y="1280160"/>
            <a:ext cx="8503920" cy="4876084"/>
          </a:xfrm>
          <a:prstGeom prst="rect">
            <a:avLst/>
          </a:prstGeom>
        </p:spPr>
      </p:pic>
      <p:sp>
        <p:nvSpPr>
          <p:cNvPr id="5" name="Shape 2"/>
          <p:cNvSpPr/>
          <p:nvPr/>
        </p:nvSpPr>
        <p:spPr>
          <a:xfrm>
            <a:off x="9235440" y="1280160"/>
            <a:ext cx="2496312" cy="4846320"/>
          </a:xfrm>
          <a:prstGeom prst="roundRect">
            <a:avLst>
              <a:gd name="adj" fmla="val 2930"/>
            </a:avLst>
          </a:prstGeom>
          <a:solidFill>
            <a:schemeClr val="bg2"/>
          </a:solidFill>
          <a:ln w="12700">
            <a:solidFill>
              <a:schemeClr val="bg2"/>
            </a:solidFill>
            <a:prstDash val="solid"/>
          </a:ln>
        </p:spPr>
      </p:sp>
      <p:sp>
        <p:nvSpPr>
          <p:cNvPr id="6" name="Text 3"/>
          <p:cNvSpPr txBox="1"/>
          <p:nvPr/>
        </p:nvSpPr>
        <p:spPr>
          <a:xfrm>
            <a:off x="9418320" y="1463040"/>
            <a:ext cx="219456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WHAT IT SHOWS</a:t>
            </a:r>
            <a:endParaRPr lang="en-US" sz="1200" dirty="0"/>
          </a:p>
        </p:txBody>
      </p:sp>
      <p:sp>
        <p:nvSpPr>
          <p:cNvPr id="7" name="Text 4"/>
          <p:cNvSpPr txBox="1"/>
          <p:nvPr/>
        </p:nvSpPr>
        <p:spPr>
          <a:xfrm>
            <a:off x="9418320" y="1874520"/>
            <a:ext cx="2148840" cy="4023360"/>
          </a:xfrm>
          <a:prstGeom prst="rect">
            <a:avLst/>
          </a:prstGeom>
          <a:noFill/>
          <a:ln/>
        </p:spPr>
        <p:txBody>
          <a:bodyPr wrap="square" lIns="0" tIns="0" rIns="0" bIns="0" rtlCol="0" anchor="t"/>
          <a:lstStyle/>
          <a:p>
            <a:pPr indent="0" marL="0">
              <a:spcAft>
                <a:spcPts val="1200"/>
              </a:spcAft>
              <a:buNone/>
            </a:pPr>
            <a:r>
              <a:rPr lang="en-US" sz="1400" dirty="0">
                <a:solidFill>
                  <a:schemeClr val="tx1"/>
                </a:solidFill>
                <a:latin typeface="Calibri" pitchFamily="34" charset="0"/>
                <a:ea typeface="Calibri" pitchFamily="34" charset="-122"/>
                <a:cs typeface="Calibri" pitchFamily="34" charset="-120"/>
              </a:rPr>
              <a:t>129K participations, 95K male and 34K female</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Average age 25.78; top participating countries; age-group trends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DASHBOARD  ·  PAGE 4</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Dashboard: Medal Analysis</a:t>
            </a:r>
            <a:endParaRPr lang="en-US" sz="2800" dirty="0"/>
          </a:p>
        </p:txBody>
      </p:sp>
      <p:pic>
        <p:nvPicPr>
          <p:cNvPr id="4" name="Image 0" descr="/tmp/w/dash/d-8.png">    </p:cNvPr>
          <p:cNvPicPr>
            <a:picLocks noChangeAspect="1"/>
          </p:cNvPicPr>
          <p:nvPr/>
        </p:nvPicPr>
        <p:blipFill>
          <a:blip r:embed="rId1"/>
          <a:stretch>
            <a:fillRect/>
          </a:stretch>
        </p:blipFill>
        <p:spPr>
          <a:xfrm>
            <a:off x="457200" y="1280160"/>
            <a:ext cx="8503920" cy="4876084"/>
          </a:xfrm>
          <a:prstGeom prst="rect">
            <a:avLst/>
          </a:prstGeom>
        </p:spPr>
      </p:pic>
      <p:sp>
        <p:nvSpPr>
          <p:cNvPr id="5" name="Shape 2"/>
          <p:cNvSpPr/>
          <p:nvPr/>
        </p:nvSpPr>
        <p:spPr>
          <a:xfrm>
            <a:off x="9235440" y="1280160"/>
            <a:ext cx="2496312" cy="4846320"/>
          </a:xfrm>
          <a:prstGeom prst="roundRect">
            <a:avLst>
              <a:gd name="adj" fmla="val 2930"/>
            </a:avLst>
          </a:prstGeom>
          <a:solidFill>
            <a:schemeClr val="bg2"/>
          </a:solidFill>
          <a:ln w="12700">
            <a:solidFill>
              <a:schemeClr val="bg2"/>
            </a:solidFill>
            <a:prstDash val="solid"/>
          </a:ln>
        </p:spPr>
      </p:sp>
      <p:sp>
        <p:nvSpPr>
          <p:cNvPr id="6" name="Text 3"/>
          <p:cNvSpPr txBox="1"/>
          <p:nvPr/>
        </p:nvSpPr>
        <p:spPr>
          <a:xfrm>
            <a:off x="9418320" y="1463040"/>
            <a:ext cx="219456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WHAT IT SHOWS</a:t>
            </a:r>
            <a:endParaRPr lang="en-US" sz="1200" dirty="0"/>
          </a:p>
        </p:txBody>
      </p:sp>
      <p:sp>
        <p:nvSpPr>
          <p:cNvPr id="7" name="Text 4"/>
          <p:cNvSpPr txBox="1"/>
          <p:nvPr/>
        </p:nvSpPr>
        <p:spPr>
          <a:xfrm>
            <a:off x="9418320" y="1874520"/>
            <a:ext cx="2148840" cy="4023360"/>
          </a:xfrm>
          <a:prstGeom prst="rect">
            <a:avLst/>
          </a:prstGeom>
          <a:noFill/>
          <a:ln/>
        </p:spPr>
        <p:txBody>
          <a:bodyPr wrap="square" lIns="0" tIns="0" rIns="0" bIns="0" rtlCol="0" anchor="t"/>
          <a:lstStyle/>
          <a:p>
            <a:pPr indent="0" marL="0">
              <a:spcAft>
                <a:spcPts val="1200"/>
              </a:spcAft>
              <a:buNone/>
            </a:pPr>
            <a:r>
              <a:rPr lang="en-US" sz="1400" dirty="0">
                <a:solidFill>
                  <a:schemeClr val="tx1"/>
                </a:solidFill>
                <a:latin typeface="Calibri" pitchFamily="34" charset="0"/>
                <a:ea typeface="Calibri" pitchFamily="34" charset="-122"/>
                <a:cs typeface="Calibri" pitchFamily="34" charset="-120"/>
              </a:rPr>
              <a:t>39K medals: 13K gold, 13K silver, 13K bronze</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Medals by year, medals by sport and gold-medal leaderboard</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DASHBOARD  ·  PAGE 5</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Dashboard: Regional Analysis</a:t>
            </a:r>
            <a:endParaRPr lang="en-US" sz="2800" dirty="0"/>
          </a:p>
        </p:txBody>
      </p:sp>
      <p:pic>
        <p:nvPicPr>
          <p:cNvPr id="4" name="Image 0" descr="/tmp/w/dash/d-9.png">    </p:cNvPr>
          <p:cNvPicPr>
            <a:picLocks noChangeAspect="1"/>
          </p:cNvPicPr>
          <p:nvPr/>
        </p:nvPicPr>
        <p:blipFill>
          <a:blip r:embed="rId1"/>
          <a:stretch>
            <a:fillRect/>
          </a:stretch>
        </p:blipFill>
        <p:spPr>
          <a:xfrm>
            <a:off x="457200" y="1280160"/>
            <a:ext cx="8503920" cy="4876084"/>
          </a:xfrm>
          <a:prstGeom prst="rect">
            <a:avLst/>
          </a:prstGeom>
        </p:spPr>
      </p:pic>
      <p:sp>
        <p:nvSpPr>
          <p:cNvPr id="5" name="Shape 2"/>
          <p:cNvSpPr/>
          <p:nvPr/>
        </p:nvSpPr>
        <p:spPr>
          <a:xfrm>
            <a:off x="9235440" y="1280160"/>
            <a:ext cx="2496312" cy="4846320"/>
          </a:xfrm>
          <a:prstGeom prst="roundRect">
            <a:avLst>
              <a:gd name="adj" fmla="val 2930"/>
            </a:avLst>
          </a:prstGeom>
          <a:solidFill>
            <a:schemeClr val="bg2"/>
          </a:solidFill>
          <a:ln w="12700">
            <a:solidFill>
              <a:schemeClr val="bg2"/>
            </a:solidFill>
            <a:prstDash val="solid"/>
          </a:ln>
        </p:spPr>
      </p:sp>
      <p:sp>
        <p:nvSpPr>
          <p:cNvPr id="6" name="Text 3"/>
          <p:cNvSpPr txBox="1"/>
          <p:nvPr/>
        </p:nvSpPr>
        <p:spPr>
          <a:xfrm>
            <a:off x="9418320" y="1463040"/>
            <a:ext cx="219456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WHAT IT SHOWS</a:t>
            </a:r>
            <a:endParaRPr lang="en-US" sz="1200" dirty="0"/>
          </a:p>
        </p:txBody>
      </p:sp>
      <p:sp>
        <p:nvSpPr>
          <p:cNvPr id="7" name="Text 4"/>
          <p:cNvSpPr txBox="1"/>
          <p:nvPr/>
        </p:nvSpPr>
        <p:spPr>
          <a:xfrm>
            <a:off x="9418320" y="1874520"/>
            <a:ext cx="2148840" cy="4023360"/>
          </a:xfrm>
          <a:prstGeom prst="rect">
            <a:avLst/>
          </a:prstGeom>
          <a:noFill/>
          <a:ln/>
        </p:spPr>
        <p:txBody>
          <a:bodyPr wrap="square" lIns="0" tIns="0" rIns="0" bIns="0" rtlCol="0" anchor="t"/>
          <a:lstStyle/>
          <a:p>
            <a:pPr indent="0" marL="0">
              <a:spcAft>
                <a:spcPts val="1200"/>
              </a:spcAft>
              <a:buNone/>
            </a:pPr>
            <a:r>
              <a:rPr lang="en-US" sz="1400" dirty="0">
                <a:solidFill>
                  <a:schemeClr val="tx1"/>
                </a:solidFill>
                <a:latin typeface="Calibri" pitchFamily="34" charset="0"/>
                <a:ea typeface="Calibri" pitchFamily="34" charset="-122"/>
                <a:cs typeface="Calibri" pitchFamily="34" charset="-120"/>
              </a:rPr>
              <a:t>228 NOCs; growth from 11 to 215 across Games</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Participants and total medals by region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GEOPOLITICAL DOMINANCE</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Medal Economics by Region</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Participants versus medals won (SQL Q12 and Power BI measures)</a:t>
            </a:r>
            <a:endParaRPr lang="en-US" sz="14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6309360" cy="914400"/>
        </p:xfrm>
        <a:graphic>
          <a:graphicData uri="http://schemas.openxmlformats.org/drawingml/2006/table">
            <a:tbl>
              <a:tblPr/>
              <a:tblGrid>
                <a:gridCol w="1737360"/>
                <a:gridCol w="1188720"/>
                <a:gridCol w="822960"/>
                <a:gridCol w="1371600"/>
                <a:gridCol w="11887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Region</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0B1F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Participants</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0B1F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Gold</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0B1F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Total Medals</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0B1F4B"/>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Conversion</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0B1F4B"/>
                    </a:solidFill>
                  </a:tcPr>
                </a:tc>
              </a:tr>
              <a:tr h="566928">
                <a:tc>
                  <a:txBody>
                    <a:bodyPr/>
                    <a:lstStyle/>
                    <a:p>
                      <a:pPr algn="l" indent="0" marL="0">
                        <a:buNone/>
                      </a:pPr>
                      <a:r>
                        <a:rPr lang="en-US" sz="1400" b="1" dirty="0">
                          <a:solidFill>
                            <a:srgbClr val="111827"/>
                          </a:solidFill>
                          <a:latin typeface="Calibri" pitchFamily="34" charset="0"/>
                          <a:ea typeface="Calibri" pitchFamily="34" charset="-122"/>
                          <a:cs typeface="Calibri" pitchFamily="34" charset="-120"/>
                        </a:rPr>
                        <a:t>USA</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9,225</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2,533</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5,414</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58.69%</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r>
              <a:tr h="566928">
                <a:tc>
                  <a:txBody>
                    <a:bodyPr/>
                    <a:lstStyle/>
                    <a:p>
                      <a:pPr algn="l" indent="0" marL="0">
                        <a:buNone/>
                      </a:pPr>
                      <a:r>
                        <a:rPr lang="en-US" sz="1400" b="1" dirty="0">
                          <a:solidFill>
                            <a:srgbClr val="111827"/>
                          </a:solidFill>
                          <a:latin typeface="Calibri" pitchFamily="34" charset="0"/>
                          <a:ea typeface="Calibri" pitchFamily="34" charset="-122"/>
                          <a:cs typeface="Calibri" pitchFamily="34" charset="-120"/>
                        </a:rPr>
                        <a:t>Soviet Union</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2,856</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1,135</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2,658</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93.07%</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11827"/>
                          </a:solidFill>
                          <a:latin typeface="Calibri" pitchFamily="34" charset="0"/>
                          <a:ea typeface="Calibri" pitchFamily="34" charset="-122"/>
                          <a:cs typeface="Calibri" pitchFamily="34" charset="-120"/>
                        </a:rPr>
                        <a:t>Germany</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4,763</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843</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2,395</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50.28%</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r>
              <a:tr h="566928">
                <a:tc>
                  <a:txBody>
                    <a:bodyPr/>
                    <a:lstStyle/>
                    <a:p>
                      <a:pPr algn="l" indent="0" marL="0">
                        <a:buNone/>
                      </a:pPr>
                      <a:r>
                        <a:rPr lang="en-US" sz="1400" b="1" dirty="0">
                          <a:solidFill>
                            <a:srgbClr val="111827"/>
                          </a:solidFill>
                          <a:latin typeface="Calibri" pitchFamily="34" charset="0"/>
                          <a:ea typeface="Calibri" pitchFamily="34" charset="-122"/>
                          <a:cs typeface="Calibri" pitchFamily="34" charset="-120"/>
                        </a:rPr>
                        <a:t>UK</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5,783</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658</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1,971</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34.08%</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FFFFFF"/>
                    </a:solidFill>
                  </a:tcPr>
                </a:tc>
              </a:tr>
              <a:tr h="566928">
                <a:tc>
                  <a:txBody>
                    <a:bodyPr/>
                    <a:lstStyle/>
                    <a:p>
                      <a:pPr algn="l" indent="0" marL="0">
                        <a:buNone/>
                      </a:pPr>
                      <a:r>
                        <a:rPr lang="en-US" sz="1400" b="1" dirty="0">
                          <a:solidFill>
                            <a:srgbClr val="111827"/>
                          </a:solidFill>
                          <a:latin typeface="Calibri" pitchFamily="34" charset="0"/>
                          <a:ea typeface="Calibri" pitchFamily="34" charset="-122"/>
                          <a:cs typeface="Calibri" pitchFamily="34" charset="-120"/>
                        </a:rPr>
                        <a:t>France</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5,198</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492</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1,686</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c>
                  <a:txBody>
                    <a:bodyPr/>
                    <a:lstStyle/>
                    <a:p>
                      <a:pPr algn="ctr" indent="0" marL="0">
                        <a:buNone/>
                      </a:pPr>
                      <a:r>
                        <a:rPr lang="en-US" sz="1400" dirty="0">
                          <a:solidFill>
                            <a:srgbClr val="111827"/>
                          </a:solidFill>
                          <a:latin typeface="Calibri" pitchFamily="34" charset="0"/>
                          <a:ea typeface="Calibri" pitchFamily="34" charset="-122"/>
                          <a:cs typeface="Calibri" pitchFamily="34" charset="-120"/>
                        </a:rPr>
                        <a:t>32.44%</a:t>
                      </a:r>
                      <a:endParaRPr lang="en-US" sz="1400" dirty="0">
                        <a:latin typeface="Calibri" charset="0"/>
                        <a:ea typeface="Calibri" charset="0"/>
                        <a:cs typeface="Calibri" charset="0"/>
                      </a:endParaRPr>
                    </a:p>
                  </a:txBody>
                  <a:tcPr marL="91440" marR="91440" marT="45720" marB="45720" anchor="ctr">
                    <a:lnL w="6350" cap="flat" cmpd="sng" algn="ctr">
                      <a:solidFill>
                        <a:srgbClr val="D5DEEC"/>
                      </a:solidFill>
                      <a:prstDash val="solid"/>
                      <a:round/>
                      <a:headEnd type="none" w="med" len="med"/>
                      <a:tailEnd type="none" w="med" len="med"/>
                    </a:lnL>
                    <a:lnR w="6350" cap="flat" cmpd="sng" algn="ctr">
                      <a:solidFill>
                        <a:srgbClr val="D5DEEC"/>
                      </a:solidFill>
                      <a:prstDash val="solid"/>
                      <a:round/>
                      <a:headEnd type="none" w="med" len="med"/>
                      <a:tailEnd type="none" w="med" len="med"/>
                    </a:lnR>
                    <a:lnT w="6350" cap="flat" cmpd="sng" algn="ctr">
                      <a:solidFill>
                        <a:srgbClr val="D5DEEC"/>
                      </a:solidFill>
                      <a:prstDash val="solid"/>
                      <a:round/>
                      <a:headEnd type="none" w="med" len="med"/>
                      <a:tailEnd type="none" w="med" len="med"/>
                    </a:lnT>
                    <a:lnB w="6350" cap="flat" cmpd="sng" algn="ctr">
                      <a:solidFill>
                        <a:srgbClr val="D5DEEC"/>
                      </a:solidFill>
                      <a:prstDash val="solid"/>
                      <a:round/>
                      <a:headEnd type="none" w="med" len="med"/>
                      <a:tailEnd type="none" w="med" len="med"/>
                    </a:lnB>
                    <a:solidFill>
                      <a:srgbClr val="EEF3FA"/>
                    </a:solidFill>
                  </a:tcPr>
                </a:tc>
              </a:tr>
            </a:tbl>
          </a:graphicData>
        </a:graphic>
      </p:graphicFrame>
      <p:graphicFrame>
        <p:nvGraphicFramePr>
          <p:cNvPr id="6" name="Chart 0" descr=""/>
          <p:cNvGraphicFramePr/>
          <p:nvPr/>
        </p:nvGraphicFramePr>
        <p:xfrm>
          <a:off x="7040880" y="1554480"/>
          <a:ext cx="466344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457200" y="5440680"/>
            <a:ext cx="6309360" cy="731520"/>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Conversion rate = total medals / participants. The Soviet Union converts at the highest rate; the USA leads on volume.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57200" y="27432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NEXT STEPS</a:t>
            </a:r>
            <a:endParaRPr lang="en-US" sz="1200" dirty="0"/>
          </a:p>
        </p:txBody>
      </p:sp>
      <p:sp>
        <p:nvSpPr>
          <p:cNvPr id="3" name="Text 1"/>
          <p:cNvSpPr txBox="1"/>
          <p:nvPr/>
        </p:nvSpPr>
        <p:spPr>
          <a:xfrm>
            <a:off x="457200" y="548640"/>
            <a:ext cx="11247120" cy="54864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Strategic Recommendations</a:t>
            </a:r>
            <a:endParaRPr lang="en-US" sz="2800" dirty="0"/>
          </a:p>
        </p:txBody>
      </p:sp>
      <p:sp>
        <p:nvSpPr>
          <p:cNvPr id="4" name="Text 2"/>
          <p:cNvSpPr txBox="1"/>
          <p:nvPr/>
        </p:nvSpPr>
        <p:spPr>
          <a:xfrm>
            <a:off x="457200" y="1097280"/>
            <a:ext cx="11247120" cy="292608"/>
          </a:xfrm>
          <a:prstGeom prst="rect">
            <a:avLst/>
          </a:prstGeom>
          <a:noFill/>
          <a:ln/>
        </p:spPr>
        <p:txBody>
          <a:bodyPr wrap="square" lIns="0" tIns="0" rIns="0" bIns="0" rtlCol="0" anchor="t"/>
          <a:lstStyle/>
          <a:p>
            <a:pPr indent="0" marL="0">
              <a:buNone/>
            </a:pPr>
            <a:r>
              <a:rPr lang="en-US" sz="1400" i="1" dirty="0">
                <a:solidFill>
                  <a:schemeClr val="accent5"/>
                </a:solidFill>
                <a:latin typeface="Calibri" pitchFamily="34" charset="0"/>
                <a:ea typeface="Calibri" pitchFamily="34" charset="-122"/>
                <a:cs typeface="Calibri" pitchFamily="34" charset="-120"/>
              </a:rPr>
              <a:t>Three initiatives from the combined SQL and Power BI findings</a:t>
            </a:r>
            <a:endParaRPr lang="en-US" sz="1400" dirty="0"/>
          </a:p>
        </p:txBody>
      </p:sp>
      <p:sp>
        <p:nvSpPr>
          <p:cNvPr id="5" name="Shape 3"/>
          <p:cNvSpPr/>
          <p:nvPr/>
        </p:nvSpPr>
        <p:spPr>
          <a:xfrm>
            <a:off x="457200" y="1691640"/>
            <a:ext cx="3630168" cy="4206240"/>
          </a:xfrm>
          <a:prstGeom prst="roundRect">
            <a:avLst>
              <a:gd name="adj" fmla="val 2015"/>
            </a:avLst>
          </a:prstGeom>
          <a:solidFill>
            <a:schemeClr val="bg2"/>
          </a:solidFill>
          <a:ln w="12700">
            <a:solidFill>
              <a:schemeClr val="bg2"/>
            </a:solidFill>
            <a:prstDash val="solid"/>
          </a:ln>
        </p:spPr>
      </p:sp>
      <p:sp>
        <p:nvSpPr>
          <p:cNvPr id="6" name="Text 4"/>
          <p:cNvSpPr txBox="1"/>
          <p:nvPr/>
        </p:nvSpPr>
        <p:spPr>
          <a:xfrm>
            <a:off x="731520" y="1920240"/>
            <a:ext cx="91440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7" name="Text 5"/>
          <p:cNvSpPr txBox="1"/>
          <p:nvPr/>
        </p:nvSpPr>
        <p:spPr>
          <a:xfrm>
            <a:off x="731520" y="2834640"/>
            <a:ext cx="3108960" cy="73152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Accelerate gender parity</a:t>
            </a:r>
            <a:endParaRPr lang="en-US" sz="2000" dirty="0"/>
          </a:p>
        </p:txBody>
      </p:sp>
      <p:sp>
        <p:nvSpPr>
          <p:cNvPr id="8" name="Text 6"/>
          <p:cNvSpPr txBox="1"/>
          <p:nvPr/>
        </p:nvSpPr>
        <p:spPr>
          <a:xfrm>
            <a:off x="731520" y="3611880"/>
            <a:ext cx="3108960" cy="2103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Athletics, Cycling and Shooting still show male-dominated participation. Expanding women’s event rosters in these sports will lift overall balance.</a:t>
            </a:r>
            <a:endParaRPr lang="en-US" sz="1400" dirty="0"/>
          </a:p>
        </p:txBody>
      </p:sp>
      <p:sp>
        <p:nvSpPr>
          <p:cNvPr id="9" name="Shape 7"/>
          <p:cNvSpPr/>
          <p:nvPr/>
        </p:nvSpPr>
        <p:spPr>
          <a:xfrm>
            <a:off x="4279392" y="1691640"/>
            <a:ext cx="3630168" cy="4206240"/>
          </a:xfrm>
          <a:prstGeom prst="roundRect">
            <a:avLst>
              <a:gd name="adj" fmla="val 2015"/>
            </a:avLst>
          </a:prstGeom>
          <a:solidFill>
            <a:schemeClr val="bg2"/>
          </a:solidFill>
          <a:ln w="12700">
            <a:solidFill>
              <a:schemeClr val="bg2"/>
            </a:solidFill>
            <a:prstDash val="solid"/>
          </a:ln>
        </p:spPr>
      </p:sp>
      <p:sp>
        <p:nvSpPr>
          <p:cNvPr id="10" name="Text 8"/>
          <p:cNvSpPr txBox="1"/>
          <p:nvPr/>
        </p:nvSpPr>
        <p:spPr>
          <a:xfrm>
            <a:off x="4553712" y="192024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2</a:t>
            </a:r>
            <a:endParaRPr lang="en-US" sz="4800" dirty="0"/>
          </a:p>
        </p:txBody>
      </p:sp>
      <p:sp>
        <p:nvSpPr>
          <p:cNvPr id="11" name="Text 9"/>
          <p:cNvSpPr txBox="1"/>
          <p:nvPr/>
        </p:nvSpPr>
        <p:spPr>
          <a:xfrm>
            <a:off x="4553712" y="2834640"/>
            <a:ext cx="3108960" cy="73152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Expand Winter Games infrastructure</a:t>
            </a:r>
            <a:endParaRPr lang="en-US" sz="2000" dirty="0"/>
          </a:p>
        </p:txBody>
      </p:sp>
      <p:sp>
        <p:nvSpPr>
          <p:cNvPr id="12" name="Text 10"/>
          <p:cNvSpPr txBox="1"/>
          <p:nvPr/>
        </p:nvSpPr>
        <p:spPr>
          <a:xfrm>
            <a:off x="4553712" y="3611880"/>
            <a:ext cx="3108960" cy="2103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Winter covers 22 of 51 Games and 17 sports. Targeted support for emerging NOCs in Asia and South America can broaden participation.</a:t>
            </a:r>
            <a:endParaRPr lang="en-US" sz="1400" dirty="0"/>
          </a:p>
        </p:txBody>
      </p:sp>
      <p:sp>
        <p:nvSpPr>
          <p:cNvPr id="13" name="Shape 11"/>
          <p:cNvSpPr/>
          <p:nvPr/>
        </p:nvSpPr>
        <p:spPr>
          <a:xfrm>
            <a:off x="8101584" y="1691640"/>
            <a:ext cx="3630168" cy="4206240"/>
          </a:xfrm>
          <a:prstGeom prst="roundRect">
            <a:avLst>
              <a:gd name="adj" fmla="val 2015"/>
            </a:avLst>
          </a:prstGeom>
          <a:solidFill>
            <a:schemeClr val="bg2"/>
          </a:solidFill>
          <a:ln w="12700">
            <a:solidFill>
              <a:schemeClr val="bg2"/>
            </a:solidFill>
            <a:prstDash val="solid"/>
          </a:ln>
        </p:spPr>
      </p:sp>
      <p:sp>
        <p:nvSpPr>
          <p:cNvPr id="14" name="Text 12"/>
          <p:cNvSpPr txBox="1"/>
          <p:nvPr/>
        </p:nvSpPr>
        <p:spPr>
          <a:xfrm>
            <a:off x="8375904" y="1920240"/>
            <a:ext cx="914400" cy="822960"/>
          </a:xfrm>
          <a:prstGeom prst="rect">
            <a:avLst/>
          </a:prstGeom>
          <a:noFill/>
          <a:ln/>
        </p:spPr>
        <p:txBody>
          <a:bodyPr wrap="square" lIns="0" tIns="0" rIns="0" bIns="0" rtlCol="0" anchor="t"/>
          <a:lstStyle/>
          <a:p>
            <a:pPr indent="0" marL="0">
              <a:buNone/>
            </a:pPr>
            <a:r>
              <a:rPr lang="en-US" sz="4800" b="1" dirty="0">
                <a:solidFill>
                  <a:schemeClr val="accent6"/>
                </a:solidFill>
                <a:latin typeface="Cambria" pitchFamily="34" charset="0"/>
                <a:ea typeface="Cambria" pitchFamily="34" charset="-122"/>
                <a:cs typeface="Cambria" pitchFamily="34" charset="-120"/>
              </a:rPr>
              <a:t>3</a:t>
            </a:r>
            <a:endParaRPr lang="en-US" sz="4800" dirty="0"/>
          </a:p>
        </p:txBody>
      </p:sp>
      <p:sp>
        <p:nvSpPr>
          <p:cNvPr id="15" name="Text 13"/>
          <p:cNvSpPr txBox="1"/>
          <p:nvPr/>
        </p:nvSpPr>
        <p:spPr>
          <a:xfrm>
            <a:off x="8375904" y="2834640"/>
            <a:ext cx="3108960" cy="731520"/>
          </a:xfrm>
          <a:prstGeom prst="rect">
            <a:avLst/>
          </a:prstGeom>
          <a:noFill/>
          <a:ln/>
        </p:spPr>
        <p:txBody>
          <a:bodyPr wrap="square" lIns="0" tIns="0" rIns="0" bIns="0" rtlCol="0" anchor="t"/>
          <a:lstStyle/>
          <a:p>
            <a:pPr indent="0" marL="0">
              <a:buNone/>
            </a:pPr>
            <a:r>
              <a:rPr lang="en-US" sz="2000" b="1" dirty="0">
                <a:solidFill>
                  <a:schemeClr val="tx2"/>
                </a:solidFill>
                <a:latin typeface="Calibri" pitchFamily="34" charset="0"/>
                <a:ea typeface="Calibri" pitchFamily="34" charset="-122"/>
                <a:cs typeface="Calibri" pitchFamily="34" charset="-120"/>
              </a:rPr>
              <a:t>Add predictive DAX analytics</a:t>
            </a:r>
            <a:endParaRPr lang="en-US" sz="2000" dirty="0"/>
          </a:p>
        </p:txBody>
      </p:sp>
      <p:sp>
        <p:nvSpPr>
          <p:cNvPr id="16" name="Text 14"/>
          <p:cNvSpPr txBox="1"/>
          <p:nvPr/>
        </p:nvSpPr>
        <p:spPr>
          <a:xfrm>
            <a:off x="8375904" y="3611880"/>
            <a:ext cx="3108960" cy="2103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Extend the Power BI model with athlete age-trajectory and NOC medal prediction measures ahead of future Games.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64008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Key Findings</a:t>
            </a:r>
            <a:endParaRPr lang="en-US" sz="4000" dirty="0"/>
          </a:p>
        </p:txBody>
      </p:sp>
      <p:sp>
        <p:nvSpPr>
          <p:cNvPr id="3" name="Text 1"/>
          <p:cNvSpPr txBox="1"/>
          <p:nvPr/>
        </p:nvSpPr>
        <p:spPr>
          <a:xfrm>
            <a:off x="731520" y="1828800"/>
            <a:ext cx="3291840" cy="822960"/>
          </a:xfrm>
          <a:prstGeom prst="rect">
            <a:avLst/>
          </a:prstGeom>
          <a:noFill/>
          <a:ln/>
        </p:spPr>
        <p:txBody>
          <a:bodyPr wrap="square" lIns="0" tIns="0" rIns="0" bIns="0" rtlCol="0" anchor="t"/>
          <a:lstStyle/>
          <a:p>
            <a:pPr indent="0" marL="0">
              <a:buNone/>
            </a:pPr>
            <a:r>
              <a:rPr lang="en-US" sz="4000" b="1" dirty="0">
                <a:solidFill>
                  <a:srgbClr val="7FC1FF"/>
                </a:solidFill>
                <a:latin typeface="Cambria" pitchFamily="34" charset="0"/>
                <a:ea typeface="Cambria" pitchFamily="34" charset="-122"/>
                <a:cs typeface="Cambria" pitchFamily="34" charset="-120"/>
              </a:rPr>
              <a:t>29 | 22</a:t>
            </a:r>
            <a:endParaRPr lang="en-US" sz="4000" dirty="0"/>
          </a:p>
        </p:txBody>
      </p:sp>
      <p:sp>
        <p:nvSpPr>
          <p:cNvPr id="4" name="Text 2"/>
          <p:cNvSpPr txBox="1"/>
          <p:nvPr/>
        </p:nvSpPr>
        <p:spPr>
          <a:xfrm>
            <a:off x="731520" y="2743200"/>
            <a:ext cx="3200400" cy="731520"/>
          </a:xfrm>
          <a:prstGeom prst="rect">
            <a:avLst/>
          </a:prstGeom>
          <a:noFill/>
          <a:ln/>
        </p:spPr>
        <p:txBody>
          <a:bodyPr wrap="square" lIns="0" tIns="0" rIns="0" bIns="0" rtlCol="0" anchor="t"/>
          <a:lstStyle/>
          <a:p>
            <a:pPr indent="0" marL="0">
              <a:buNone/>
            </a:pPr>
            <a:r>
              <a:rPr lang="en-US" sz="1600" dirty="0">
                <a:solidFill>
                  <a:srgbClr val="E2ECFF"/>
                </a:solidFill>
                <a:latin typeface="Calibri" pitchFamily="34" charset="0"/>
                <a:ea typeface="Calibri" pitchFamily="34" charset="-122"/>
                <a:cs typeface="Calibri" pitchFamily="34" charset="-120"/>
              </a:rPr>
              <a:t>Summer and Winter Games out of 51 editions</a:t>
            </a:r>
            <a:endParaRPr lang="en-US" sz="1600" dirty="0"/>
          </a:p>
        </p:txBody>
      </p:sp>
      <p:sp>
        <p:nvSpPr>
          <p:cNvPr id="5" name="Text 3"/>
          <p:cNvSpPr txBox="1"/>
          <p:nvPr/>
        </p:nvSpPr>
        <p:spPr>
          <a:xfrm>
            <a:off x="4389120" y="1828800"/>
            <a:ext cx="3291840" cy="822960"/>
          </a:xfrm>
          <a:prstGeom prst="rect">
            <a:avLst/>
          </a:prstGeom>
          <a:noFill/>
          <a:ln/>
        </p:spPr>
        <p:txBody>
          <a:bodyPr wrap="square" lIns="0" tIns="0" rIns="0" bIns="0" rtlCol="0" anchor="t"/>
          <a:lstStyle/>
          <a:p>
            <a:pPr indent="0" marL="0">
              <a:buNone/>
            </a:pPr>
            <a:r>
              <a:rPr lang="en-US" sz="4000" b="1" dirty="0">
                <a:solidFill>
                  <a:srgbClr val="F2B600"/>
                </a:solidFill>
                <a:latin typeface="Cambria" pitchFamily="34" charset="0"/>
                <a:ea typeface="Cambria" pitchFamily="34" charset="-122"/>
                <a:cs typeface="Cambria" pitchFamily="34" charset="-120"/>
              </a:rPr>
              <a:t>73.9%</a:t>
            </a:r>
            <a:endParaRPr lang="en-US" sz="4000" dirty="0"/>
          </a:p>
        </p:txBody>
      </p:sp>
      <p:sp>
        <p:nvSpPr>
          <p:cNvPr id="6" name="Text 4"/>
          <p:cNvSpPr txBox="1"/>
          <p:nvPr/>
        </p:nvSpPr>
        <p:spPr>
          <a:xfrm>
            <a:off x="4389120" y="2743200"/>
            <a:ext cx="3200400" cy="731520"/>
          </a:xfrm>
          <a:prstGeom prst="rect">
            <a:avLst/>
          </a:prstGeom>
          <a:noFill/>
          <a:ln/>
        </p:spPr>
        <p:txBody>
          <a:bodyPr wrap="square" lIns="0" tIns="0" rIns="0" bIns="0" rtlCol="0" anchor="t"/>
          <a:lstStyle/>
          <a:p>
            <a:pPr indent="0" marL="0">
              <a:buNone/>
            </a:pPr>
            <a:r>
              <a:rPr lang="en-US" sz="1600" dirty="0">
                <a:solidFill>
                  <a:srgbClr val="E2ECFF"/>
                </a:solidFill>
                <a:latin typeface="Calibri" pitchFamily="34" charset="0"/>
                <a:ea typeface="Calibri" pitchFamily="34" charset="-122"/>
                <a:cs typeface="Calibri" pitchFamily="34" charset="-120"/>
              </a:rPr>
              <a:t>of 129K participations are male; 26.1% female</a:t>
            </a:r>
            <a:endParaRPr lang="en-US" sz="1600" dirty="0"/>
          </a:p>
        </p:txBody>
      </p:sp>
      <p:sp>
        <p:nvSpPr>
          <p:cNvPr id="7" name="Text 5"/>
          <p:cNvSpPr txBox="1"/>
          <p:nvPr/>
        </p:nvSpPr>
        <p:spPr>
          <a:xfrm>
            <a:off x="8046720" y="1828800"/>
            <a:ext cx="3291840" cy="822960"/>
          </a:xfrm>
          <a:prstGeom prst="rect">
            <a:avLst/>
          </a:prstGeom>
          <a:noFill/>
          <a:ln/>
        </p:spPr>
        <p:txBody>
          <a:bodyPr wrap="square" lIns="0" tIns="0" rIns="0" bIns="0" rtlCol="0" anchor="t"/>
          <a:lstStyle/>
          <a:p>
            <a:pPr indent="0" marL="0">
              <a:buNone/>
            </a:pPr>
            <a:r>
              <a:rPr lang="en-US" sz="4000" b="1" dirty="0">
                <a:solidFill>
                  <a:srgbClr val="FF9A6B"/>
                </a:solidFill>
                <a:latin typeface="Cambria" pitchFamily="34" charset="0"/>
                <a:ea typeface="Cambria" pitchFamily="34" charset="-122"/>
                <a:cs typeface="Cambria" pitchFamily="34" charset="-120"/>
              </a:rPr>
              <a:t>83</a:t>
            </a:r>
            <a:endParaRPr lang="en-US" sz="4000" dirty="0"/>
          </a:p>
        </p:txBody>
      </p:sp>
      <p:sp>
        <p:nvSpPr>
          <p:cNvPr id="8" name="Text 6"/>
          <p:cNvSpPr txBox="1"/>
          <p:nvPr/>
        </p:nvSpPr>
        <p:spPr>
          <a:xfrm>
            <a:off x="8046720" y="2743200"/>
            <a:ext cx="3200400" cy="731520"/>
          </a:xfrm>
          <a:prstGeom prst="rect">
            <a:avLst/>
          </a:prstGeom>
          <a:noFill/>
          <a:ln/>
        </p:spPr>
        <p:txBody>
          <a:bodyPr wrap="square" lIns="0" tIns="0" rIns="0" bIns="0" rtlCol="0" anchor="t"/>
          <a:lstStyle/>
          <a:p>
            <a:pPr indent="0" marL="0">
              <a:buNone/>
            </a:pPr>
            <a:r>
              <a:rPr lang="en-US" sz="1600" dirty="0">
                <a:solidFill>
                  <a:srgbClr val="E2ECFF"/>
                </a:solidFill>
                <a:latin typeface="Calibri" pitchFamily="34" charset="0"/>
                <a:ea typeface="Calibri" pitchFamily="34" charset="-122"/>
                <a:cs typeface="Calibri" pitchFamily="34" charset="-120"/>
              </a:rPr>
              <a:t>events each for Athletics and Shooting, the largest sports</a:t>
            </a:r>
            <a:endParaRPr lang="en-US" sz="1600" dirty="0"/>
          </a:p>
        </p:txBody>
      </p:sp>
      <p:sp>
        <p:nvSpPr>
          <p:cNvPr id="9" name="Text 7"/>
          <p:cNvSpPr txBox="1"/>
          <p:nvPr/>
        </p:nvSpPr>
        <p:spPr>
          <a:xfrm>
            <a:off x="731520" y="4023360"/>
            <a:ext cx="3291840" cy="822960"/>
          </a:xfrm>
          <a:prstGeom prst="rect">
            <a:avLst/>
          </a:prstGeom>
          <a:noFill/>
          <a:ln/>
        </p:spPr>
        <p:txBody>
          <a:bodyPr wrap="square" lIns="0" tIns="0" rIns="0" bIns="0" rtlCol="0" anchor="t"/>
          <a:lstStyle/>
          <a:p>
            <a:pPr indent="0" marL="0">
              <a:buNone/>
            </a:pPr>
            <a:r>
              <a:rPr lang="en-US" sz="4000" b="1" dirty="0">
                <a:solidFill>
                  <a:srgbClr val="2BB673"/>
                </a:solidFill>
                <a:latin typeface="Cambria" pitchFamily="34" charset="0"/>
                <a:ea typeface="Cambria" pitchFamily="34" charset="-122"/>
                <a:cs typeface="Cambria" pitchFamily="34" charset="-120"/>
              </a:rPr>
              <a:t>5,414</a:t>
            </a:r>
            <a:endParaRPr lang="en-US" sz="4000" dirty="0"/>
          </a:p>
        </p:txBody>
      </p:sp>
      <p:sp>
        <p:nvSpPr>
          <p:cNvPr id="10" name="Text 8"/>
          <p:cNvSpPr txBox="1"/>
          <p:nvPr/>
        </p:nvSpPr>
        <p:spPr>
          <a:xfrm>
            <a:off x="731520" y="4937760"/>
            <a:ext cx="3200400" cy="731520"/>
          </a:xfrm>
          <a:prstGeom prst="rect">
            <a:avLst/>
          </a:prstGeom>
          <a:noFill/>
          <a:ln/>
        </p:spPr>
        <p:txBody>
          <a:bodyPr wrap="square" lIns="0" tIns="0" rIns="0" bIns="0" rtlCol="0" anchor="t"/>
          <a:lstStyle/>
          <a:p>
            <a:pPr indent="0" marL="0">
              <a:buNone/>
            </a:pPr>
            <a:r>
              <a:rPr lang="en-US" sz="1600" dirty="0">
                <a:solidFill>
                  <a:srgbClr val="E2ECFF"/>
                </a:solidFill>
                <a:latin typeface="Calibri" pitchFamily="34" charset="0"/>
                <a:ea typeface="Calibri" pitchFamily="34" charset="-122"/>
                <a:cs typeface="Calibri" pitchFamily="34" charset="-120"/>
              </a:rPr>
              <a:t>medals for the USA, the highest of any region</a:t>
            </a:r>
            <a:endParaRPr lang="en-US" sz="1600" dirty="0"/>
          </a:p>
        </p:txBody>
      </p:sp>
      <p:sp>
        <p:nvSpPr>
          <p:cNvPr id="11" name="Text 9"/>
          <p:cNvSpPr txBox="1"/>
          <p:nvPr/>
        </p:nvSpPr>
        <p:spPr>
          <a:xfrm>
            <a:off x="4389120" y="4023360"/>
            <a:ext cx="3291840" cy="822960"/>
          </a:xfrm>
          <a:prstGeom prst="rect">
            <a:avLst/>
          </a:prstGeom>
          <a:noFill/>
          <a:ln/>
        </p:spPr>
        <p:txBody>
          <a:bodyPr wrap="square" lIns="0" tIns="0" rIns="0" bIns="0" rtlCol="0" anchor="t"/>
          <a:lstStyle/>
          <a:p>
            <a:pPr indent="0" marL="0">
              <a:buNone/>
            </a:pPr>
            <a:r>
              <a:rPr lang="en-US" sz="4000" b="1" dirty="0">
                <a:solidFill>
                  <a:srgbClr val="7FC1FF"/>
                </a:solidFill>
                <a:latin typeface="Cambria" pitchFamily="34" charset="0"/>
                <a:ea typeface="Cambria" pitchFamily="34" charset="-122"/>
                <a:cs typeface="Cambria" pitchFamily="34" charset="-120"/>
              </a:rPr>
              <a:t>11 → 213</a:t>
            </a:r>
            <a:endParaRPr lang="en-US" sz="4000" dirty="0"/>
          </a:p>
        </p:txBody>
      </p:sp>
      <p:sp>
        <p:nvSpPr>
          <p:cNvPr id="12" name="Text 10"/>
          <p:cNvSpPr txBox="1"/>
          <p:nvPr/>
        </p:nvSpPr>
        <p:spPr>
          <a:xfrm>
            <a:off x="4389120" y="4937760"/>
            <a:ext cx="3200400" cy="731520"/>
          </a:xfrm>
          <a:prstGeom prst="rect">
            <a:avLst/>
          </a:prstGeom>
          <a:noFill/>
          <a:ln/>
        </p:spPr>
        <p:txBody>
          <a:bodyPr wrap="square" lIns="0" tIns="0" rIns="0" bIns="0" rtlCol="0" anchor="t"/>
          <a:lstStyle/>
          <a:p>
            <a:pPr indent="0" marL="0">
              <a:buNone/>
            </a:pPr>
            <a:r>
              <a:rPr lang="en-US" sz="1600" dirty="0">
                <a:solidFill>
                  <a:srgbClr val="E2ECFF"/>
                </a:solidFill>
                <a:latin typeface="Calibri" pitchFamily="34" charset="0"/>
                <a:ea typeface="Calibri" pitchFamily="34" charset="-122"/>
                <a:cs typeface="Calibri" pitchFamily="34" charset="-120"/>
              </a:rPr>
              <a:t>NOCs participating, 1896 to 2016</a:t>
            </a:r>
            <a:endParaRPr lang="en-US" sz="1600" dirty="0"/>
          </a:p>
        </p:txBody>
      </p:sp>
      <p:sp>
        <p:nvSpPr>
          <p:cNvPr id="13" name="Text 11"/>
          <p:cNvSpPr txBox="1"/>
          <p:nvPr/>
        </p:nvSpPr>
        <p:spPr>
          <a:xfrm>
            <a:off x="8046720" y="4023360"/>
            <a:ext cx="3291840" cy="822960"/>
          </a:xfrm>
          <a:prstGeom prst="rect">
            <a:avLst/>
          </a:prstGeom>
          <a:noFill/>
          <a:ln/>
        </p:spPr>
        <p:txBody>
          <a:bodyPr wrap="square" lIns="0" tIns="0" rIns="0" bIns="0" rtlCol="0" anchor="t"/>
          <a:lstStyle/>
          <a:p>
            <a:pPr indent="0" marL="0">
              <a:buNone/>
            </a:pPr>
            <a:r>
              <a:rPr lang="en-US" sz="4000" b="1" dirty="0">
                <a:solidFill>
                  <a:srgbClr val="F2B600"/>
                </a:solidFill>
                <a:latin typeface="Cambria" pitchFamily="34" charset="0"/>
                <a:ea typeface="Cambria" pitchFamily="34" charset="-122"/>
                <a:cs typeface="Cambria" pitchFamily="34" charset="-120"/>
              </a:rPr>
              <a:t>39K</a:t>
            </a:r>
            <a:endParaRPr lang="en-US" sz="4000" dirty="0"/>
          </a:p>
        </p:txBody>
      </p:sp>
      <p:sp>
        <p:nvSpPr>
          <p:cNvPr id="14" name="Text 12"/>
          <p:cNvSpPr txBox="1"/>
          <p:nvPr/>
        </p:nvSpPr>
        <p:spPr>
          <a:xfrm>
            <a:off x="8046720" y="4937760"/>
            <a:ext cx="3200400" cy="731520"/>
          </a:xfrm>
          <a:prstGeom prst="rect">
            <a:avLst/>
          </a:prstGeom>
          <a:noFill/>
          <a:ln/>
        </p:spPr>
        <p:txBody>
          <a:bodyPr wrap="square" lIns="0" tIns="0" rIns="0" bIns="0" rtlCol="0" anchor="t"/>
          <a:lstStyle/>
          <a:p>
            <a:pPr indent="0" marL="0">
              <a:buNone/>
            </a:pPr>
            <a:r>
              <a:rPr lang="en-US" sz="1600" dirty="0">
                <a:solidFill>
                  <a:srgbClr val="E2ECFF"/>
                </a:solidFill>
                <a:latin typeface="Calibri" pitchFamily="34" charset="0"/>
                <a:ea typeface="Calibri" pitchFamily="34" charset="-122"/>
                <a:cs typeface="Calibri" pitchFamily="34" charset="-120"/>
              </a:rPr>
              <a:t>medals awarded: 13K gold, 13K silver, 13K bronze</a:t>
            </a:r>
            <a:endParaRPr lang="en-US" sz="1600" dirty="0"/>
          </a:p>
        </p:txBody>
      </p:sp>
      <p:sp>
        <p:nvSpPr>
          <p:cNvPr id="15" name="Text 13"/>
          <p:cNvSpPr txBox="1"/>
          <p:nvPr/>
        </p:nvSpPr>
        <p:spPr>
          <a:xfrm>
            <a:off x="731520" y="5989320"/>
            <a:ext cx="5486400" cy="457200"/>
          </a:xfrm>
          <a:prstGeom prst="rect">
            <a:avLst/>
          </a:prstGeom>
          <a:noFill/>
          <a:ln/>
        </p:spPr>
        <p:txBody>
          <a:bodyPr wrap="square" lIns="0" tIns="0" rIns="0" bIns="0" rtlCol="0" anchor="t"/>
          <a:lstStyle/>
          <a:p>
            <a:pPr indent="0" marL="0">
              <a:buNone/>
            </a:pPr>
            <a:r>
              <a:rPr lang="en-US" sz="2000" i="1" dirty="0">
                <a:solidFill>
                  <a:srgbClr val="CADCFC"/>
                </a:solidFill>
                <a:latin typeface="Cambria" pitchFamily="34" charset="0"/>
                <a:ea typeface="Cambria" pitchFamily="34" charset="-122"/>
                <a:cs typeface="Cambria" pitchFamily="34" charset="-120"/>
              </a:rPr>
              <a:t>Thank you</a:t>
            </a:r>
            <a:endParaRPr lang="en-US" sz="2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l"/>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Olympic Analytics">
  <a:themeElements>
    <a:clrScheme name="Olympic Analytics">
      <a:dk1>
        <a:srgbClr val="111827"/>
      </a:dk1>
      <a:lt1>
        <a:srgbClr val="FFFFFF"/>
      </a:lt1>
      <a:dk2>
        <a:srgbClr val="0B1F4B"/>
      </a:dk2>
      <a:lt2>
        <a:srgbClr val="EEF3FA"/>
      </a:lt2>
      <a:accent1>
        <a:srgbClr val="118DFF"/>
      </a:accent1>
      <a:accent2>
        <a:srgbClr val="10239E"/>
      </a:accent2>
      <a:accent3>
        <a:srgbClr val="E66C37"/>
      </a:accent3>
      <a:accent4>
        <a:srgbClr val="F2B600"/>
      </a:accent4>
      <a:accent5>
        <a:srgbClr val="6B7A90"/>
      </a:accent5>
      <a:accent6>
        <a:srgbClr val="2BB673"/>
      </a:accent6>
      <a:hlink>
        <a:srgbClr val="118DFF"/>
      </a:hlink>
      <a:folHlink>
        <a:srgbClr val="6B7A90"/>
      </a:folHlink>
    </a:clrScheme>
    <a:fontScheme name="Olympic Analyt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Olympic Sports Analysis - Final Project Report</dc:title>
  <dc:subject>PptxGenJS Presentation</dc:subject>
  <dc:creator>PptxGenJS</dc:creator>
  <cp:lastModifiedBy>PptxGenJS</cp:lastModifiedBy>
  <cp:revision>1</cp:revision>
  <dcterms:created xsi:type="dcterms:W3CDTF">2026-10-31T05:47:52Z</dcterms:created>
  <dcterms:modified xsi:type="dcterms:W3CDTF">2026-10-31T05:47:52Z</dcterms:modified>
</cp:coreProperties>
</file>
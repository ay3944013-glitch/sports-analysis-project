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2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3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1F4B"/>
                </a:solidFill>
                <a:latin typeface="Calibri"/>
              </a:defRPr>
            </a:pPr>
            <a:r>
              <a:rPr sz="1600" b="0" i="0" u="none" strike="noStrike">
                <a:solidFill>
                  <a:srgbClr val="0B1F4B"/>
                </a:solidFill>
                <a:latin typeface="Calibri"/>
              </a:rPr>
              <a:t>51 Games by season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Games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90FF"/>
              </a:solidFill>
              <a:effectLst/>
            </c:spPr>
          </c:dPt>
          <c:dPt>
            <c:idx val="1"/>
            <c:bubble3D val="0"/>
            <c:spPr>
              <a:solidFill>
                <a:srgbClr val="1226A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Summer (56.86%)</c:v>
                </c:pt>
                <c:pt idx="1">
                  <c:v>Winter (43.14%)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29</c:v>
                </c:pt>
                <c:pt idx="1">
                  <c:v>22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B3A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1F4B"/>
                </a:solidFill>
                <a:latin typeface="Calibri"/>
              </a:defRPr>
            </a:pPr>
            <a:r>
              <a:rPr sz="1600" b="0" i="0" u="none" strike="noStrike">
                <a:solidFill>
                  <a:srgbClr val="0B1F4B"/>
                </a:solidFill>
                <a:latin typeface="Calibri"/>
              </a:rPr>
              <a:t>Events per sport (top 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Events</c:v>
                </c:pt>
              </c:strCache>
            </c:strRef>
          </c:tx>
          <c:spPr>
            <a:solidFill>
              <a:srgbClr val="1E90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B3A5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Athletics</c:v>
                  </c:pt>
                  <c:pt idx="1">
                    <c:v>Shooting</c:v>
                  </c:pt>
                  <c:pt idx="2">
                    <c:v>Swimming</c:v>
                  </c:pt>
                  <c:pt idx="3">
                    <c:v>Cycling</c:v>
                  </c:pt>
                  <c:pt idx="4">
                    <c:v>Sailing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</c:v>
                </c:pt>
                <c:pt idx="1">
                  <c:v>83</c:v>
                </c:pt>
                <c:pt idx="2">
                  <c:v>54</c:v>
                </c:pt>
                <c:pt idx="3">
                  <c:v>44</c:v>
                </c:pt>
                <c:pt idx="4">
                  <c:v>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2B3A5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B3A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1F4B"/>
                </a:solidFill>
                <a:latin typeface="Calibri"/>
              </a:defRPr>
            </a:pPr>
            <a:r>
              <a:rPr sz="1600" b="0" i="0" u="none" strike="noStrike">
                <a:solidFill>
                  <a:srgbClr val="0B1F4B"/>
                </a:solidFill>
                <a:latin typeface="Calibri"/>
              </a:rPr>
              <a:t>Participations by gender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90FF"/>
              </a:solidFill>
              <a:effectLst/>
            </c:spPr>
          </c:dPt>
          <c:dPt>
            <c:idx val="1"/>
            <c:bubble3D val="0"/>
            <c:spPr>
              <a:solidFill>
                <a:srgbClr val="E8703A"/>
              </a:solidFill>
              <a:effectLst/>
            </c:spPr>
          </c:dPt>
          <c:dLbls>
            <c:dLbl>
              <c:idx val="0"/>
              <c:numFmt formatCode="0&quot;K&quot;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K&quot;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K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 (73.9%)</c:v>
                </c:pt>
                <c:pt idx="1">
                  <c:v>Female (26.1%)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95</c:v>
                </c:pt>
                <c:pt idx="1">
                  <c:v>34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B3A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53928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53928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 s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120 Years of Olympic Data Tell 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25296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non-overlapping MECE pillars across 51 Games, 129K participations and 39K medals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Olympic Sports Analysis  |  Final Project Report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457200" y="1691640"/>
            <a:ext cx="5468112" cy="1508760"/>
          </a:xfrm>
          <a:prstGeom prst="roundRect">
            <a:avLst>
              <a:gd name="adj" fmla="val 7273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65960"/>
            <a:ext cx="548640" cy="54864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801368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Architecture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Summer and 22 Winter Games (56.86% / 43.14%); Athina and London lead as hosts with 3 Games each.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6263640" y="1691640"/>
            <a:ext cx="5468112" cy="1508760"/>
          </a:xfrm>
          <a:prstGeom prst="roundRect">
            <a:avLst>
              <a:gd name="adj" fmla="val 7273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965960"/>
            <a:ext cx="548640" cy="548640"/>
          </a:xfrm>
          <a:prstGeom prst="ellipse">
            <a:avLst/>
          </a:prstGeom>
          <a:solidFill>
            <a:srgbClr val="1226A0"/>
          </a:solidFill>
          <a:ln w="12700">
            <a:solidFill>
              <a:srgbClr val="1226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1801368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Events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sports and 757 events; Athletics and Shooting hold 83 events each, and 60.5% of events are for men.</a:t>
            </a:r>
            <a:endParaRPr lang="en-US" sz="1700" dirty="0"/>
          </a:p>
        </p:txBody>
      </p:sp>
      <p:sp>
        <p:nvSpPr>
          <p:cNvPr id="14" name="Card"/>
          <p:cNvSpPr/>
          <p:nvPr/>
        </p:nvSpPr>
        <p:spPr>
          <a:xfrm>
            <a:off x="457200" y="3383280"/>
            <a:ext cx="5468112" cy="1508760"/>
          </a:xfrm>
          <a:prstGeom prst="roundRect">
            <a:avLst>
              <a:gd name="adj" fmla="val 7273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657600"/>
            <a:ext cx="548640" cy="548640"/>
          </a:xfrm>
          <a:prstGeom prst="ellipse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93008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129K participations: 73.9% male and 26.1% female, with a mean athlete age of 25.78 years.</a:t>
            </a:r>
            <a:endParaRPr lang="en-US" sz="1700" dirty="0"/>
          </a:p>
        </p:txBody>
      </p:sp>
      <p:sp>
        <p:nvSpPr>
          <p:cNvPr id="18" name="Card"/>
          <p:cNvSpPr/>
          <p:nvPr/>
        </p:nvSpPr>
        <p:spPr>
          <a:xfrm>
            <a:off x="6263640" y="3383280"/>
            <a:ext cx="5468112" cy="1508760"/>
          </a:xfrm>
          <a:prstGeom prst="roundRect">
            <a:avLst>
              <a:gd name="adj" fmla="val 7273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3657600"/>
            <a:ext cx="548640" cy="548640"/>
          </a:xfrm>
          <a:prstGeom prst="ellipse">
            <a:avLst/>
          </a:prstGeom>
          <a:solidFill>
            <a:srgbClr val="2DB36A"/>
          </a:solidFill>
          <a:ln w="12700">
            <a:solidFill>
              <a:srgbClr val="2DB3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3493008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Geopolitics &amp; Medals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39K medals; the USA leads with 5,414 (2,533 gold) and NOCs grew from 11 to a peak of 215 in 2012.</a:t>
            </a:r>
            <a:endParaRPr lang="en-US" sz="1700" dirty="0"/>
          </a:p>
        </p:txBody>
      </p:sp>
      <p:sp>
        <p:nvSpPr>
          <p:cNvPr id="22" name="Card"/>
          <p:cNvSpPr/>
          <p:nvPr/>
        </p:nvSpPr>
        <p:spPr>
          <a:xfrm>
            <a:off x="457200" y="5212080"/>
            <a:ext cx="11274552" cy="1005840"/>
          </a:xfrm>
          <a:prstGeom prst="roundRect">
            <a:avLst>
              <a:gd name="adj" fmla="val 10909"/>
            </a:avLst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5257800"/>
            <a:ext cx="10744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E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gender gap in Athletics, Cycling and Shooting  ·  Back Winter-sport infrastructure in emerging NOCs  ·  Add predictive DAX models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oject at a gl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53928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CE analytical frame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53928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ower BI data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53928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ection: SQL E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53928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ur question slides (query, chart, takeaway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ur question slides (query, chart, takeaway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ur question slides (query, chart, takeaway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ur question slides (query, chart, takeaway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ur question slides (query, chart, takeaway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ection: Power BI analys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53928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ur question slides (query, chart, takeaway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ur question slides (query, chart, takeaway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ur question slides (query, chart, takeaway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ur question slides (query, chart, takeaway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ur question slides (query, chart, takeaway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ection: Interactive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53928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shboard pag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53928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shboard pag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53928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shboard pag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53928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shboard pag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53928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shboard pag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53928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  ·  GAMES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Games Architecture &amp; Hosting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25296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split and most frequent host cities (SQL Q1, Power BI Q1–Q3)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Olympic Sports Analysis  |  Final Project Report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91640"/>
          <a:ext cx="4023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691640"/>
          <a:ext cx="69768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  <a:gridCol w="1097280"/>
                <a:gridCol w="22219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London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1908, 1948, 2012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Athina (Athens)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1896, 1906, 2004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Angeles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1932, 1984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 Placid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1932, 1980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Innsbruck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1964, 1976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Paris, Sankt Moritz, Stockholm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each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Power BI Q3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Card"/>
          <p:cNvSpPr/>
          <p:nvPr/>
        </p:nvSpPr>
        <p:spPr>
          <a:xfrm>
            <a:off x="457200" y="5303520"/>
            <a:ext cx="11274552" cy="868680"/>
          </a:xfrm>
          <a:prstGeom prst="roundRect">
            <a:avLst>
              <a:gd name="adj" fmla="val 12632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" y="5349240"/>
            <a:ext cx="1074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is concentrated in historical European and North American cities; six cities have hosted the Games twice.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II  ·  SPORTS &amp; EVENTS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Sports Portfolio Concentration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25296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flagship sports hold 301 of the 757 events (SQL Q7, Power BI Q5–Q8)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Olympic Sports Analysis  |  Final Project Report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91640"/>
          <a:ext cx="57607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691640"/>
          <a:ext cx="523951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7647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share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Athletics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Shooting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Swimming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8" name="Card"/>
          <p:cNvSpPr/>
          <p:nvPr/>
        </p:nvSpPr>
        <p:spPr>
          <a:xfrm>
            <a:off x="457200" y="5303520"/>
            <a:ext cx="11274552" cy="868680"/>
          </a:xfrm>
          <a:prstGeom prst="roundRect">
            <a:avLst>
              <a:gd name="adj" fmla="val 12632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" y="5349240"/>
            <a:ext cx="1074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sports = 301 of 757 events (39.8%).  By gender category: Men 458 (60.5%)  ·  Women 211 (27.87%)  ·  Mixed 88 (11.62%).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III  ·  DEMOGRAPHICS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 Profile &amp; Participation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25296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competed across 129K participations (Power BI Q10–Q12, Dashboard page 3)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Olympic Sports Analysis  |  Final Project Report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91640"/>
          <a:ext cx="47548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"/>
          <p:cNvSpPr/>
          <p:nvPr/>
        </p:nvSpPr>
        <p:spPr>
          <a:xfrm>
            <a:off x="5577840" y="1691640"/>
            <a:ext cx="6153912" cy="1005840"/>
          </a:xfrm>
          <a:prstGeom prst="roundRect">
            <a:avLst>
              <a:gd name="adj" fmla="val 10909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06440" y="16916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9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129K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6916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participations across 51 Games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577840" y="2880360"/>
            <a:ext cx="6153912" cy="1005840"/>
          </a:xfrm>
          <a:prstGeom prst="roundRect">
            <a:avLst>
              <a:gd name="adj" fmla="val 10909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06440" y="2880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25.78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288036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athlete age; 18–24 is the largest age group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577840" y="4069080"/>
            <a:ext cx="6153912" cy="1005840"/>
          </a:xfrm>
          <a:prstGeom prst="roundRect">
            <a:avLst>
              <a:gd name="adj" fmla="val 10909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06440" y="4069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26.1%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069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participations are women (34K of 129K)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57200" y="5303520"/>
            <a:ext cx="11274552" cy="868680"/>
          </a:xfrm>
          <a:prstGeom prst="roundRect">
            <a:avLst>
              <a:gd name="adj" fmla="val 12632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5349240"/>
            <a:ext cx="1074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per Games grew from 0.07K in 1896 to 11.18K in 2016, yet women remain 26.1% overall, the basis for Recommendation 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dal economics by reg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53928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Notes &amp; Limitations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25296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numbers in this report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Olympic Sports Analysis  |  Final Project Report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457200" y="1691640"/>
            <a:ext cx="5468112" cy="1371600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103120"/>
            <a:ext cx="548640" cy="54864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78308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 conversion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Medals ÷ distinct athletes (SQL Q12); team and repeat medals can push it near 100%.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6263640" y="1691640"/>
            <a:ext cx="5468112" cy="1371600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03120"/>
            <a:ext cx="548640" cy="548640"/>
          </a:xfrm>
          <a:prstGeom prst="ellipse">
            <a:avLst/>
          </a:prstGeom>
          <a:solidFill>
            <a:srgbClr val="1226A0"/>
          </a:solidFill>
          <a:ln w="12700">
            <a:solidFill>
              <a:srgbClr val="1226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178308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regions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regions stay separate: Soviet Union, Russia, East and West Germany.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457200" y="3246120"/>
            <a:ext cx="5468112" cy="1371600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657600"/>
            <a:ext cx="548640" cy="548640"/>
          </a:xfrm>
          <a:prstGeom prst="ellipse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33756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counts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Summer + 17 Winter exceeds 66 because some sports run in both seasons.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6263640" y="3246120"/>
            <a:ext cx="5468112" cy="1371600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3657600"/>
            <a:ext cx="548640" cy="548640"/>
          </a:xfrm>
          <a:prstGeom prst="ellipse">
            <a:avLst/>
          </a:prstGeom>
          <a:solidFill>
            <a:srgbClr val="2DB36A"/>
          </a:solidFill>
          <a:ln w="12700">
            <a:solidFill>
              <a:srgbClr val="2DB3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333756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Competitions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as a sport (29 events) although discontinued, so totals include it.</a:t>
            </a:r>
            <a:endParaRPr lang="en-US" sz="1600" dirty="0"/>
          </a:p>
        </p:txBody>
      </p:sp>
      <p:sp>
        <p:nvSpPr>
          <p:cNvPr id="22" name="Card"/>
          <p:cNvSpPr/>
          <p:nvPr/>
        </p:nvSpPr>
        <p:spPr>
          <a:xfrm>
            <a:off x="457200" y="4800600"/>
            <a:ext cx="5468112" cy="1371600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5212080"/>
            <a:ext cx="548640" cy="54864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89204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categories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gender is read from event names (Men, Women, Mixed) in the SQL logic.</a:t>
            </a:r>
            <a:endParaRPr lang="en-US" sz="1600" dirty="0"/>
          </a:p>
        </p:txBody>
      </p:sp>
      <p:sp>
        <p:nvSpPr>
          <p:cNvPr id="26" name="Card"/>
          <p:cNvSpPr/>
          <p:nvPr/>
        </p:nvSpPr>
        <p:spPr>
          <a:xfrm>
            <a:off x="6263640" y="4800600"/>
            <a:ext cx="5468112" cy="1371600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 w="12700">
            <a:solidFill>
              <a:srgbClr val="EDF2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5212080"/>
            <a:ext cx="548640" cy="548640"/>
          </a:xfrm>
          <a:prstGeom prst="ellipse">
            <a:avLst/>
          </a:prstGeom>
          <a:solidFill>
            <a:srgbClr val="1226A0"/>
          </a:solidFill>
          <a:ln w="12700">
            <a:solidFill>
              <a:srgbClr val="1226A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223760" y="489204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Games from 1896 to 2016; later Games are not in the dataset.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rategic recommend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53928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ey find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53928" y="643737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Olympic Sports Analysis - Final Project Report</dc:title>
  <dc:subject>PptxGenJS Presentation</dc:subject>
  <dc:creator>PptxGenJS</dc:creator>
  <cp:lastModifiedBy>PptxGenJS</cp:lastModifiedBy>
  <cp:revision>1</cp:revision>
  <dcterms:created xsi:type="dcterms:W3CDTF">2026-10-31T19:31:21Z</dcterms:created>
  <dcterms:modified xsi:type="dcterms:W3CDTF">2026-10-31T19:31:21Z</dcterms:modified>
</cp:coreProperties>
</file>